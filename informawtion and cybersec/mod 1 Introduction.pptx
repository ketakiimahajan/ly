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ink/ink1.xml" ContentType="application/inkml+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5"/>
  </p:notesMasterIdLst>
  <p:handoutMasterIdLst>
    <p:handoutMasterId r:id="rId26"/>
  </p:handoutMasterIdLst>
  <p:sldIdLst>
    <p:sldId id="446" r:id="rId2"/>
    <p:sldId id="447" r:id="rId3"/>
    <p:sldId id="260" r:id="rId4"/>
    <p:sldId id="262" r:id="rId5"/>
    <p:sldId id="378" r:id="rId6"/>
    <p:sldId id="436" r:id="rId7"/>
    <p:sldId id="437" r:id="rId8"/>
    <p:sldId id="438" r:id="rId9"/>
    <p:sldId id="265" r:id="rId10"/>
    <p:sldId id="266" r:id="rId11"/>
    <p:sldId id="267" r:id="rId12"/>
    <p:sldId id="268" r:id="rId13"/>
    <p:sldId id="269" r:id="rId14"/>
    <p:sldId id="439" r:id="rId15"/>
    <p:sldId id="448" r:id="rId16"/>
    <p:sldId id="271" r:id="rId17"/>
    <p:sldId id="272" r:id="rId18"/>
    <p:sldId id="440" r:id="rId19"/>
    <p:sldId id="441" r:id="rId20"/>
    <p:sldId id="442" r:id="rId21"/>
    <p:sldId id="443" r:id="rId22"/>
    <p:sldId id="449" r:id="rId23"/>
    <p:sldId id="444" r:id="rId24"/>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Clarity" initials="CL"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628" autoAdjust="0"/>
    <p:restoredTop sz="89164" autoAdjust="0"/>
  </p:normalViewPr>
  <p:slideViewPr>
    <p:cSldViewPr snapToGrid="0" snapToObjects="1">
      <p:cViewPr>
        <p:scale>
          <a:sx n="70" d="100"/>
          <a:sy n="70" d="100"/>
        </p:scale>
        <p:origin x="-108" y="444"/>
      </p:cViewPr>
      <p:guideLst>
        <p:guide orient="horz" pos="2160"/>
        <p:guide pos="3839"/>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commentAuthors" Target="commentAuthors.xml"/><Relationship Id="rId30"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C371172-F3D2-4A4B-9BEF-D3215B49ABA9}" type="doc">
      <dgm:prSet loTypeId="urn:microsoft.com/office/officeart/2005/8/layout/chevron1" loCatId="process" qsTypeId="urn:microsoft.com/office/officeart/2005/8/quickstyle/simple4" qsCatId="simple" csTypeId="urn:microsoft.com/office/officeart/2005/8/colors/accent1_2#1" csCatId="accent1" phldr="1"/>
      <dgm:spPr/>
      <dgm:t>
        <a:bodyPr/>
        <a:lstStyle/>
        <a:p>
          <a:endParaRPr lang="en-US"/>
        </a:p>
      </dgm:t>
    </dgm:pt>
    <dgm:pt modelId="{CC2952DF-AC03-534F-B405-EB5CAF5DE705}">
      <dgm:prSet custT="1"/>
      <dgm:spPr/>
      <dgm:t>
        <a:bodyPr/>
        <a:lstStyle/>
        <a:p>
          <a:pPr rtl="0"/>
          <a:r>
            <a:rPr lang="en-US" sz="2300" b="1" dirty="0">
              <a:solidFill>
                <a:schemeClr val="bg2">
                  <a:lumMod val="50000"/>
                </a:schemeClr>
              </a:solidFill>
            </a:rPr>
            <a:t>Confidentiality</a:t>
          </a:r>
          <a:endParaRPr lang="en-US" sz="2300" dirty="0">
            <a:solidFill>
              <a:schemeClr val="bg2">
                <a:lumMod val="50000"/>
              </a:schemeClr>
            </a:solidFill>
          </a:endParaRPr>
        </a:p>
      </dgm:t>
    </dgm:pt>
    <dgm:pt modelId="{40888F45-DB02-4E44-9784-95FA75AFD454}" type="parTrans" cxnId="{B4587728-C9A1-FA4E-82A9-D7B261438D1E}">
      <dgm:prSet/>
      <dgm:spPr/>
      <dgm:t>
        <a:bodyPr/>
        <a:lstStyle/>
        <a:p>
          <a:endParaRPr lang="en-US"/>
        </a:p>
      </dgm:t>
    </dgm:pt>
    <dgm:pt modelId="{9EB32828-026E-2046-BFE2-239970B8AE6B}" type="sibTrans" cxnId="{B4587728-C9A1-FA4E-82A9-D7B261438D1E}">
      <dgm:prSet/>
      <dgm:spPr/>
      <dgm:t>
        <a:bodyPr/>
        <a:lstStyle/>
        <a:p>
          <a:endParaRPr lang="en-US"/>
        </a:p>
      </dgm:t>
    </dgm:pt>
    <dgm:pt modelId="{09385EB0-9460-1347-8FDD-55234D987950}">
      <dgm:prSet/>
      <dgm:spPr/>
      <dgm:t>
        <a:bodyPr/>
        <a:lstStyle/>
        <a:p>
          <a:pPr rtl="0"/>
          <a:r>
            <a:rPr lang="en-US" b="1" dirty="0"/>
            <a:t>preserving authorized restrictions on information access and disclosure, including means for protecting personal privacy and proprietary information</a:t>
          </a:r>
          <a:endParaRPr lang="en-US" dirty="0"/>
        </a:p>
      </dgm:t>
    </dgm:pt>
    <dgm:pt modelId="{F26493AF-F02E-8446-A9F1-A3B7F982E61B}" type="parTrans" cxnId="{7E42F8D5-6F18-5749-8B3D-A47D284552A5}">
      <dgm:prSet/>
      <dgm:spPr/>
      <dgm:t>
        <a:bodyPr/>
        <a:lstStyle/>
        <a:p>
          <a:endParaRPr lang="en-US"/>
        </a:p>
      </dgm:t>
    </dgm:pt>
    <dgm:pt modelId="{EEE25363-96A6-D04E-87EE-E3BEB479E232}" type="sibTrans" cxnId="{7E42F8D5-6F18-5749-8B3D-A47D284552A5}">
      <dgm:prSet/>
      <dgm:spPr/>
      <dgm:t>
        <a:bodyPr/>
        <a:lstStyle/>
        <a:p>
          <a:endParaRPr lang="en-US"/>
        </a:p>
      </dgm:t>
    </dgm:pt>
    <dgm:pt modelId="{40063ED1-409C-FC44-A2F5-9C91C751F2EE}">
      <dgm:prSet custT="1"/>
      <dgm:spPr/>
      <dgm:t>
        <a:bodyPr/>
        <a:lstStyle/>
        <a:p>
          <a:pPr rtl="0"/>
          <a:r>
            <a:rPr lang="en-US" sz="2400" b="1" dirty="0">
              <a:solidFill>
                <a:schemeClr val="bg2">
                  <a:lumMod val="50000"/>
                </a:schemeClr>
              </a:solidFill>
            </a:rPr>
            <a:t>Integrity</a:t>
          </a:r>
          <a:endParaRPr lang="en-US" sz="2400" dirty="0">
            <a:solidFill>
              <a:schemeClr val="bg2">
                <a:lumMod val="50000"/>
              </a:schemeClr>
            </a:solidFill>
          </a:endParaRPr>
        </a:p>
      </dgm:t>
    </dgm:pt>
    <dgm:pt modelId="{63E50B16-A73A-4849-8B35-5EA33FEA9FF4}" type="parTrans" cxnId="{69B92DBC-A1A9-C44F-A377-1EE237E81319}">
      <dgm:prSet/>
      <dgm:spPr/>
      <dgm:t>
        <a:bodyPr/>
        <a:lstStyle/>
        <a:p>
          <a:endParaRPr lang="en-US"/>
        </a:p>
      </dgm:t>
    </dgm:pt>
    <dgm:pt modelId="{ABE2992F-EC88-5142-A882-07293919F130}" type="sibTrans" cxnId="{69B92DBC-A1A9-C44F-A377-1EE237E81319}">
      <dgm:prSet/>
      <dgm:spPr/>
      <dgm:t>
        <a:bodyPr/>
        <a:lstStyle/>
        <a:p>
          <a:endParaRPr lang="en-US"/>
        </a:p>
      </dgm:t>
    </dgm:pt>
    <dgm:pt modelId="{5978D22D-D756-1D49-B818-48A1EE68D56D}">
      <dgm:prSet/>
      <dgm:spPr/>
      <dgm:t>
        <a:bodyPr/>
        <a:lstStyle/>
        <a:p>
          <a:pPr rtl="0"/>
          <a:r>
            <a:rPr lang="en-US" b="1" dirty="0"/>
            <a:t>guarding against improper information modification or destruction, including ensuring information nonrepudiation and authenticity</a:t>
          </a:r>
          <a:endParaRPr lang="en-US" dirty="0"/>
        </a:p>
      </dgm:t>
    </dgm:pt>
    <dgm:pt modelId="{D2589990-8548-C94F-98F7-890448CBA79D}" type="parTrans" cxnId="{6FDC73AF-FBF6-2548-ABBB-22743AD94915}">
      <dgm:prSet/>
      <dgm:spPr/>
      <dgm:t>
        <a:bodyPr/>
        <a:lstStyle/>
        <a:p>
          <a:endParaRPr lang="en-US"/>
        </a:p>
      </dgm:t>
    </dgm:pt>
    <dgm:pt modelId="{474EE7B6-01C7-E643-BAED-BED2D46F783F}" type="sibTrans" cxnId="{6FDC73AF-FBF6-2548-ABBB-22743AD94915}">
      <dgm:prSet/>
      <dgm:spPr/>
      <dgm:t>
        <a:bodyPr/>
        <a:lstStyle/>
        <a:p>
          <a:endParaRPr lang="en-US"/>
        </a:p>
      </dgm:t>
    </dgm:pt>
    <dgm:pt modelId="{EADF74B9-168E-944C-B968-82B720F1C125}">
      <dgm:prSet custT="1"/>
      <dgm:spPr/>
      <dgm:t>
        <a:bodyPr/>
        <a:lstStyle/>
        <a:p>
          <a:pPr rtl="0"/>
          <a:r>
            <a:rPr lang="en-US" sz="2400" b="1" dirty="0">
              <a:solidFill>
                <a:schemeClr val="bg2">
                  <a:lumMod val="50000"/>
                </a:schemeClr>
              </a:solidFill>
            </a:rPr>
            <a:t>Availability</a:t>
          </a:r>
          <a:endParaRPr lang="en-US" sz="2400" dirty="0">
            <a:solidFill>
              <a:schemeClr val="bg2">
                <a:lumMod val="50000"/>
              </a:schemeClr>
            </a:solidFill>
          </a:endParaRPr>
        </a:p>
      </dgm:t>
    </dgm:pt>
    <dgm:pt modelId="{F74FE56B-E426-A745-85F1-83912FDA8101}" type="parTrans" cxnId="{D4CB0DBA-23FB-B447-B9A7-94713C18E119}">
      <dgm:prSet/>
      <dgm:spPr/>
      <dgm:t>
        <a:bodyPr/>
        <a:lstStyle/>
        <a:p>
          <a:endParaRPr lang="en-US"/>
        </a:p>
      </dgm:t>
    </dgm:pt>
    <dgm:pt modelId="{72BFDC2A-6676-644B-B953-978D0B972DF9}" type="sibTrans" cxnId="{D4CB0DBA-23FB-B447-B9A7-94713C18E119}">
      <dgm:prSet/>
      <dgm:spPr/>
      <dgm:t>
        <a:bodyPr/>
        <a:lstStyle/>
        <a:p>
          <a:endParaRPr lang="en-US"/>
        </a:p>
      </dgm:t>
    </dgm:pt>
    <dgm:pt modelId="{6B57FDDA-8F0C-8B42-BABC-39C99BE7864F}">
      <dgm:prSet/>
      <dgm:spPr/>
      <dgm:t>
        <a:bodyPr/>
        <a:lstStyle/>
        <a:p>
          <a:pPr rtl="0"/>
          <a:r>
            <a:rPr lang="en-US" b="1" dirty="0"/>
            <a:t>ensuring timely and reliable access to and use of information</a:t>
          </a:r>
        </a:p>
      </dgm:t>
    </dgm:pt>
    <dgm:pt modelId="{B257E21D-7B0C-6A48-8CE5-DCA7C0C78347}" type="parTrans" cxnId="{43EDDF10-11C3-9542-93EF-D6E1EDFCB4D6}">
      <dgm:prSet/>
      <dgm:spPr/>
      <dgm:t>
        <a:bodyPr/>
        <a:lstStyle/>
        <a:p>
          <a:endParaRPr lang="en-US"/>
        </a:p>
      </dgm:t>
    </dgm:pt>
    <dgm:pt modelId="{D23D747C-9A87-3F48-B657-3DDC226BD5F6}" type="sibTrans" cxnId="{43EDDF10-11C3-9542-93EF-D6E1EDFCB4D6}">
      <dgm:prSet/>
      <dgm:spPr/>
      <dgm:t>
        <a:bodyPr/>
        <a:lstStyle/>
        <a:p>
          <a:endParaRPr lang="en-US"/>
        </a:p>
      </dgm:t>
    </dgm:pt>
    <dgm:pt modelId="{4FE5D1E9-ED82-0F45-86A4-7E3F6D691E65}" type="pres">
      <dgm:prSet presAssocID="{3C371172-F3D2-4A4B-9BEF-D3215B49ABA9}" presName="Name0" presStyleCnt="0">
        <dgm:presLayoutVars>
          <dgm:dir/>
          <dgm:animLvl val="lvl"/>
          <dgm:resizeHandles val="exact"/>
        </dgm:presLayoutVars>
      </dgm:prSet>
      <dgm:spPr/>
      <dgm:t>
        <a:bodyPr/>
        <a:lstStyle/>
        <a:p>
          <a:endParaRPr lang="en-IN"/>
        </a:p>
      </dgm:t>
    </dgm:pt>
    <dgm:pt modelId="{E3E77CF0-4539-1549-8A27-6B602C871039}" type="pres">
      <dgm:prSet presAssocID="{CC2952DF-AC03-534F-B405-EB5CAF5DE705}" presName="composite" presStyleCnt="0"/>
      <dgm:spPr/>
    </dgm:pt>
    <dgm:pt modelId="{2669473D-5311-9F43-858A-DA4F11AAF30A}" type="pres">
      <dgm:prSet presAssocID="{CC2952DF-AC03-534F-B405-EB5CAF5DE705}" presName="parTx" presStyleLbl="node1" presStyleIdx="0" presStyleCnt="3" custScaleX="111077">
        <dgm:presLayoutVars>
          <dgm:chMax val="0"/>
          <dgm:chPref val="0"/>
          <dgm:bulletEnabled val="1"/>
        </dgm:presLayoutVars>
      </dgm:prSet>
      <dgm:spPr/>
      <dgm:t>
        <a:bodyPr/>
        <a:lstStyle/>
        <a:p>
          <a:endParaRPr lang="en-IN"/>
        </a:p>
      </dgm:t>
    </dgm:pt>
    <dgm:pt modelId="{C5173CA9-CAEE-B642-8B8F-CD4B816E3BFB}" type="pres">
      <dgm:prSet presAssocID="{CC2952DF-AC03-534F-B405-EB5CAF5DE705}" presName="desTx" presStyleLbl="revTx" presStyleIdx="0" presStyleCnt="3">
        <dgm:presLayoutVars>
          <dgm:bulletEnabled val="1"/>
        </dgm:presLayoutVars>
      </dgm:prSet>
      <dgm:spPr/>
      <dgm:t>
        <a:bodyPr/>
        <a:lstStyle/>
        <a:p>
          <a:endParaRPr lang="en-IN"/>
        </a:p>
      </dgm:t>
    </dgm:pt>
    <dgm:pt modelId="{8D6DA9DC-68B9-3346-8820-35A9B4A9FB2F}" type="pres">
      <dgm:prSet presAssocID="{9EB32828-026E-2046-BFE2-239970B8AE6B}" presName="space" presStyleCnt="0"/>
      <dgm:spPr/>
    </dgm:pt>
    <dgm:pt modelId="{6EDEFE10-E2C8-1448-8A31-9FAB252E7F00}" type="pres">
      <dgm:prSet presAssocID="{40063ED1-409C-FC44-A2F5-9C91C751F2EE}" presName="composite" presStyleCnt="0"/>
      <dgm:spPr/>
    </dgm:pt>
    <dgm:pt modelId="{EC783FE8-0006-004E-9EC5-CCA2F7583147}" type="pres">
      <dgm:prSet presAssocID="{40063ED1-409C-FC44-A2F5-9C91C751F2EE}" presName="parTx" presStyleLbl="node1" presStyleIdx="1" presStyleCnt="3">
        <dgm:presLayoutVars>
          <dgm:chMax val="0"/>
          <dgm:chPref val="0"/>
          <dgm:bulletEnabled val="1"/>
        </dgm:presLayoutVars>
      </dgm:prSet>
      <dgm:spPr/>
      <dgm:t>
        <a:bodyPr/>
        <a:lstStyle/>
        <a:p>
          <a:endParaRPr lang="en-IN"/>
        </a:p>
      </dgm:t>
    </dgm:pt>
    <dgm:pt modelId="{92F85E19-9F62-2146-BBFE-59F35C65EE0E}" type="pres">
      <dgm:prSet presAssocID="{40063ED1-409C-FC44-A2F5-9C91C751F2EE}" presName="desTx" presStyleLbl="revTx" presStyleIdx="1" presStyleCnt="3">
        <dgm:presLayoutVars>
          <dgm:bulletEnabled val="1"/>
        </dgm:presLayoutVars>
      </dgm:prSet>
      <dgm:spPr/>
      <dgm:t>
        <a:bodyPr/>
        <a:lstStyle/>
        <a:p>
          <a:endParaRPr lang="en-IN"/>
        </a:p>
      </dgm:t>
    </dgm:pt>
    <dgm:pt modelId="{3955E22D-6180-2644-BF8C-CF6687C98768}" type="pres">
      <dgm:prSet presAssocID="{ABE2992F-EC88-5142-A882-07293919F130}" presName="space" presStyleCnt="0"/>
      <dgm:spPr/>
    </dgm:pt>
    <dgm:pt modelId="{08E3F871-3101-EE48-8D9C-C734641FA3CF}" type="pres">
      <dgm:prSet presAssocID="{EADF74B9-168E-944C-B968-82B720F1C125}" presName="composite" presStyleCnt="0"/>
      <dgm:spPr/>
    </dgm:pt>
    <dgm:pt modelId="{FAB70A0B-6355-A049-80C7-D281E9662899}" type="pres">
      <dgm:prSet presAssocID="{EADF74B9-168E-944C-B968-82B720F1C125}" presName="parTx" presStyleLbl="node1" presStyleIdx="2" presStyleCnt="3">
        <dgm:presLayoutVars>
          <dgm:chMax val="0"/>
          <dgm:chPref val="0"/>
          <dgm:bulletEnabled val="1"/>
        </dgm:presLayoutVars>
      </dgm:prSet>
      <dgm:spPr/>
      <dgm:t>
        <a:bodyPr/>
        <a:lstStyle/>
        <a:p>
          <a:endParaRPr lang="en-IN"/>
        </a:p>
      </dgm:t>
    </dgm:pt>
    <dgm:pt modelId="{2A12BD47-4BDB-3343-9554-B0171B10A11F}" type="pres">
      <dgm:prSet presAssocID="{EADF74B9-168E-944C-B968-82B720F1C125}" presName="desTx" presStyleLbl="revTx" presStyleIdx="2" presStyleCnt="3">
        <dgm:presLayoutVars>
          <dgm:bulletEnabled val="1"/>
        </dgm:presLayoutVars>
      </dgm:prSet>
      <dgm:spPr/>
      <dgm:t>
        <a:bodyPr/>
        <a:lstStyle/>
        <a:p>
          <a:endParaRPr lang="en-IN"/>
        </a:p>
      </dgm:t>
    </dgm:pt>
  </dgm:ptLst>
  <dgm:cxnLst>
    <dgm:cxn modelId="{3F9CE1E7-332D-CC4B-84C5-BFF44CC9C6DD}" type="presOf" srcId="{3C371172-F3D2-4A4B-9BEF-D3215B49ABA9}" destId="{4FE5D1E9-ED82-0F45-86A4-7E3F6D691E65}" srcOrd="0" destOrd="0" presId="urn:microsoft.com/office/officeart/2005/8/layout/chevron1"/>
    <dgm:cxn modelId="{4D09D848-8C4A-4B41-9CBF-C5D776ECFC0F}" type="presOf" srcId="{EADF74B9-168E-944C-B968-82B720F1C125}" destId="{FAB70A0B-6355-A049-80C7-D281E9662899}" srcOrd="0" destOrd="0" presId="urn:microsoft.com/office/officeart/2005/8/layout/chevron1"/>
    <dgm:cxn modelId="{7E42F8D5-6F18-5749-8B3D-A47D284552A5}" srcId="{CC2952DF-AC03-534F-B405-EB5CAF5DE705}" destId="{09385EB0-9460-1347-8FDD-55234D987950}" srcOrd="0" destOrd="0" parTransId="{F26493AF-F02E-8446-A9F1-A3B7F982E61B}" sibTransId="{EEE25363-96A6-D04E-87EE-E3BEB479E232}"/>
    <dgm:cxn modelId="{639C11DB-CB03-5148-8BFA-8D382B8EB482}" type="presOf" srcId="{09385EB0-9460-1347-8FDD-55234D987950}" destId="{C5173CA9-CAEE-B642-8B8F-CD4B816E3BFB}" srcOrd="0" destOrd="0" presId="urn:microsoft.com/office/officeart/2005/8/layout/chevron1"/>
    <dgm:cxn modelId="{D4CB0DBA-23FB-B447-B9A7-94713C18E119}" srcId="{3C371172-F3D2-4A4B-9BEF-D3215B49ABA9}" destId="{EADF74B9-168E-944C-B968-82B720F1C125}" srcOrd="2" destOrd="0" parTransId="{F74FE56B-E426-A745-85F1-83912FDA8101}" sibTransId="{72BFDC2A-6676-644B-B953-978D0B972DF9}"/>
    <dgm:cxn modelId="{6FDC73AF-FBF6-2548-ABBB-22743AD94915}" srcId="{40063ED1-409C-FC44-A2F5-9C91C751F2EE}" destId="{5978D22D-D756-1D49-B818-48A1EE68D56D}" srcOrd="0" destOrd="0" parTransId="{D2589990-8548-C94F-98F7-890448CBA79D}" sibTransId="{474EE7B6-01C7-E643-BAED-BED2D46F783F}"/>
    <dgm:cxn modelId="{CA82DA86-47BB-D449-8178-DDF24B140840}" type="presOf" srcId="{40063ED1-409C-FC44-A2F5-9C91C751F2EE}" destId="{EC783FE8-0006-004E-9EC5-CCA2F7583147}" srcOrd="0" destOrd="0" presId="urn:microsoft.com/office/officeart/2005/8/layout/chevron1"/>
    <dgm:cxn modelId="{22532881-9504-FB4C-BA35-58C71CD26479}" type="presOf" srcId="{CC2952DF-AC03-534F-B405-EB5CAF5DE705}" destId="{2669473D-5311-9F43-858A-DA4F11AAF30A}" srcOrd="0" destOrd="0" presId="urn:microsoft.com/office/officeart/2005/8/layout/chevron1"/>
    <dgm:cxn modelId="{43EDDF10-11C3-9542-93EF-D6E1EDFCB4D6}" srcId="{EADF74B9-168E-944C-B968-82B720F1C125}" destId="{6B57FDDA-8F0C-8B42-BABC-39C99BE7864F}" srcOrd="0" destOrd="0" parTransId="{B257E21D-7B0C-6A48-8CE5-DCA7C0C78347}" sibTransId="{D23D747C-9A87-3F48-B657-3DDC226BD5F6}"/>
    <dgm:cxn modelId="{69B92DBC-A1A9-C44F-A377-1EE237E81319}" srcId="{3C371172-F3D2-4A4B-9BEF-D3215B49ABA9}" destId="{40063ED1-409C-FC44-A2F5-9C91C751F2EE}" srcOrd="1" destOrd="0" parTransId="{63E50B16-A73A-4849-8B35-5EA33FEA9FF4}" sibTransId="{ABE2992F-EC88-5142-A882-07293919F130}"/>
    <dgm:cxn modelId="{B4587728-C9A1-FA4E-82A9-D7B261438D1E}" srcId="{3C371172-F3D2-4A4B-9BEF-D3215B49ABA9}" destId="{CC2952DF-AC03-534F-B405-EB5CAF5DE705}" srcOrd="0" destOrd="0" parTransId="{40888F45-DB02-4E44-9784-95FA75AFD454}" sibTransId="{9EB32828-026E-2046-BFE2-239970B8AE6B}"/>
    <dgm:cxn modelId="{4A7DCD0D-2283-E846-8C58-44C334E8AE5B}" type="presOf" srcId="{5978D22D-D756-1D49-B818-48A1EE68D56D}" destId="{92F85E19-9F62-2146-BBFE-59F35C65EE0E}" srcOrd="0" destOrd="0" presId="urn:microsoft.com/office/officeart/2005/8/layout/chevron1"/>
    <dgm:cxn modelId="{9FB9145D-8A59-724B-9FFD-3FC20702C844}" type="presOf" srcId="{6B57FDDA-8F0C-8B42-BABC-39C99BE7864F}" destId="{2A12BD47-4BDB-3343-9554-B0171B10A11F}" srcOrd="0" destOrd="0" presId="urn:microsoft.com/office/officeart/2005/8/layout/chevron1"/>
    <dgm:cxn modelId="{5EFE181E-621D-C34D-A4C9-EB4D70BAC9A6}" type="presParOf" srcId="{4FE5D1E9-ED82-0F45-86A4-7E3F6D691E65}" destId="{E3E77CF0-4539-1549-8A27-6B602C871039}" srcOrd="0" destOrd="0" presId="urn:microsoft.com/office/officeart/2005/8/layout/chevron1"/>
    <dgm:cxn modelId="{8FAE5F01-6FB4-4648-B930-80680B3C4AC7}" type="presParOf" srcId="{E3E77CF0-4539-1549-8A27-6B602C871039}" destId="{2669473D-5311-9F43-858A-DA4F11AAF30A}" srcOrd="0" destOrd="0" presId="urn:microsoft.com/office/officeart/2005/8/layout/chevron1"/>
    <dgm:cxn modelId="{0E825875-C344-2246-82F7-C020EACB7309}" type="presParOf" srcId="{E3E77CF0-4539-1549-8A27-6B602C871039}" destId="{C5173CA9-CAEE-B642-8B8F-CD4B816E3BFB}" srcOrd="1" destOrd="0" presId="urn:microsoft.com/office/officeart/2005/8/layout/chevron1"/>
    <dgm:cxn modelId="{CE21CB00-59B1-A241-B049-F10E26C951D5}" type="presParOf" srcId="{4FE5D1E9-ED82-0F45-86A4-7E3F6D691E65}" destId="{8D6DA9DC-68B9-3346-8820-35A9B4A9FB2F}" srcOrd="1" destOrd="0" presId="urn:microsoft.com/office/officeart/2005/8/layout/chevron1"/>
    <dgm:cxn modelId="{82E98A38-5084-5A44-9502-F808297D340A}" type="presParOf" srcId="{4FE5D1E9-ED82-0F45-86A4-7E3F6D691E65}" destId="{6EDEFE10-E2C8-1448-8A31-9FAB252E7F00}" srcOrd="2" destOrd="0" presId="urn:microsoft.com/office/officeart/2005/8/layout/chevron1"/>
    <dgm:cxn modelId="{DCB521BD-A995-3C4F-BF4B-312A17D00B97}" type="presParOf" srcId="{6EDEFE10-E2C8-1448-8A31-9FAB252E7F00}" destId="{EC783FE8-0006-004E-9EC5-CCA2F7583147}" srcOrd="0" destOrd="0" presId="urn:microsoft.com/office/officeart/2005/8/layout/chevron1"/>
    <dgm:cxn modelId="{1991EE75-9E7E-8043-AE1C-ECAD56CE1D57}" type="presParOf" srcId="{6EDEFE10-E2C8-1448-8A31-9FAB252E7F00}" destId="{92F85E19-9F62-2146-BBFE-59F35C65EE0E}" srcOrd="1" destOrd="0" presId="urn:microsoft.com/office/officeart/2005/8/layout/chevron1"/>
    <dgm:cxn modelId="{9D886389-57D0-9345-9CC5-9323B1229E59}" type="presParOf" srcId="{4FE5D1E9-ED82-0F45-86A4-7E3F6D691E65}" destId="{3955E22D-6180-2644-BF8C-CF6687C98768}" srcOrd="3" destOrd="0" presId="urn:microsoft.com/office/officeart/2005/8/layout/chevron1"/>
    <dgm:cxn modelId="{5EA5695A-F978-854F-B296-35219879578E}" type="presParOf" srcId="{4FE5D1E9-ED82-0F45-86A4-7E3F6D691E65}" destId="{08E3F871-3101-EE48-8D9C-C734641FA3CF}" srcOrd="4" destOrd="0" presId="urn:microsoft.com/office/officeart/2005/8/layout/chevron1"/>
    <dgm:cxn modelId="{7A500F83-B66C-864E-802A-644EA1141221}" type="presParOf" srcId="{08E3F871-3101-EE48-8D9C-C734641FA3CF}" destId="{FAB70A0B-6355-A049-80C7-D281E9662899}" srcOrd="0" destOrd="0" presId="urn:microsoft.com/office/officeart/2005/8/layout/chevron1"/>
    <dgm:cxn modelId="{3B6BDA6A-930D-BD4F-908B-EB99AD16033F}" type="presParOf" srcId="{08E3F871-3101-EE48-8D9C-C734641FA3CF}" destId="{2A12BD47-4BDB-3343-9554-B0171B10A11F}" srcOrd="1"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69473D-5311-9F43-858A-DA4F11AAF30A}">
      <dsp:nvSpPr>
        <dsp:cNvPr id="0" name=""/>
        <dsp:cNvSpPr/>
      </dsp:nvSpPr>
      <dsp:spPr>
        <a:xfrm>
          <a:off x="2368" y="250519"/>
          <a:ext cx="4069627" cy="1026000"/>
        </a:xfrm>
        <a:prstGeom prst="chevron">
          <a:avLst/>
        </a:prstGeom>
        <a:gradFill rotWithShape="0">
          <a:gsLst>
            <a:gs pos="0">
              <a:schemeClr val="accent1">
                <a:hueOff val="0"/>
                <a:satOff val="0"/>
                <a:lumOff val="0"/>
                <a:alphaOff val="0"/>
                <a:shade val="70000"/>
                <a:satMod val="150000"/>
              </a:schemeClr>
            </a:gs>
            <a:gs pos="34000">
              <a:schemeClr val="accent1">
                <a:hueOff val="0"/>
                <a:satOff val="0"/>
                <a:lumOff val="0"/>
                <a:alphaOff val="0"/>
                <a:shade val="70000"/>
                <a:satMod val="140000"/>
              </a:schemeClr>
            </a:gs>
            <a:gs pos="70000">
              <a:schemeClr val="accent1">
                <a:hueOff val="0"/>
                <a:satOff val="0"/>
                <a:lumOff val="0"/>
                <a:alphaOff val="0"/>
                <a:tint val="100000"/>
                <a:shade val="90000"/>
                <a:satMod val="140000"/>
              </a:schemeClr>
            </a:gs>
            <a:gs pos="100000">
              <a:schemeClr val="accent1">
                <a:hueOff val="0"/>
                <a:satOff val="0"/>
                <a:lumOff val="0"/>
                <a:alphaOff val="0"/>
                <a:tint val="100000"/>
                <a:shade val="100000"/>
                <a:satMod val="10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2012" tIns="30671" rIns="30671" bIns="30671" numCol="1" spcCol="1270" anchor="ctr" anchorCtr="0">
          <a:noAutofit/>
        </a:bodyPr>
        <a:lstStyle/>
        <a:p>
          <a:pPr lvl="0" algn="ctr" defTabSz="1022350" rtl="0">
            <a:lnSpc>
              <a:spcPct val="90000"/>
            </a:lnSpc>
            <a:spcBef>
              <a:spcPct val="0"/>
            </a:spcBef>
            <a:spcAft>
              <a:spcPct val="35000"/>
            </a:spcAft>
          </a:pPr>
          <a:r>
            <a:rPr lang="en-US" sz="2300" b="1" kern="1200" dirty="0">
              <a:solidFill>
                <a:schemeClr val="bg2">
                  <a:lumMod val="50000"/>
                </a:schemeClr>
              </a:solidFill>
            </a:rPr>
            <a:t>Confidentiality</a:t>
          </a:r>
          <a:endParaRPr lang="en-US" sz="2300" kern="1200" dirty="0">
            <a:solidFill>
              <a:schemeClr val="bg2">
                <a:lumMod val="50000"/>
              </a:schemeClr>
            </a:solidFill>
          </a:endParaRPr>
        </a:p>
      </dsp:txBody>
      <dsp:txXfrm>
        <a:off x="515368" y="250519"/>
        <a:ext cx="3043627" cy="1026000"/>
      </dsp:txXfrm>
    </dsp:sp>
    <dsp:sp modelId="{C5173CA9-CAEE-B642-8B8F-CD4B816E3BFB}">
      <dsp:nvSpPr>
        <dsp:cNvPr id="0" name=""/>
        <dsp:cNvSpPr/>
      </dsp:nvSpPr>
      <dsp:spPr>
        <a:xfrm>
          <a:off x="205287" y="1404769"/>
          <a:ext cx="2931031" cy="17527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171450" lvl="1" indent="-171450" algn="l" defTabSz="844550" rtl="0">
            <a:lnSpc>
              <a:spcPct val="90000"/>
            </a:lnSpc>
            <a:spcBef>
              <a:spcPct val="0"/>
            </a:spcBef>
            <a:spcAft>
              <a:spcPct val="15000"/>
            </a:spcAft>
            <a:buChar char="••"/>
          </a:pPr>
          <a:r>
            <a:rPr lang="en-US" sz="1900" b="1" kern="1200" dirty="0"/>
            <a:t>preserving authorized restrictions on information access and disclosure, including means for protecting personal privacy and proprietary information</a:t>
          </a:r>
          <a:endParaRPr lang="en-US" sz="1900" kern="1200" dirty="0"/>
        </a:p>
      </dsp:txBody>
      <dsp:txXfrm>
        <a:off x="205287" y="1404769"/>
        <a:ext cx="2931031" cy="1752750"/>
      </dsp:txXfrm>
    </dsp:sp>
    <dsp:sp modelId="{EC783FE8-0006-004E-9EC5-CCA2F7583147}">
      <dsp:nvSpPr>
        <dsp:cNvPr id="0" name=""/>
        <dsp:cNvSpPr/>
      </dsp:nvSpPr>
      <dsp:spPr>
        <a:xfrm>
          <a:off x="3855995" y="250519"/>
          <a:ext cx="3663789" cy="1026000"/>
        </a:xfrm>
        <a:prstGeom prst="chevron">
          <a:avLst/>
        </a:prstGeom>
        <a:gradFill rotWithShape="0">
          <a:gsLst>
            <a:gs pos="0">
              <a:schemeClr val="accent1">
                <a:hueOff val="0"/>
                <a:satOff val="0"/>
                <a:lumOff val="0"/>
                <a:alphaOff val="0"/>
                <a:shade val="70000"/>
                <a:satMod val="150000"/>
              </a:schemeClr>
            </a:gs>
            <a:gs pos="34000">
              <a:schemeClr val="accent1">
                <a:hueOff val="0"/>
                <a:satOff val="0"/>
                <a:lumOff val="0"/>
                <a:alphaOff val="0"/>
                <a:shade val="70000"/>
                <a:satMod val="140000"/>
              </a:schemeClr>
            </a:gs>
            <a:gs pos="70000">
              <a:schemeClr val="accent1">
                <a:hueOff val="0"/>
                <a:satOff val="0"/>
                <a:lumOff val="0"/>
                <a:alphaOff val="0"/>
                <a:tint val="100000"/>
                <a:shade val="90000"/>
                <a:satMod val="140000"/>
              </a:schemeClr>
            </a:gs>
            <a:gs pos="100000">
              <a:schemeClr val="accent1">
                <a:hueOff val="0"/>
                <a:satOff val="0"/>
                <a:lumOff val="0"/>
                <a:alphaOff val="0"/>
                <a:tint val="100000"/>
                <a:shade val="100000"/>
                <a:satMod val="10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6012" tIns="32004" rIns="32004" bIns="32004" numCol="1" spcCol="1270" anchor="ctr" anchorCtr="0">
          <a:noAutofit/>
        </a:bodyPr>
        <a:lstStyle/>
        <a:p>
          <a:pPr lvl="0" algn="ctr" defTabSz="1066800" rtl="0">
            <a:lnSpc>
              <a:spcPct val="90000"/>
            </a:lnSpc>
            <a:spcBef>
              <a:spcPct val="0"/>
            </a:spcBef>
            <a:spcAft>
              <a:spcPct val="35000"/>
            </a:spcAft>
          </a:pPr>
          <a:r>
            <a:rPr lang="en-US" sz="2400" b="1" kern="1200" dirty="0">
              <a:solidFill>
                <a:schemeClr val="bg2">
                  <a:lumMod val="50000"/>
                </a:schemeClr>
              </a:solidFill>
            </a:rPr>
            <a:t>Integrity</a:t>
          </a:r>
          <a:endParaRPr lang="en-US" sz="2400" kern="1200" dirty="0">
            <a:solidFill>
              <a:schemeClr val="bg2">
                <a:lumMod val="50000"/>
              </a:schemeClr>
            </a:solidFill>
          </a:endParaRPr>
        </a:p>
      </dsp:txBody>
      <dsp:txXfrm>
        <a:off x="4368995" y="250519"/>
        <a:ext cx="2637789" cy="1026000"/>
      </dsp:txXfrm>
    </dsp:sp>
    <dsp:sp modelId="{92F85E19-9F62-2146-BBFE-59F35C65EE0E}">
      <dsp:nvSpPr>
        <dsp:cNvPr id="0" name=""/>
        <dsp:cNvSpPr/>
      </dsp:nvSpPr>
      <dsp:spPr>
        <a:xfrm>
          <a:off x="3855995" y="1404769"/>
          <a:ext cx="2931031" cy="17527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171450" lvl="1" indent="-171450" algn="l" defTabSz="844550" rtl="0">
            <a:lnSpc>
              <a:spcPct val="90000"/>
            </a:lnSpc>
            <a:spcBef>
              <a:spcPct val="0"/>
            </a:spcBef>
            <a:spcAft>
              <a:spcPct val="15000"/>
            </a:spcAft>
            <a:buChar char="••"/>
          </a:pPr>
          <a:r>
            <a:rPr lang="en-US" sz="1900" b="1" kern="1200" dirty="0"/>
            <a:t>guarding against improper information modification or destruction, including ensuring information nonrepudiation and authenticity</a:t>
          </a:r>
          <a:endParaRPr lang="en-US" sz="1900" kern="1200" dirty="0"/>
        </a:p>
      </dsp:txBody>
      <dsp:txXfrm>
        <a:off x="3855995" y="1404769"/>
        <a:ext cx="2931031" cy="1752750"/>
      </dsp:txXfrm>
    </dsp:sp>
    <dsp:sp modelId="{FAB70A0B-6355-A049-80C7-D281E9662899}">
      <dsp:nvSpPr>
        <dsp:cNvPr id="0" name=""/>
        <dsp:cNvSpPr/>
      </dsp:nvSpPr>
      <dsp:spPr>
        <a:xfrm>
          <a:off x="7303785" y="250519"/>
          <a:ext cx="3663789" cy="1026000"/>
        </a:xfrm>
        <a:prstGeom prst="chevron">
          <a:avLst/>
        </a:prstGeom>
        <a:gradFill rotWithShape="0">
          <a:gsLst>
            <a:gs pos="0">
              <a:schemeClr val="accent1">
                <a:hueOff val="0"/>
                <a:satOff val="0"/>
                <a:lumOff val="0"/>
                <a:alphaOff val="0"/>
                <a:shade val="70000"/>
                <a:satMod val="150000"/>
              </a:schemeClr>
            </a:gs>
            <a:gs pos="34000">
              <a:schemeClr val="accent1">
                <a:hueOff val="0"/>
                <a:satOff val="0"/>
                <a:lumOff val="0"/>
                <a:alphaOff val="0"/>
                <a:shade val="70000"/>
                <a:satMod val="140000"/>
              </a:schemeClr>
            </a:gs>
            <a:gs pos="70000">
              <a:schemeClr val="accent1">
                <a:hueOff val="0"/>
                <a:satOff val="0"/>
                <a:lumOff val="0"/>
                <a:alphaOff val="0"/>
                <a:tint val="100000"/>
                <a:shade val="90000"/>
                <a:satMod val="140000"/>
              </a:schemeClr>
            </a:gs>
            <a:gs pos="100000">
              <a:schemeClr val="accent1">
                <a:hueOff val="0"/>
                <a:satOff val="0"/>
                <a:lumOff val="0"/>
                <a:alphaOff val="0"/>
                <a:tint val="100000"/>
                <a:shade val="100000"/>
                <a:satMod val="10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6012" tIns="32004" rIns="32004" bIns="32004" numCol="1" spcCol="1270" anchor="ctr" anchorCtr="0">
          <a:noAutofit/>
        </a:bodyPr>
        <a:lstStyle/>
        <a:p>
          <a:pPr lvl="0" algn="ctr" defTabSz="1066800" rtl="0">
            <a:lnSpc>
              <a:spcPct val="90000"/>
            </a:lnSpc>
            <a:spcBef>
              <a:spcPct val="0"/>
            </a:spcBef>
            <a:spcAft>
              <a:spcPct val="35000"/>
            </a:spcAft>
          </a:pPr>
          <a:r>
            <a:rPr lang="en-US" sz="2400" b="1" kern="1200" dirty="0">
              <a:solidFill>
                <a:schemeClr val="bg2">
                  <a:lumMod val="50000"/>
                </a:schemeClr>
              </a:solidFill>
            </a:rPr>
            <a:t>Availability</a:t>
          </a:r>
          <a:endParaRPr lang="en-US" sz="2400" kern="1200" dirty="0">
            <a:solidFill>
              <a:schemeClr val="bg2">
                <a:lumMod val="50000"/>
              </a:schemeClr>
            </a:solidFill>
          </a:endParaRPr>
        </a:p>
      </dsp:txBody>
      <dsp:txXfrm>
        <a:off x="7816785" y="250519"/>
        <a:ext cx="2637789" cy="1026000"/>
      </dsp:txXfrm>
    </dsp:sp>
    <dsp:sp modelId="{2A12BD47-4BDB-3343-9554-B0171B10A11F}">
      <dsp:nvSpPr>
        <dsp:cNvPr id="0" name=""/>
        <dsp:cNvSpPr/>
      </dsp:nvSpPr>
      <dsp:spPr>
        <a:xfrm>
          <a:off x="7303785" y="1404769"/>
          <a:ext cx="2931031" cy="17527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171450" lvl="1" indent="-171450" algn="l" defTabSz="844550" rtl="0">
            <a:lnSpc>
              <a:spcPct val="90000"/>
            </a:lnSpc>
            <a:spcBef>
              <a:spcPct val="0"/>
            </a:spcBef>
            <a:spcAft>
              <a:spcPct val="15000"/>
            </a:spcAft>
            <a:buChar char="••"/>
          </a:pPr>
          <a:r>
            <a:rPr lang="en-US" sz="1900" b="1" kern="1200" dirty="0"/>
            <a:t>ensuring timely and reliable access to and use of information</a:t>
          </a:r>
        </a:p>
      </dsp:txBody>
      <dsp:txXfrm>
        <a:off x="7303785" y="1404769"/>
        <a:ext cx="2931031" cy="1752750"/>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CFDC542-B939-BB45-AFCF-594C1621128F}" type="datetimeFigureOut">
              <a:rPr lang="en-US" smtClean="0"/>
              <a:t>7/22/2025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CA4DC196-1B1F-7241-A073-57B4DC9C7BD5}" type="slidenum">
              <a:rPr lang="en-US" smtClean="0"/>
              <a:t>‹#›</a:t>
            </a:fld>
            <a:endParaRPr lang="en-US"/>
          </a:p>
        </p:txBody>
      </p:sp>
    </p:spTree>
    <p:extLst>
      <p:ext uri="{BB962C8B-B14F-4D97-AF65-F5344CB8AC3E}">
        <p14:creationId xmlns:p14="http://schemas.microsoft.com/office/powerpoint/2010/main" val="3296623838"/>
      </p:ext>
    </p:extLst>
  </p:cSld>
  <p:clrMap bg1="lt1" tx1="dk1" bg2="lt2" tx2="dk2" accent1="accent1" accent2="accent2" accent3="accent3" accent4="accent4" accent5="accent5" accent6="accent6" hlink="hlink" folHlink="folHlink"/>
  <p:hf hdr="0" ftr="0" dt="0"/>
</p:handoutMaster>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traceFormat>
        <inkml:channelProperties>
          <inkml:channelProperty channel="X" name="resolution" value="2155.72363" units="1/cm"/>
          <inkml:channelProperty channel="Y" name="resolution" value="3449.15796" units="1/cm"/>
          <inkml:channelProperty channel="F" name="resolution" value="5.68611" units="1/deg"/>
        </inkml:channelProperties>
      </inkml:inkSource>
      <inkml:timestamp xml:id="ts0" timeString="2020-08-12T07:50:55.320"/>
    </inkml:context>
    <inkml:brush xml:id="br0">
      <inkml:brushProperty name="width" value="0.05292" units="cm"/>
      <inkml:brushProperty name="height" value="0.05292" units="cm"/>
      <inkml:brushProperty name="color" value="#FF0000"/>
    </inkml:brush>
  </inkml:definitions>
  <inkml:trace contextRef="#ctx0" brushRef="#br0">3505 10186 49,'0'0'10,"0"0"-10,0 0 0,0 0 55,0 0-21,0 0-2,0 0-19,0 0 7,-2-73 18,2 66-22,0-3-4,0 6-9,-2 1 8,0 0-11,-4-1-12,-1 2-9,-5 0-6,-1 2-5,3 0 16,-2 0 3,-1 0-10,3 0-20,2 0-57</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39D278F-9C4E-4141-9C2A-50ABACE7C8BA}" type="datetimeFigureOut">
              <a:rPr lang="en-US" smtClean="0"/>
              <a:t>7/22/2025</a:t>
            </a:fld>
            <a:endParaRPr lang="en-US"/>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CA7DEB1-D7C8-3B49-8A71-75AFCE089D88}" type="slidenum">
              <a:rPr lang="en-US" smtClean="0"/>
              <a:t>‹#›</a:t>
            </a:fld>
            <a:endParaRPr lang="en-US"/>
          </a:p>
        </p:txBody>
      </p:sp>
    </p:spTree>
    <p:extLst>
      <p:ext uri="{BB962C8B-B14F-4D97-AF65-F5344CB8AC3E}">
        <p14:creationId xmlns:p14="http://schemas.microsoft.com/office/powerpoint/2010/main" val="3046300311"/>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eaLnBrk="1" hangingPunct="1"/>
            <a:r>
              <a:rPr lang="en-US" dirty="0">
                <a:latin typeface="Arial" charset="0"/>
              </a:rPr>
              <a:t>The NIST Computer Security Handbook [NIST95] defines the term </a:t>
            </a:r>
            <a:r>
              <a:rPr lang="en-US" i="1" dirty="0">
                <a:latin typeface="Arial" charset="0"/>
              </a:rPr>
              <a:t>computer security</a:t>
            </a:r>
          </a:p>
          <a:p>
            <a:pPr eaLnBrk="1" hangingPunct="1"/>
            <a:r>
              <a:rPr lang="en-US" dirty="0">
                <a:latin typeface="Arial" charset="0"/>
              </a:rPr>
              <a:t>as follows:</a:t>
            </a:r>
          </a:p>
          <a:p>
            <a:pPr eaLnBrk="1" hangingPunct="1"/>
            <a:endParaRPr lang="en-US" dirty="0">
              <a:latin typeface="Arial" charset="0"/>
            </a:endParaRPr>
          </a:p>
          <a:p>
            <a:pPr eaLnBrk="1" hangingPunct="1"/>
            <a:r>
              <a:rPr lang="en-US" b="1" dirty="0">
                <a:latin typeface="Arial" charset="0"/>
              </a:rPr>
              <a:t>Computer Security: The protection afforded to an automated information</a:t>
            </a:r>
          </a:p>
          <a:p>
            <a:pPr eaLnBrk="1" hangingPunct="1"/>
            <a:r>
              <a:rPr lang="en-US" dirty="0">
                <a:latin typeface="Arial" charset="0"/>
              </a:rPr>
              <a:t>system in order to attain the applicable objectives of preserving the integrity,</a:t>
            </a:r>
          </a:p>
          <a:p>
            <a:pPr eaLnBrk="1" hangingPunct="1"/>
            <a:r>
              <a:rPr lang="en-US" dirty="0">
                <a:latin typeface="Arial" charset="0"/>
              </a:rPr>
              <a:t>availability, and confidentiality of information system resources (includes hardware,</a:t>
            </a:r>
          </a:p>
          <a:p>
            <a:pPr eaLnBrk="1" hangingPunct="1"/>
            <a:r>
              <a:rPr lang="en-US" dirty="0">
                <a:latin typeface="Arial" charset="0"/>
              </a:rPr>
              <a:t>software, firmware, information/data, and telecommunications).</a:t>
            </a:r>
          </a:p>
          <a:p>
            <a:pPr eaLnBrk="1" hangingPunct="1"/>
            <a:endParaRPr lang="en-US" dirty="0">
              <a:latin typeface="Arial" charset="0"/>
            </a:endParaRPr>
          </a:p>
          <a:p>
            <a:pPr eaLnBrk="1" hangingPunct="1"/>
            <a:r>
              <a:rPr lang="en-US" dirty="0">
                <a:latin typeface="Arial" charset="0"/>
              </a:rPr>
              <a:t>This definition introduces three key objectives that are at the heart of computer</a:t>
            </a:r>
          </a:p>
          <a:p>
            <a:pPr eaLnBrk="1" hangingPunct="1"/>
            <a:r>
              <a:rPr lang="en-US" dirty="0">
                <a:latin typeface="Arial" charset="0"/>
              </a:rPr>
              <a:t>security:</a:t>
            </a:r>
          </a:p>
          <a:p>
            <a:pPr eaLnBrk="1" hangingPunct="1"/>
            <a:endParaRPr lang="en-US" dirty="0">
              <a:latin typeface="Arial" charset="0"/>
            </a:endParaRPr>
          </a:p>
          <a:p>
            <a:pPr eaLnBrk="1" hangingPunct="1"/>
            <a:r>
              <a:rPr lang="en-US" dirty="0">
                <a:latin typeface="Arial" charset="0"/>
              </a:rPr>
              <a:t>• </a:t>
            </a:r>
            <a:r>
              <a:rPr lang="en-US" b="1" dirty="0">
                <a:latin typeface="Arial" charset="0"/>
              </a:rPr>
              <a:t>Confidentiality: This term covers two related concepts:</a:t>
            </a:r>
          </a:p>
          <a:p>
            <a:pPr eaLnBrk="1" hangingPunct="1"/>
            <a:endParaRPr lang="en-US" b="1" dirty="0">
              <a:latin typeface="Arial" charset="0"/>
            </a:endParaRPr>
          </a:p>
          <a:p>
            <a:pPr eaLnBrk="1" hangingPunct="1"/>
            <a:r>
              <a:rPr lang="en-US" dirty="0">
                <a:latin typeface="Arial" charset="0"/>
              </a:rPr>
              <a:t>— </a:t>
            </a:r>
            <a:r>
              <a:rPr lang="en-US" b="1" dirty="0">
                <a:latin typeface="Arial" charset="0"/>
              </a:rPr>
              <a:t>Data confidentiality : 1 Assures that private or confidential information is</a:t>
            </a:r>
          </a:p>
          <a:p>
            <a:pPr eaLnBrk="1" hangingPunct="1"/>
            <a:r>
              <a:rPr lang="en-US" dirty="0">
                <a:latin typeface="Arial" charset="0"/>
              </a:rPr>
              <a:t>not made available or disclosed to unauthorized individuals.</a:t>
            </a:r>
          </a:p>
          <a:p>
            <a:pPr eaLnBrk="1" hangingPunct="1"/>
            <a:endParaRPr lang="en-US" dirty="0">
              <a:latin typeface="Arial" charset="0"/>
            </a:endParaRPr>
          </a:p>
          <a:p>
            <a:pPr eaLnBrk="1" hangingPunct="1"/>
            <a:r>
              <a:rPr lang="en-US" dirty="0">
                <a:latin typeface="Arial" charset="0"/>
              </a:rPr>
              <a:t>— </a:t>
            </a:r>
            <a:r>
              <a:rPr lang="en-US" b="1" dirty="0">
                <a:latin typeface="Arial" charset="0"/>
              </a:rPr>
              <a:t>Privacy : Assures that individuals control or influence what information</a:t>
            </a:r>
          </a:p>
          <a:p>
            <a:pPr eaLnBrk="1" hangingPunct="1"/>
            <a:r>
              <a:rPr lang="en-US" dirty="0">
                <a:latin typeface="Arial" charset="0"/>
              </a:rPr>
              <a:t>related to them may be collected and stored and by whom and to whom</a:t>
            </a:r>
          </a:p>
          <a:p>
            <a:pPr eaLnBrk="1" hangingPunct="1"/>
            <a:r>
              <a:rPr lang="en-US" dirty="0">
                <a:latin typeface="Arial" charset="0"/>
              </a:rPr>
              <a:t>that information may be disclosed.</a:t>
            </a:r>
          </a:p>
          <a:p>
            <a:pPr eaLnBrk="1" hangingPunct="1"/>
            <a:endParaRPr lang="en-US" dirty="0">
              <a:latin typeface="Arial" charset="0"/>
            </a:endParaRPr>
          </a:p>
          <a:p>
            <a:pPr eaLnBrk="1" hangingPunct="1"/>
            <a:r>
              <a:rPr lang="en-US" dirty="0">
                <a:latin typeface="Arial" charset="0"/>
              </a:rPr>
              <a:t>• </a:t>
            </a:r>
            <a:r>
              <a:rPr lang="en-US" b="1" dirty="0">
                <a:latin typeface="Arial" charset="0"/>
              </a:rPr>
              <a:t>Integrity: This term covers two related concepts:</a:t>
            </a:r>
          </a:p>
          <a:p>
            <a:pPr eaLnBrk="1" hangingPunct="1"/>
            <a:endParaRPr lang="en-US" b="1" dirty="0">
              <a:latin typeface="Arial" charset="0"/>
            </a:endParaRPr>
          </a:p>
          <a:p>
            <a:pPr eaLnBrk="1" hangingPunct="1"/>
            <a:r>
              <a:rPr lang="en-US" dirty="0">
                <a:latin typeface="Arial" charset="0"/>
              </a:rPr>
              <a:t>— </a:t>
            </a:r>
            <a:r>
              <a:rPr lang="en-US" b="1" dirty="0">
                <a:latin typeface="Arial" charset="0"/>
              </a:rPr>
              <a:t>Data integrity : Assures that information and programs are changed only</a:t>
            </a:r>
          </a:p>
          <a:p>
            <a:pPr eaLnBrk="1" hangingPunct="1"/>
            <a:r>
              <a:rPr lang="en-US" dirty="0">
                <a:latin typeface="Arial" charset="0"/>
              </a:rPr>
              <a:t>in a specified and authorized manner.</a:t>
            </a:r>
          </a:p>
          <a:p>
            <a:pPr eaLnBrk="1" hangingPunct="1"/>
            <a:endParaRPr lang="en-US" dirty="0">
              <a:latin typeface="Arial" charset="0"/>
            </a:endParaRPr>
          </a:p>
          <a:p>
            <a:pPr eaLnBrk="1" hangingPunct="1"/>
            <a:r>
              <a:rPr lang="en-US" dirty="0">
                <a:latin typeface="Arial" charset="0"/>
              </a:rPr>
              <a:t>— </a:t>
            </a:r>
            <a:r>
              <a:rPr lang="en-US" b="1" dirty="0">
                <a:latin typeface="Arial" charset="0"/>
              </a:rPr>
              <a:t>System integrity : Assures that a system performs its intended function in</a:t>
            </a:r>
          </a:p>
          <a:p>
            <a:pPr eaLnBrk="1" hangingPunct="1"/>
            <a:r>
              <a:rPr lang="en-US" dirty="0">
                <a:latin typeface="Arial" charset="0"/>
              </a:rPr>
              <a:t>an unimpaired manner, free from deliberate or inadvertent unauthorized</a:t>
            </a:r>
          </a:p>
          <a:p>
            <a:pPr eaLnBrk="1" hangingPunct="1"/>
            <a:r>
              <a:rPr lang="en-US" dirty="0">
                <a:latin typeface="Arial" charset="0"/>
              </a:rPr>
              <a:t>manipulation of the system.</a:t>
            </a:r>
          </a:p>
          <a:p>
            <a:pPr eaLnBrk="1" hangingPunct="1"/>
            <a:endParaRPr lang="en-US" dirty="0">
              <a:latin typeface="Arial" charset="0"/>
            </a:endParaRPr>
          </a:p>
          <a:p>
            <a:pPr eaLnBrk="1" hangingPunct="1"/>
            <a:r>
              <a:rPr lang="en-US" dirty="0">
                <a:latin typeface="Arial" charset="0"/>
              </a:rPr>
              <a:t>• </a:t>
            </a:r>
            <a:r>
              <a:rPr lang="en-US" b="1" dirty="0">
                <a:latin typeface="Arial" charset="0"/>
              </a:rPr>
              <a:t>Availability: Assures that systems work promptly and service is not denied to</a:t>
            </a:r>
          </a:p>
          <a:p>
            <a:pPr eaLnBrk="1" hangingPunct="1"/>
            <a:r>
              <a:rPr lang="en-US">
                <a:latin typeface="Arial" charset="0"/>
              </a:rPr>
              <a:t>authorized users.</a:t>
            </a:r>
            <a:endParaRPr lang="en-US"/>
          </a:p>
        </p:txBody>
      </p:sp>
      <p:sp>
        <p:nvSpPr>
          <p:cNvPr id="4" name="Slide Number Placeholder 3"/>
          <p:cNvSpPr>
            <a:spLocks noGrp="1"/>
          </p:cNvSpPr>
          <p:nvPr>
            <p:ph type="sldNum" sz="quarter" idx="5"/>
          </p:nvPr>
        </p:nvSpPr>
        <p:spPr/>
        <p:txBody>
          <a:bodyPr/>
          <a:lstStyle/>
          <a:p>
            <a:fld id="{4CA7DEB1-D7C8-3B49-8A71-75AFCE089D88}" type="slidenum">
              <a:rPr lang="en-US" smtClean="0"/>
              <a:t>2</a:t>
            </a:fld>
            <a:endParaRPr lang="en-US"/>
          </a:p>
        </p:txBody>
      </p:sp>
    </p:spTree>
    <p:extLst>
      <p:ext uri="{BB962C8B-B14F-4D97-AF65-F5344CB8AC3E}">
        <p14:creationId xmlns:p14="http://schemas.microsoft.com/office/powerpoint/2010/main" val="26290026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r>
              <a:rPr lang="en-US" dirty="0"/>
              <a:t>While hardware and software may be expensive, unique data cannot</a:t>
            </a:r>
            <a:r>
              <a:rPr lang="en-US" baseline="0" dirty="0"/>
              <a:t> be replaced if it is lost.</a:t>
            </a:r>
            <a:endParaRPr lang="en-US" dirty="0"/>
          </a:p>
        </p:txBody>
      </p:sp>
      <p:sp>
        <p:nvSpPr>
          <p:cNvPr id="4" name="Slide Number Placeholder 3"/>
          <p:cNvSpPr>
            <a:spLocks noGrp="1"/>
          </p:cNvSpPr>
          <p:nvPr>
            <p:ph type="sldNum" sz="quarter" idx="10"/>
          </p:nvPr>
        </p:nvSpPr>
        <p:spPr/>
        <p:txBody>
          <a:bodyPr/>
          <a:lstStyle/>
          <a:p>
            <a:fld id="{4CA7DEB1-D7C8-3B49-8A71-75AFCE089D88}" type="slidenum">
              <a:rPr lang="en-US" smtClean="0"/>
              <a:t>3</a:t>
            </a:fld>
            <a:endParaRPr lang="en-US"/>
          </a:p>
        </p:txBody>
      </p:sp>
    </p:spTree>
    <p:extLst>
      <p:ext uri="{BB962C8B-B14F-4D97-AF65-F5344CB8AC3E}">
        <p14:creationId xmlns:p14="http://schemas.microsoft.com/office/powerpoint/2010/main" val="19811563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r>
              <a:rPr lang="en-US" dirty="0"/>
              <a:t>The water is the threat, the crack the vulnerability, and the finger</a:t>
            </a:r>
            <a:r>
              <a:rPr lang="en-US" baseline="0" dirty="0"/>
              <a:t> the control (for now).</a:t>
            </a:r>
            <a:endParaRPr lang="en-US" dirty="0"/>
          </a:p>
        </p:txBody>
      </p:sp>
      <p:sp>
        <p:nvSpPr>
          <p:cNvPr id="4" name="Slide Number Placeholder 3"/>
          <p:cNvSpPr>
            <a:spLocks noGrp="1"/>
          </p:cNvSpPr>
          <p:nvPr>
            <p:ph type="sldNum" sz="quarter" idx="10"/>
          </p:nvPr>
        </p:nvSpPr>
        <p:spPr/>
        <p:txBody>
          <a:bodyPr/>
          <a:lstStyle/>
          <a:p>
            <a:fld id="{4CA7DEB1-D7C8-3B49-8A71-75AFCE089D88}" type="slidenum">
              <a:rPr lang="en-US" smtClean="0"/>
              <a:t>4</a:t>
            </a:fld>
            <a:endParaRPr lang="en-US"/>
          </a:p>
        </p:txBody>
      </p:sp>
    </p:spTree>
    <p:extLst>
      <p:ext uri="{BB962C8B-B14F-4D97-AF65-F5344CB8AC3E}">
        <p14:creationId xmlns:p14="http://schemas.microsoft.com/office/powerpoint/2010/main" val="37515815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Slide Image Placeholder 1"/>
          <p:cNvSpPr>
            <a:spLocks noGrp="1" noRot="1" noChangeAspect="1"/>
          </p:cNvSpPr>
          <p:nvPr>
            <p:ph type="sldImg"/>
          </p:nvPr>
        </p:nvSpPr>
        <p:spPr>
          <a:xfrm>
            <a:off x="382588" y="685800"/>
            <a:ext cx="6092825" cy="3429000"/>
          </a:xfrm>
          <a:ln/>
        </p:spPr>
      </p:sp>
      <p:sp>
        <p:nvSpPr>
          <p:cNvPr id="3" name="Notes Placeholder 2"/>
          <p:cNvSpPr>
            <a:spLocks noGrp="1"/>
          </p:cNvSpPr>
          <p:nvPr>
            <p:ph type="body" idx="1"/>
          </p:nvPr>
        </p:nvSpPr>
        <p:spPr/>
        <p:txBody>
          <a:bodyPr>
            <a:normAutofit fontScale="77500" lnSpcReduction="20000"/>
          </a:bodyPr>
          <a:lstStyle/>
          <a:p>
            <a:pPr eaLnBrk="1" hangingPunct="1">
              <a:defRPr/>
            </a:pPr>
            <a:r>
              <a:rPr lang="en-US" dirty="0"/>
              <a:t>FIPS PUB 199</a:t>
            </a:r>
          </a:p>
          <a:p>
            <a:pPr eaLnBrk="1" hangingPunct="1">
              <a:defRPr/>
            </a:pPr>
            <a:r>
              <a:rPr lang="en-US" dirty="0"/>
              <a:t>provides a useful characterization of these three objectives in terms of requirements</a:t>
            </a:r>
          </a:p>
          <a:p>
            <a:pPr eaLnBrk="1" hangingPunct="1">
              <a:defRPr/>
            </a:pPr>
            <a:r>
              <a:rPr lang="en-US" dirty="0"/>
              <a:t>and the definition of a loss of security in each category:</a:t>
            </a:r>
          </a:p>
          <a:p>
            <a:pPr eaLnBrk="1" hangingPunct="1">
              <a:defRPr/>
            </a:pPr>
            <a:endParaRPr lang="en-US" dirty="0"/>
          </a:p>
          <a:p>
            <a:pPr eaLnBrk="1" hangingPunct="1">
              <a:defRPr/>
            </a:pPr>
            <a:r>
              <a:rPr lang="en-US" dirty="0"/>
              <a:t>• </a:t>
            </a:r>
            <a:r>
              <a:rPr lang="en-US" b="1" dirty="0"/>
              <a:t>Confidentiality: Preserving authorized restrictions on information access</a:t>
            </a:r>
          </a:p>
          <a:p>
            <a:pPr eaLnBrk="1" hangingPunct="1">
              <a:defRPr/>
            </a:pPr>
            <a:r>
              <a:rPr lang="en-US" dirty="0"/>
              <a:t>and disclosure, including means for protecting personal privacy and proprietary</a:t>
            </a:r>
          </a:p>
          <a:p>
            <a:pPr eaLnBrk="1" hangingPunct="1">
              <a:defRPr/>
            </a:pPr>
            <a:r>
              <a:rPr lang="en-US" dirty="0"/>
              <a:t>information. A loss of confidentiality is the unauthorized disclosure of</a:t>
            </a:r>
          </a:p>
          <a:p>
            <a:pPr eaLnBrk="1" hangingPunct="1">
              <a:defRPr/>
            </a:pPr>
            <a:r>
              <a:rPr lang="en-US" dirty="0"/>
              <a:t>information.</a:t>
            </a:r>
          </a:p>
          <a:p>
            <a:pPr eaLnBrk="1" hangingPunct="1">
              <a:defRPr/>
            </a:pPr>
            <a:endParaRPr lang="en-US" dirty="0"/>
          </a:p>
          <a:p>
            <a:pPr eaLnBrk="1" hangingPunct="1">
              <a:defRPr/>
            </a:pPr>
            <a:r>
              <a:rPr lang="en-US" dirty="0"/>
              <a:t>• </a:t>
            </a:r>
            <a:r>
              <a:rPr lang="en-US" b="1" dirty="0"/>
              <a:t>Integrity: Guarding against improper information modification or destruction,</a:t>
            </a:r>
          </a:p>
          <a:p>
            <a:pPr eaLnBrk="1" hangingPunct="1">
              <a:defRPr/>
            </a:pPr>
            <a:r>
              <a:rPr lang="en-US" dirty="0"/>
              <a:t>including ensuring information non-repudiation and authenticity. A loss of</a:t>
            </a:r>
          </a:p>
          <a:p>
            <a:pPr eaLnBrk="1" hangingPunct="1">
              <a:defRPr/>
            </a:pPr>
            <a:r>
              <a:rPr lang="en-US" dirty="0"/>
              <a:t>integrity is the unauthorized modification or destruction of information.</a:t>
            </a:r>
          </a:p>
          <a:p>
            <a:pPr eaLnBrk="1" hangingPunct="1">
              <a:defRPr/>
            </a:pPr>
            <a:endParaRPr lang="en-US" dirty="0"/>
          </a:p>
          <a:p>
            <a:pPr eaLnBrk="1" hangingPunct="1">
              <a:defRPr/>
            </a:pPr>
            <a:r>
              <a:rPr lang="en-US" dirty="0"/>
              <a:t>• </a:t>
            </a:r>
            <a:r>
              <a:rPr lang="en-US" b="1" dirty="0"/>
              <a:t>Availability: Ensuring timely and reliable access to and use of information.</a:t>
            </a:r>
          </a:p>
          <a:p>
            <a:pPr eaLnBrk="1" hangingPunct="1">
              <a:defRPr/>
            </a:pPr>
            <a:r>
              <a:rPr lang="en-US" dirty="0"/>
              <a:t>A loss of availability is the disruption of access to or use of information or an</a:t>
            </a:r>
          </a:p>
          <a:p>
            <a:pPr eaLnBrk="1" hangingPunct="1">
              <a:defRPr/>
            </a:pPr>
            <a:r>
              <a:rPr lang="en-US" dirty="0"/>
              <a:t>information system.</a:t>
            </a:r>
          </a:p>
          <a:p>
            <a:pPr eaLnBrk="1" hangingPunct="1">
              <a:defRPr/>
            </a:pPr>
            <a:endParaRPr lang="en-US" dirty="0">
              <a:latin typeface="Times New Roman" pitchFamily="-107" charset="0"/>
            </a:endParaRPr>
          </a:p>
          <a:p>
            <a:pPr eaLnBrk="1" hangingPunct="1">
              <a:defRPr/>
            </a:pPr>
            <a:r>
              <a:rPr lang="en-US" dirty="0"/>
              <a:t>Although the use of the CIA triad to define security objectives is well established,</a:t>
            </a:r>
          </a:p>
          <a:p>
            <a:pPr eaLnBrk="1" hangingPunct="1">
              <a:defRPr/>
            </a:pPr>
            <a:r>
              <a:rPr lang="en-US" dirty="0"/>
              <a:t>some in the security field feel that additional concepts are needed to present</a:t>
            </a:r>
          </a:p>
          <a:p>
            <a:pPr eaLnBrk="1" hangingPunct="1">
              <a:defRPr/>
            </a:pPr>
            <a:r>
              <a:rPr lang="en-US" dirty="0"/>
              <a:t>a complete picture. Two of the most commonly mentioned are as follows:</a:t>
            </a:r>
          </a:p>
          <a:p>
            <a:pPr eaLnBrk="1" hangingPunct="1">
              <a:defRPr/>
            </a:pPr>
            <a:endParaRPr lang="en-US" dirty="0"/>
          </a:p>
          <a:p>
            <a:pPr eaLnBrk="1" hangingPunct="1">
              <a:defRPr/>
            </a:pPr>
            <a:r>
              <a:rPr lang="en-US" dirty="0"/>
              <a:t>• </a:t>
            </a:r>
            <a:r>
              <a:rPr lang="en-US" b="1" dirty="0"/>
              <a:t>Authenticity: The property of being genuine and being able to be verified and</a:t>
            </a:r>
          </a:p>
          <a:p>
            <a:pPr eaLnBrk="1" hangingPunct="1">
              <a:defRPr/>
            </a:pPr>
            <a:r>
              <a:rPr lang="en-US" dirty="0"/>
              <a:t>trusted; confidence in the validity of a transmission, a message, or message</a:t>
            </a:r>
          </a:p>
          <a:p>
            <a:pPr eaLnBrk="1" hangingPunct="1">
              <a:defRPr/>
            </a:pPr>
            <a:r>
              <a:rPr lang="en-US" dirty="0"/>
              <a:t>originator. This means verifying that users are who they say they are and that</a:t>
            </a:r>
          </a:p>
          <a:p>
            <a:pPr eaLnBrk="1" hangingPunct="1">
              <a:defRPr/>
            </a:pPr>
            <a:r>
              <a:rPr lang="en-US" dirty="0"/>
              <a:t>each input arriving at the system came from a trusted source.</a:t>
            </a:r>
          </a:p>
          <a:p>
            <a:pPr eaLnBrk="1" hangingPunct="1">
              <a:defRPr/>
            </a:pPr>
            <a:endParaRPr lang="en-US" dirty="0"/>
          </a:p>
          <a:p>
            <a:pPr eaLnBrk="1" hangingPunct="1">
              <a:defRPr/>
            </a:pPr>
            <a:r>
              <a:rPr lang="en-US" dirty="0"/>
              <a:t>• </a:t>
            </a:r>
            <a:r>
              <a:rPr lang="en-US" b="1" dirty="0"/>
              <a:t>Accountability: The security goal that generates the requirement for actions</a:t>
            </a:r>
          </a:p>
          <a:p>
            <a:pPr eaLnBrk="1" hangingPunct="1">
              <a:defRPr/>
            </a:pPr>
            <a:r>
              <a:rPr lang="en-US" dirty="0"/>
              <a:t>of an entity to be traced uniquely to that entity. This supports nonrepudiation,</a:t>
            </a:r>
          </a:p>
          <a:p>
            <a:pPr eaLnBrk="1" hangingPunct="1">
              <a:defRPr/>
            </a:pPr>
            <a:r>
              <a:rPr lang="en-US" dirty="0"/>
              <a:t>deterrence, fault isolation, intrusion detection and prevention, and after-action</a:t>
            </a:r>
          </a:p>
          <a:p>
            <a:pPr eaLnBrk="1" hangingPunct="1">
              <a:defRPr/>
            </a:pPr>
            <a:r>
              <a:rPr lang="en-US" dirty="0"/>
              <a:t>recovery and legal action. Because truly secure systems aren’t yet an achievable</a:t>
            </a:r>
          </a:p>
          <a:p>
            <a:pPr eaLnBrk="1" hangingPunct="1">
              <a:defRPr/>
            </a:pPr>
            <a:r>
              <a:rPr lang="en-US" dirty="0"/>
              <a:t>goal, we must be able to trace a security breach to a responsible party. Systems</a:t>
            </a:r>
          </a:p>
          <a:p>
            <a:pPr eaLnBrk="1" hangingPunct="1">
              <a:defRPr/>
            </a:pPr>
            <a:r>
              <a:rPr lang="en-US" dirty="0"/>
              <a:t>must keep records of their activities to permit later forensic analysis to trace</a:t>
            </a:r>
          </a:p>
          <a:p>
            <a:pPr eaLnBrk="1" hangingPunct="1">
              <a:defRPr/>
            </a:pPr>
            <a:r>
              <a:rPr lang="en-US" dirty="0"/>
              <a:t>security breaches or to aid in transaction disputes.</a:t>
            </a:r>
          </a:p>
          <a:p>
            <a:pPr eaLnBrk="1" hangingPunct="1">
              <a:defRPr/>
            </a:pPr>
            <a:endParaRPr lang="en-US" dirty="0"/>
          </a:p>
          <a:p>
            <a:pPr eaLnBrk="1" hangingPunct="1">
              <a:defRPr/>
            </a:pPr>
            <a:r>
              <a:rPr lang="en-US" dirty="0"/>
              <a:t>Note that FIPS PUB 199 includes authenticity under integrity.</a:t>
            </a:r>
          </a:p>
          <a:p>
            <a:pPr eaLnBrk="1" hangingPunct="1">
              <a:defRPr/>
            </a:pPr>
            <a:endParaRPr lang="en-US" dirty="0"/>
          </a:p>
        </p:txBody>
      </p:sp>
      <p:sp>
        <p:nvSpPr>
          <p:cNvPr id="24579" name="Slide Number Placeholder 3"/>
          <p:cNvSpPr>
            <a:spLocks noGrp="1"/>
          </p:cNvSpPr>
          <p:nvPr>
            <p:ph type="sldNum" sz="quarter" idx="5"/>
          </p:nvPr>
        </p:nvSpPr>
        <p:spPr>
          <a:noFill/>
        </p:spPr>
        <p:txBody>
          <a:bodyPr/>
          <a:lstStyle/>
          <a:p>
            <a:fld id="{78B29203-BF13-4E4C-A620-DBB85DFD646D}" type="slidenum">
              <a:rPr lang="en-AU" smtClean="0">
                <a:latin typeface="Arial" charset="0"/>
                <a:cs typeface="Arial" charset="0"/>
              </a:rPr>
              <a:pPr/>
              <a:t>5</a:t>
            </a:fld>
            <a:endParaRPr lang="en-AU">
              <a:latin typeface="Arial" charset="0"/>
              <a:cs typeface="Arial" charset="0"/>
            </a:endParaRPr>
          </a:p>
        </p:txBody>
      </p:sp>
    </p:spTree>
    <p:extLst>
      <p:ext uri="{BB962C8B-B14F-4D97-AF65-F5344CB8AC3E}">
        <p14:creationId xmlns:p14="http://schemas.microsoft.com/office/powerpoint/2010/main" val="6655676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6082" name="Rectangle 7"/>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9pPr>
          </a:lstStyle>
          <a:p>
            <a:fld id="{5D7744BA-E531-488F-B699-8A411C2773CB}" type="slidenum">
              <a:rPr lang="en-US" altLang="en-US" sz="1200" smtClean="0">
                <a:solidFill>
                  <a:srgbClr val="000000"/>
                </a:solidFill>
                <a:ea typeface="DejaVu Sans" charset="0"/>
                <a:cs typeface="DejaVu Sans" charset="0"/>
              </a:rPr>
              <a:pPr/>
              <a:t>6</a:t>
            </a:fld>
            <a:endParaRPr lang="en-US" altLang="en-US" sz="1200" smtClean="0">
              <a:solidFill>
                <a:srgbClr val="000000"/>
              </a:solidFill>
              <a:ea typeface="DejaVu Sans" charset="0"/>
              <a:cs typeface="DejaVu Sans" charset="0"/>
            </a:endParaRPr>
          </a:p>
        </p:txBody>
      </p:sp>
      <p:sp>
        <p:nvSpPr>
          <p:cNvPr id="46083" name="Rectangle 1"/>
          <p:cNvSpPr>
            <a:spLocks noGrp="1" noRot="1" noChangeAspect="1" noChangeArrowheads="1" noTextEdit="1"/>
          </p:cNvSpPr>
          <p:nvPr>
            <p:ph type="sldImg"/>
          </p:nvPr>
        </p:nvSpPr>
        <p:spPr>
          <a:xfrm>
            <a:off x="382588" y="685800"/>
            <a:ext cx="6092825"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6084" name="Rectangle 2"/>
          <p:cNvSpPr>
            <a:spLocks noGrp="1" noChangeArrowheads="1"/>
          </p:cNvSpPr>
          <p:nvPr>
            <p:ph type="body" idx="1"/>
          </p:nvPr>
        </p:nvSpPr>
        <p:spPr>
          <a:xfrm>
            <a:off x="914400" y="4343400"/>
            <a:ext cx="5029200" cy="411480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7106" name="Rectangle 7"/>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9pPr>
          </a:lstStyle>
          <a:p>
            <a:fld id="{57435F14-EC62-417A-8E97-96FBAAFCB203}" type="slidenum">
              <a:rPr lang="en-US" altLang="en-US" sz="1200" smtClean="0">
                <a:solidFill>
                  <a:srgbClr val="000000"/>
                </a:solidFill>
                <a:ea typeface="DejaVu Sans" charset="0"/>
                <a:cs typeface="DejaVu Sans" charset="0"/>
              </a:rPr>
              <a:pPr/>
              <a:t>7</a:t>
            </a:fld>
            <a:endParaRPr lang="en-US" altLang="en-US" sz="1200" smtClean="0">
              <a:solidFill>
                <a:srgbClr val="000000"/>
              </a:solidFill>
              <a:ea typeface="DejaVu Sans" charset="0"/>
              <a:cs typeface="DejaVu Sans" charset="0"/>
            </a:endParaRPr>
          </a:p>
        </p:txBody>
      </p:sp>
      <p:sp>
        <p:nvSpPr>
          <p:cNvPr id="47107" name="Rectangle 1"/>
          <p:cNvSpPr>
            <a:spLocks noGrp="1" noRot="1" noChangeAspect="1" noChangeArrowheads="1" noTextEdit="1"/>
          </p:cNvSpPr>
          <p:nvPr>
            <p:ph type="sldImg"/>
          </p:nvPr>
        </p:nvSpPr>
        <p:spPr>
          <a:xfrm>
            <a:off x="382588" y="685800"/>
            <a:ext cx="6092825"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7108" name="Rectangle 2"/>
          <p:cNvSpPr>
            <a:spLocks noGrp="1" noChangeArrowheads="1"/>
          </p:cNvSpPr>
          <p:nvPr>
            <p:ph type="body" idx="1"/>
          </p:nvPr>
        </p:nvSpPr>
        <p:spPr>
          <a:xfrm>
            <a:off x="914400" y="4343400"/>
            <a:ext cx="5029200" cy="411480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8130" name="Rectangle 7"/>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9pPr>
          </a:lstStyle>
          <a:p>
            <a:fld id="{DCBA06EF-1D82-459B-A26F-221384752304}" type="slidenum">
              <a:rPr lang="en-US" altLang="en-US" sz="1200" smtClean="0">
                <a:solidFill>
                  <a:srgbClr val="000000"/>
                </a:solidFill>
                <a:ea typeface="DejaVu Sans" charset="0"/>
                <a:cs typeface="DejaVu Sans" charset="0"/>
              </a:rPr>
              <a:pPr/>
              <a:t>8</a:t>
            </a:fld>
            <a:endParaRPr lang="en-US" altLang="en-US" sz="1200" smtClean="0">
              <a:solidFill>
                <a:srgbClr val="000000"/>
              </a:solidFill>
              <a:ea typeface="DejaVu Sans" charset="0"/>
              <a:cs typeface="DejaVu Sans" charset="0"/>
            </a:endParaRPr>
          </a:p>
        </p:txBody>
      </p:sp>
      <p:sp>
        <p:nvSpPr>
          <p:cNvPr id="48131" name="Rectangle 1"/>
          <p:cNvSpPr>
            <a:spLocks noGrp="1" noRot="1" noChangeAspect="1" noChangeArrowheads="1" noTextEdit="1"/>
          </p:cNvSpPr>
          <p:nvPr>
            <p:ph type="sldImg"/>
          </p:nvPr>
        </p:nvSpPr>
        <p:spPr>
          <a:xfrm>
            <a:off x="382588" y="685800"/>
            <a:ext cx="6092825"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8132" name="Rectangle 2"/>
          <p:cNvSpPr>
            <a:spLocks noGrp="1" noChangeArrowheads="1"/>
          </p:cNvSpPr>
          <p:nvPr>
            <p:ph type="body" idx="1"/>
          </p:nvPr>
        </p:nvSpPr>
        <p:spPr>
          <a:xfrm>
            <a:off x="914400" y="4343400"/>
            <a:ext cx="5029200" cy="411480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r>
              <a:rPr lang="en-US" dirty="0"/>
              <a:t>Visual explanation of basic access control terms</a:t>
            </a:r>
          </a:p>
        </p:txBody>
      </p:sp>
      <p:sp>
        <p:nvSpPr>
          <p:cNvPr id="4" name="Slide Number Placeholder 3"/>
          <p:cNvSpPr>
            <a:spLocks noGrp="1"/>
          </p:cNvSpPr>
          <p:nvPr>
            <p:ph type="sldNum" sz="quarter" idx="10"/>
          </p:nvPr>
        </p:nvSpPr>
        <p:spPr/>
        <p:txBody>
          <a:bodyPr/>
          <a:lstStyle/>
          <a:p>
            <a:fld id="{4CA7DEB1-D7C8-3B49-8A71-75AFCE089D88}" type="slidenum">
              <a:rPr lang="en-US" smtClean="0"/>
              <a:t>9</a:t>
            </a:fld>
            <a:endParaRPr lang="en-US"/>
          </a:p>
        </p:txBody>
      </p:sp>
    </p:spTree>
    <p:extLst>
      <p:ext uri="{BB962C8B-B14F-4D97-AF65-F5344CB8AC3E}">
        <p14:creationId xmlns:p14="http://schemas.microsoft.com/office/powerpoint/2010/main" val="10907170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r>
              <a:rPr lang="en-US" dirty="0"/>
              <a:t>This</a:t>
            </a:r>
            <a:r>
              <a:rPr lang="en-US" baseline="0" dirty="0"/>
              <a:t> diagram shows threats categorized according to whether they are human-caused, malicious, or directed. These characteristics will affect security planning in important ways later.</a:t>
            </a:r>
            <a:endParaRPr lang="en-US" dirty="0"/>
          </a:p>
        </p:txBody>
      </p:sp>
      <p:sp>
        <p:nvSpPr>
          <p:cNvPr id="4" name="Slide Number Placeholder 3"/>
          <p:cNvSpPr>
            <a:spLocks noGrp="1"/>
          </p:cNvSpPr>
          <p:nvPr>
            <p:ph type="sldNum" sz="quarter" idx="10"/>
          </p:nvPr>
        </p:nvSpPr>
        <p:spPr/>
        <p:txBody>
          <a:bodyPr/>
          <a:lstStyle/>
          <a:p>
            <a:fld id="{4CA7DEB1-D7C8-3B49-8A71-75AFCE089D88}" type="slidenum">
              <a:rPr lang="en-US" smtClean="0"/>
              <a:t>10</a:t>
            </a:fld>
            <a:endParaRPr lang="en-US"/>
          </a:p>
        </p:txBody>
      </p:sp>
    </p:spTree>
    <p:extLst>
      <p:ext uri="{BB962C8B-B14F-4D97-AF65-F5344CB8AC3E}">
        <p14:creationId xmlns:p14="http://schemas.microsoft.com/office/powerpoint/2010/main" val="31197685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A7DEB1-D7C8-3B49-8A71-75AFCE089D88}" type="slidenum">
              <a:rPr lang="en-US" smtClean="0"/>
              <a:t>11</a:t>
            </a:fld>
            <a:endParaRPr lang="en-US"/>
          </a:p>
        </p:txBody>
      </p:sp>
    </p:spTree>
    <p:extLst>
      <p:ext uri="{BB962C8B-B14F-4D97-AF65-F5344CB8AC3E}">
        <p14:creationId xmlns:p14="http://schemas.microsoft.com/office/powerpoint/2010/main" val="6182372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A7DEB1-D7C8-3B49-8A71-75AFCE089D88}" type="slidenum">
              <a:rPr lang="en-US" smtClean="0"/>
              <a:t>12</a:t>
            </a:fld>
            <a:endParaRPr lang="en-US"/>
          </a:p>
        </p:txBody>
      </p:sp>
    </p:spTree>
    <p:extLst>
      <p:ext uri="{BB962C8B-B14F-4D97-AF65-F5344CB8AC3E}">
        <p14:creationId xmlns:p14="http://schemas.microsoft.com/office/powerpoint/2010/main" val="36709163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A7DEB1-D7C8-3B49-8A71-75AFCE089D88}" type="slidenum">
              <a:rPr lang="en-US" smtClean="0"/>
              <a:t>13</a:t>
            </a:fld>
            <a:endParaRPr lang="en-US"/>
          </a:p>
        </p:txBody>
      </p:sp>
    </p:spTree>
    <p:extLst>
      <p:ext uri="{BB962C8B-B14F-4D97-AF65-F5344CB8AC3E}">
        <p14:creationId xmlns:p14="http://schemas.microsoft.com/office/powerpoint/2010/main" val="23627085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202" name="Rectangle 7"/>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9pPr>
          </a:lstStyle>
          <a:p>
            <a:fld id="{E8ECDE2C-CC68-4C30-8ECC-9238C666CD10}" type="slidenum">
              <a:rPr lang="en-US" altLang="en-US" sz="1200" smtClean="0">
                <a:solidFill>
                  <a:srgbClr val="000000"/>
                </a:solidFill>
                <a:ea typeface="DejaVu Sans" charset="0"/>
                <a:cs typeface="DejaVu Sans" charset="0"/>
              </a:rPr>
              <a:pPr/>
              <a:t>14</a:t>
            </a:fld>
            <a:endParaRPr lang="en-US" altLang="en-US" sz="1200" smtClean="0">
              <a:solidFill>
                <a:srgbClr val="000000"/>
              </a:solidFill>
              <a:ea typeface="DejaVu Sans" charset="0"/>
              <a:cs typeface="DejaVu Sans" charset="0"/>
            </a:endParaRPr>
          </a:p>
        </p:txBody>
      </p:sp>
      <p:sp>
        <p:nvSpPr>
          <p:cNvPr id="51203" name="Rectangle 1"/>
          <p:cNvSpPr>
            <a:spLocks noGrp="1" noRot="1" noChangeAspect="1" noChangeArrowheads="1" noTextEdit="1"/>
          </p:cNvSpPr>
          <p:nvPr>
            <p:ph type="sldImg"/>
          </p:nvPr>
        </p:nvSpPr>
        <p:spPr>
          <a:xfrm>
            <a:off x="382588" y="685800"/>
            <a:ext cx="6092825"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04" name="Rectangle 2"/>
          <p:cNvSpPr>
            <a:spLocks noGrp="1" noChangeArrowheads="1"/>
          </p:cNvSpPr>
          <p:nvPr>
            <p:ph type="body" idx="1"/>
          </p:nvPr>
        </p:nvSpPr>
        <p:spPr>
          <a:xfrm>
            <a:off x="914400" y="4343400"/>
            <a:ext cx="5029200" cy="411480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A7DEB1-D7C8-3B49-8A71-75AFCE089D88}" type="slidenum">
              <a:rPr lang="en-US" smtClean="0"/>
              <a:t>15</a:t>
            </a:fld>
            <a:endParaRPr lang="en-US"/>
          </a:p>
        </p:txBody>
      </p:sp>
    </p:spTree>
    <p:extLst>
      <p:ext uri="{BB962C8B-B14F-4D97-AF65-F5344CB8AC3E}">
        <p14:creationId xmlns:p14="http://schemas.microsoft.com/office/powerpoint/2010/main" val="23627085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A7DEB1-D7C8-3B49-8A71-75AFCE089D88}" type="slidenum">
              <a:rPr lang="en-US" smtClean="0"/>
              <a:t>16</a:t>
            </a:fld>
            <a:endParaRPr lang="en-US"/>
          </a:p>
        </p:txBody>
      </p:sp>
    </p:spTree>
    <p:extLst>
      <p:ext uri="{BB962C8B-B14F-4D97-AF65-F5344CB8AC3E}">
        <p14:creationId xmlns:p14="http://schemas.microsoft.com/office/powerpoint/2010/main" val="4286310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r>
              <a:rPr lang="en-US" dirty="0"/>
              <a:t>In this simple representation of a networked system, it is easy to see all the touch points where controls can be placed,</a:t>
            </a:r>
            <a:r>
              <a:rPr lang="en-US" baseline="0" dirty="0"/>
              <a:t> as well as some different types of controls, including deterrence, deflection, response, prevention, and preemption.</a:t>
            </a:r>
            <a:endParaRPr lang="en-US" dirty="0"/>
          </a:p>
        </p:txBody>
      </p:sp>
      <p:sp>
        <p:nvSpPr>
          <p:cNvPr id="4" name="Slide Number Placeholder 3"/>
          <p:cNvSpPr>
            <a:spLocks noGrp="1"/>
          </p:cNvSpPr>
          <p:nvPr>
            <p:ph type="sldNum" sz="quarter" idx="10"/>
          </p:nvPr>
        </p:nvSpPr>
        <p:spPr/>
        <p:txBody>
          <a:bodyPr/>
          <a:lstStyle/>
          <a:p>
            <a:fld id="{4CA7DEB1-D7C8-3B49-8A71-75AFCE089D88}" type="slidenum">
              <a:rPr lang="en-US" smtClean="0"/>
              <a:t>17</a:t>
            </a:fld>
            <a:endParaRPr lang="en-US"/>
          </a:p>
        </p:txBody>
      </p:sp>
    </p:spTree>
    <p:extLst>
      <p:ext uri="{BB962C8B-B14F-4D97-AF65-F5344CB8AC3E}">
        <p14:creationId xmlns:p14="http://schemas.microsoft.com/office/powerpoint/2010/main" val="4620132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3250" name="Rectangle 7"/>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9pPr>
          </a:lstStyle>
          <a:p>
            <a:fld id="{C66E31CD-2608-49DE-BC70-6005C4E73074}" type="slidenum">
              <a:rPr lang="en-US" altLang="en-US" sz="1200" smtClean="0">
                <a:solidFill>
                  <a:srgbClr val="000000"/>
                </a:solidFill>
                <a:ea typeface="DejaVu Sans" charset="0"/>
                <a:cs typeface="DejaVu Sans" charset="0"/>
              </a:rPr>
              <a:pPr/>
              <a:t>18</a:t>
            </a:fld>
            <a:endParaRPr lang="en-US" altLang="en-US" sz="1200" smtClean="0">
              <a:solidFill>
                <a:srgbClr val="000000"/>
              </a:solidFill>
              <a:ea typeface="DejaVu Sans" charset="0"/>
              <a:cs typeface="DejaVu Sans" charset="0"/>
            </a:endParaRPr>
          </a:p>
        </p:txBody>
      </p:sp>
      <p:sp>
        <p:nvSpPr>
          <p:cNvPr id="53251" name="Rectangle 1"/>
          <p:cNvSpPr>
            <a:spLocks noGrp="1" noRot="1" noChangeAspect="1" noChangeArrowheads="1" noTextEdit="1"/>
          </p:cNvSpPr>
          <p:nvPr>
            <p:ph type="sldImg"/>
          </p:nvPr>
        </p:nvSpPr>
        <p:spPr>
          <a:xfrm>
            <a:off x="382588" y="685800"/>
            <a:ext cx="6092825"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3252" name="Rectangle 2"/>
          <p:cNvSpPr>
            <a:spLocks noGrp="1" noChangeArrowheads="1"/>
          </p:cNvSpPr>
          <p:nvPr>
            <p:ph type="body" idx="1"/>
          </p:nvPr>
        </p:nvSpPr>
        <p:spPr>
          <a:xfrm>
            <a:off x="914400" y="4343400"/>
            <a:ext cx="5029200" cy="411480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3490" name="Rectangle 7"/>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9pPr>
          </a:lstStyle>
          <a:p>
            <a:fld id="{4ED4B6AD-7786-4DC1-AD9A-95773320E7F4}" type="slidenum">
              <a:rPr lang="en-US" altLang="en-US" sz="1200" smtClean="0">
                <a:solidFill>
                  <a:srgbClr val="000000"/>
                </a:solidFill>
                <a:ea typeface="DejaVu Sans" charset="0"/>
                <a:cs typeface="DejaVu Sans" charset="0"/>
              </a:rPr>
              <a:pPr/>
              <a:t>20</a:t>
            </a:fld>
            <a:endParaRPr lang="en-US" altLang="en-US" sz="1200" smtClean="0">
              <a:solidFill>
                <a:srgbClr val="000000"/>
              </a:solidFill>
              <a:ea typeface="DejaVu Sans" charset="0"/>
              <a:cs typeface="DejaVu Sans" charset="0"/>
            </a:endParaRPr>
          </a:p>
        </p:txBody>
      </p:sp>
      <p:sp>
        <p:nvSpPr>
          <p:cNvPr id="63491" name="Rectangle 1"/>
          <p:cNvSpPr>
            <a:spLocks noGrp="1" noRot="1" noChangeAspect="1" noChangeArrowheads="1" noTextEdit="1"/>
          </p:cNvSpPr>
          <p:nvPr>
            <p:ph type="sldImg"/>
          </p:nvPr>
        </p:nvSpPr>
        <p:spPr>
          <a:xfrm>
            <a:off x="382588" y="685800"/>
            <a:ext cx="6092825"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3492" name="Rectangle 2"/>
          <p:cNvSpPr>
            <a:spLocks noGrp="1" noChangeArrowheads="1"/>
          </p:cNvSpPr>
          <p:nvPr>
            <p:ph type="body" idx="1"/>
          </p:nvPr>
        </p:nvSpPr>
        <p:spPr>
          <a:xfrm>
            <a:off x="914400" y="4343400"/>
            <a:ext cx="5029200" cy="411480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5538" name="Rectangle 7"/>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9pPr>
          </a:lstStyle>
          <a:p>
            <a:fld id="{AC6FED74-1F9B-4CF0-A359-C2675CCEFF55}" type="slidenum">
              <a:rPr lang="en-US" altLang="en-US" sz="1200" smtClean="0">
                <a:solidFill>
                  <a:srgbClr val="000000"/>
                </a:solidFill>
                <a:ea typeface="DejaVu Sans" charset="0"/>
                <a:cs typeface="DejaVu Sans" charset="0"/>
              </a:rPr>
              <a:pPr/>
              <a:t>21</a:t>
            </a:fld>
            <a:endParaRPr lang="en-US" altLang="en-US" sz="1200" smtClean="0">
              <a:solidFill>
                <a:srgbClr val="000000"/>
              </a:solidFill>
              <a:ea typeface="DejaVu Sans" charset="0"/>
              <a:cs typeface="DejaVu Sans" charset="0"/>
            </a:endParaRPr>
          </a:p>
        </p:txBody>
      </p:sp>
      <p:sp>
        <p:nvSpPr>
          <p:cNvPr id="65539" name="Rectangle 1"/>
          <p:cNvSpPr>
            <a:spLocks noGrp="1" noRot="1" noChangeAspect="1" noChangeArrowheads="1" noTextEdit="1"/>
          </p:cNvSpPr>
          <p:nvPr>
            <p:ph type="sldImg"/>
          </p:nvPr>
        </p:nvSpPr>
        <p:spPr>
          <a:xfrm>
            <a:off x="382588" y="685800"/>
            <a:ext cx="6092825"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5540" name="Rectangle 2"/>
          <p:cNvSpPr>
            <a:spLocks noGrp="1" noChangeArrowheads="1"/>
          </p:cNvSpPr>
          <p:nvPr>
            <p:ph type="body" idx="1"/>
          </p:nvPr>
        </p:nvSpPr>
        <p:spPr>
          <a:xfrm>
            <a:off x="914400" y="4343400"/>
            <a:ext cx="5029200" cy="411480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6562" name="Rectangle 7"/>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9pPr>
          </a:lstStyle>
          <a:p>
            <a:fld id="{A64702DD-2C27-4004-8729-15C3135FD85A}" type="slidenum">
              <a:rPr lang="en-US" altLang="en-US" sz="1200" smtClean="0">
                <a:solidFill>
                  <a:srgbClr val="000000"/>
                </a:solidFill>
                <a:ea typeface="DejaVu Sans" charset="0"/>
                <a:cs typeface="DejaVu Sans" charset="0"/>
              </a:rPr>
              <a:pPr/>
              <a:t>22</a:t>
            </a:fld>
            <a:endParaRPr lang="en-US" altLang="en-US" sz="1200" smtClean="0">
              <a:solidFill>
                <a:srgbClr val="000000"/>
              </a:solidFill>
              <a:ea typeface="DejaVu Sans" charset="0"/>
              <a:cs typeface="DejaVu Sans" charset="0"/>
            </a:endParaRPr>
          </a:p>
        </p:txBody>
      </p:sp>
      <p:sp>
        <p:nvSpPr>
          <p:cNvPr id="66563" name="Rectangle 1"/>
          <p:cNvSpPr>
            <a:spLocks noGrp="1" noRot="1" noChangeAspect="1" noChangeArrowheads="1" noTextEdit="1"/>
          </p:cNvSpPr>
          <p:nvPr>
            <p:ph type="sldImg"/>
          </p:nvPr>
        </p:nvSpPr>
        <p:spPr>
          <a:xfrm>
            <a:off x="382588" y="685800"/>
            <a:ext cx="6092825"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6564" name="Rectangle 2"/>
          <p:cNvSpPr>
            <a:spLocks noGrp="1" noChangeArrowheads="1"/>
          </p:cNvSpPr>
          <p:nvPr>
            <p:ph type="body" idx="1"/>
          </p:nvPr>
        </p:nvSpPr>
        <p:spPr>
          <a:xfrm>
            <a:off x="914400" y="4343400"/>
            <a:ext cx="5029200" cy="411480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6562" name="Rectangle 7"/>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9pPr>
          </a:lstStyle>
          <a:p>
            <a:fld id="{A64702DD-2C27-4004-8729-15C3135FD85A}" type="slidenum">
              <a:rPr lang="en-US" altLang="en-US" sz="1200" smtClean="0">
                <a:solidFill>
                  <a:srgbClr val="000000"/>
                </a:solidFill>
                <a:ea typeface="DejaVu Sans" charset="0"/>
                <a:cs typeface="DejaVu Sans" charset="0"/>
              </a:rPr>
              <a:pPr/>
              <a:t>23</a:t>
            </a:fld>
            <a:endParaRPr lang="en-US" altLang="en-US" sz="1200" smtClean="0">
              <a:solidFill>
                <a:srgbClr val="000000"/>
              </a:solidFill>
              <a:ea typeface="DejaVu Sans" charset="0"/>
              <a:cs typeface="DejaVu Sans" charset="0"/>
            </a:endParaRPr>
          </a:p>
        </p:txBody>
      </p:sp>
      <p:sp>
        <p:nvSpPr>
          <p:cNvPr id="66563" name="Rectangle 1"/>
          <p:cNvSpPr>
            <a:spLocks noGrp="1" noRot="1" noChangeAspect="1" noChangeArrowheads="1" noTextEdit="1"/>
          </p:cNvSpPr>
          <p:nvPr>
            <p:ph type="sldImg"/>
          </p:nvPr>
        </p:nvSpPr>
        <p:spPr>
          <a:xfrm>
            <a:off x="382588" y="685800"/>
            <a:ext cx="6092825"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6564" name="Rectangle 2"/>
          <p:cNvSpPr>
            <a:spLocks noGrp="1" noChangeArrowheads="1"/>
          </p:cNvSpPr>
          <p:nvPr>
            <p:ph type="body" idx="1"/>
          </p:nvPr>
        </p:nvSpPr>
        <p:spPr>
          <a:xfrm>
            <a:off x="914400" y="4343400"/>
            <a:ext cx="5029200" cy="411480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162" y="1371601"/>
            <a:ext cx="10462075" cy="1927225"/>
          </a:xfrm>
        </p:spPr>
        <p:txBody>
          <a:bodyPr anchor="b">
            <a:noAutofit/>
          </a:bodyPr>
          <a:lstStyle>
            <a:lvl1pPr>
              <a:defRPr sz="5400" cap="all" baseline="0"/>
            </a:lvl1pPr>
          </a:lstStyle>
          <a:p>
            <a:r>
              <a:rPr lang="en-US" dirty="0"/>
              <a:t>Click to edit Master title style</a:t>
            </a:r>
          </a:p>
        </p:txBody>
      </p:sp>
      <p:sp>
        <p:nvSpPr>
          <p:cNvPr id="3" name="Subtitle 2"/>
          <p:cNvSpPr>
            <a:spLocks noGrp="1"/>
          </p:cNvSpPr>
          <p:nvPr>
            <p:ph type="subTitle" idx="1"/>
          </p:nvPr>
        </p:nvSpPr>
        <p:spPr>
          <a:xfrm>
            <a:off x="914162" y="3505200"/>
            <a:ext cx="8532178"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DB604800-2F68-4896-A524-D67F475637C2}" type="datetime1">
              <a:rPr lang="en-US" smtClean="0">
                <a:latin typeface="Arial"/>
              </a:rPr>
              <a:t>7/22/2025</a:t>
            </a:fld>
            <a:endParaRPr lang="en-US">
              <a:latin typeface="Arial"/>
            </a:endParaRPr>
          </a:p>
        </p:txBody>
      </p:sp>
      <p:sp>
        <p:nvSpPr>
          <p:cNvPr id="5" name="Footer Placeholder 4"/>
          <p:cNvSpPr>
            <a:spLocks noGrp="1"/>
          </p:cNvSpPr>
          <p:nvPr>
            <p:ph type="ftr" sz="quarter" idx="11"/>
          </p:nvPr>
        </p:nvSpPr>
        <p:spPr/>
        <p:txBody>
          <a:bodyPr/>
          <a:lstStyle/>
          <a:p>
            <a:r>
              <a:rPr lang="en-US" dirty="0"/>
              <a:t>From </a:t>
            </a:r>
            <a:r>
              <a:rPr lang="en-US" i="1" dirty="0"/>
              <a:t>Security in Computing, Fifth Edition</a:t>
            </a:r>
            <a:r>
              <a:rPr lang="en-US" dirty="0"/>
              <a:t>, by Charles P. </a:t>
            </a:r>
            <a:r>
              <a:rPr lang="en-US" dirty="0" err="1"/>
              <a:t>Pfleeger</a:t>
            </a:r>
            <a:r>
              <a:rPr lang="en-US" dirty="0"/>
              <a:t>, et al. (ISBN: 9780134085043). Copyright 2015 by Pearson Education, Inc. All rights reserved.</a:t>
            </a:r>
          </a:p>
        </p:txBody>
      </p:sp>
      <p:sp>
        <p:nvSpPr>
          <p:cNvPr id="6" name="Slide Number Placeholder 5"/>
          <p:cNvSpPr>
            <a:spLocks noGrp="1"/>
          </p:cNvSpPr>
          <p:nvPr>
            <p:ph type="sldNum" sz="quarter" idx="12"/>
          </p:nvPr>
        </p:nvSpPr>
        <p:spPr/>
        <p:txBody>
          <a:bodyPr/>
          <a:lstStyle/>
          <a:p>
            <a:fld id="{5BFA158B-7C94-F543-87DB-41F59EA4FAFA}" type="slidenum">
              <a:rPr lang="en-US" smtClean="0">
                <a:latin typeface="Arial"/>
              </a:rPr>
              <a:pPr/>
              <a:t>‹#›</a:t>
            </a:fld>
            <a:endParaRPr lang="en-US">
              <a:latin typeface="Arial"/>
            </a:endParaRPr>
          </a:p>
        </p:txBody>
      </p:sp>
      <p:cxnSp>
        <p:nvCxnSpPr>
          <p:cNvPr id="8" name="Straight Connector 7"/>
          <p:cNvCxnSpPr/>
          <p:nvPr/>
        </p:nvCxnSpPr>
        <p:spPr>
          <a:xfrm>
            <a:off x="914162" y="3398520"/>
            <a:ext cx="10462075"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90385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F5F5941-A94D-4C48-AE4B-0688A7954B21}" type="datetime1">
              <a:rPr lang="en-US" smtClean="0">
                <a:latin typeface="Arial"/>
              </a:rPr>
              <a:t>7/22/2025</a:t>
            </a:fld>
            <a:endParaRPr lang="en-US">
              <a:latin typeface="Arial"/>
            </a:endParaRPr>
          </a:p>
        </p:txBody>
      </p:sp>
      <p:sp>
        <p:nvSpPr>
          <p:cNvPr id="5" name="Footer Placeholder 4"/>
          <p:cNvSpPr>
            <a:spLocks noGrp="1"/>
          </p:cNvSpPr>
          <p:nvPr>
            <p:ph type="ftr" sz="quarter" idx="11"/>
          </p:nvPr>
        </p:nvSpPr>
        <p:spPr/>
        <p:txBody>
          <a:bodyPr/>
          <a:lstStyle/>
          <a:p>
            <a:r>
              <a:rPr lang="en-US">
                <a:latin typeface="Arial"/>
              </a:rPr>
              <a:t>From Security in Computing, Fifth Edition, </a:t>
            </a:r>
            <a:r>
              <a:rPr lang="en-US" dirty="0">
                <a:latin typeface="Arial"/>
              </a:rPr>
              <a:t>by Charles P. </a:t>
            </a:r>
            <a:r>
              <a:rPr lang="en-US" dirty="0" err="1">
                <a:latin typeface="Arial"/>
              </a:rPr>
              <a:t>Pfleeger</a:t>
            </a:r>
            <a:r>
              <a:rPr lang="en-US" dirty="0">
                <a:latin typeface="Arial"/>
              </a:rPr>
              <a:t>, et al. (ISBN: 9780134085043). Copyright 2015 by Pearson Education, Inc. All rights reserved.</a:t>
            </a:r>
          </a:p>
        </p:txBody>
      </p:sp>
      <p:sp>
        <p:nvSpPr>
          <p:cNvPr id="6" name="Slide Number Placeholder 5"/>
          <p:cNvSpPr>
            <a:spLocks noGrp="1"/>
          </p:cNvSpPr>
          <p:nvPr>
            <p:ph type="sldNum" sz="quarter" idx="12"/>
          </p:nvPr>
        </p:nvSpPr>
        <p:spPr/>
        <p:txBody>
          <a:bodyPr/>
          <a:lstStyle/>
          <a:p>
            <a:fld id="{5BFA158B-7C94-F543-87DB-41F59EA4FAFA}" type="slidenum">
              <a:rPr lang="en-US" smtClean="0">
                <a:latin typeface="Arial"/>
              </a:rPr>
              <a:pPr/>
              <a:t>‹#›</a:t>
            </a:fld>
            <a:endParaRPr lang="en-US">
              <a:latin typeface="Arial"/>
            </a:endParaRPr>
          </a:p>
        </p:txBody>
      </p:sp>
    </p:spTree>
    <p:extLst>
      <p:ext uri="{BB962C8B-B14F-4D97-AF65-F5344CB8AC3E}">
        <p14:creationId xmlns:p14="http://schemas.microsoft.com/office/powerpoint/2010/main" val="24636010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62833" y="2362201"/>
            <a:ext cx="10360501" cy="2200275"/>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962833" y="4626865"/>
            <a:ext cx="10360501"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5A958A2-B9A6-4BC2-8624-2E267AFE4EB1}" type="datetime1">
              <a:rPr lang="en-US" smtClean="0">
                <a:latin typeface="Arial"/>
              </a:rPr>
              <a:t>7/22/2025</a:t>
            </a:fld>
            <a:endParaRPr lang="en-US">
              <a:latin typeface="Arial"/>
            </a:endParaRPr>
          </a:p>
        </p:txBody>
      </p:sp>
      <p:sp>
        <p:nvSpPr>
          <p:cNvPr id="5" name="Footer Placeholder 4"/>
          <p:cNvSpPr>
            <a:spLocks noGrp="1"/>
          </p:cNvSpPr>
          <p:nvPr>
            <p:ph type="ftr" sz="quarter" idx="11"/>
          </p:nvPr>
        </p:nvSpPr>
        <p:spPr/>
        <p:txBody>
          <a:bodyPr/>
          <a:lstStyle/>
          <a:p>
            <a:r>
              <a:rPr lang="en-US">
                <a:latin typeface="Arial"/>
              </a:rPr>
              <a:t>From Security in Computing, Fifth Edition, </a:t>
            </a:r>
            <a:r>
              <a:rPr lang="en-US" dirty="0">
                <a:latin typeface="Arial"/>
              </a:rPr>
              <a:t>by Charles P. </a:t>
            </a:r>
            <a:r>
              <a:rPr lang="en-US" dirty="0" err="1">
                <a:latin typeface="Arial"/>
              </a:rPr>
              <a:t>Pfleeger</a:t>
            </a:r>
            <a:r>
              <a:rPr lang="en-US" dirty="0">
                <a:latin typeface="Arial"/>
              </a:rPr>
              <a:t>, et al. (ISBN: 9780134085043). Copyright 2015 by Pearson Education, Inc. All rights reserved.</a:t>
            </a:r>
          </a:p>
        </p:txBody>
      </p:sp>
      <p:sp>
        <p:nvSpPr>
          <p:cNvPr id="6" name="Slide Number Placeholder 5"/>
          <p:cNvSpPr>
            <a:spLocks noGrp="1"/>
          </p:cNvSpPr>
          <p:nvPr>
            <p:ph type="sldNum" sz="quarter" idx="12"/>
          </p:nvPr>
        </p:nvSpPr>
        <p:spPr/>
        <p:txBody>
          <a:bodyPr/>
          <a:lstStyle/>
          <a:p>
            <a:fld id="{5BFA158B-7C94-F543-87DB-41F59EA4FAFA}" type="slidenum">
              <a:rPr lang="en-US" smtClean="0">
                <a:latin typeface="Arial"/>
              </a:rPr>
              <a:pPr/>
              <a:t>‹#›</a:t>
            </a:fld>
            <a:endParaRPr lang="en-US">
              <a:latin typeface="Arial"/>
            </a:endParaRPr>
          </a:p>
        </p:txBody>
      </p:sp>
      <p:cxnSp>
        <p:nvCxnSpPr>
          <p:cNvPr id="7" name="Straight Connector 6"/>
          <p:cNvCxnSpPr/>
          <p:nvPr/>
        </p:nvCxnSpPr>
        <p:spPr>
          <a:xfrm>
            <a:off x="975106" y="4599432"/>
            <a:ext cx="10462075"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1569749"/>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441" y="1673352"/>
            <a:ext cx="5383398"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5986" y="1673352"/>
            <a:ext cx="5383398"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F3E2640-DA07-4F28-B9C9-23B952377E91}" type="datetime1">
              <a:rPr lang="en-US" smtClean="0">
                <a:latin typeface="Arial"/>
              </a:rPr>
              <a:t>7/22/2025</a:t>
            </a:fld>
            <a:endParaRPr lang="en-US">
              <a:latin typeface="Arial"/>
            </a:endParaRPr>
          </a:p>
        </p:txBody>
      </p:sp>
      <p:sp>
        <p:nvSpPr>
          <p:cNvPr id="6" name="Footer Placeholder 5"/>
          <p:cNvSpPr>
            <a:spLocks noGrp="1"/>
          </p:cNvSpPr>
          <p:nvPr>
            <p:ph type="ftr" sz="quarter" idx="11"/>
          </p:nvPr>
        </p:nvSpPr>
        <p:spPr/>
        <p:txBody>
          <a:bodyPr/>
          <a:lstStyle/>
          <a:p>
            <a:r>
              <a:rPr lang="en-US">
                <a:latin typeface="Arial"/>
              </a:rPr>
              <a:t>From Security in Computing, Fifth Edition, </a:t>
            </a:r>
            <a:r>
              <a:rPr lang="en-US" dirty="0">
                <a:latin typeface="Arial"/>
              </a:rPr>
              <a:t>by Charles P. </a:t>
            </a:r>
            <a:r>
              <a:rPr lang="en-US" dirty="0" err="1">
                <a:latin typeface="Arial"/>
              </a:rPr>
              <a:t>Pfleeger</a:t>
            </a:r>
            <a:r>
              <a:rPr lang="en-US" dirty="0">
                <a:latin typeface="Arial"/>
              </a:rPr>
              <a:t>, et al. (ISBN: 9780134085043). Copyright 2015 by Pearson Education, Inc. All rights reserved.</a:t>
            </a:r>
          </a:p>
        </p:txBody>
      </p:sp>
      <p:sp>
        <p:nvSpPr>
          <p:cNvPr id="7" name="Slide Number Placeholder 6"/>
          <p:cNvSpPr>
            <a:spLocks noGrp="1"/>
          </p:cNvSpPr>
          <p:nvPr>
            <p:ph type="sldNum" sz="quarter" idx="12"/>
          </p:nvPr>
        </p:nvSpPr>
        <p:spPr/>
        <p:txBody>
          <a:bodyPr/>
          <a:lstStyle/>
          <a:p>
            <a:fld id="{5BFA158B-7C94-F543-87DB-41F59EA4FAFA}" type="slidenum">
              <a:rPr lang="en-US" smtClean="0">
                <a:latin typeface="Arial"/>
              </a:rPr>
              <a:pPr/>
              <a:t>‹#›</a:t>
            </a:fld>
            <a:endParaRPr lang="en-US">
              <a:latin typeface="Arial"/>
            </a:endParaRPr>
          </a:p>
        </p:txBody>
      </p:sp>
    </p:spTree>
    <p:extLst>
      <p:ext uri="{BB962C8B-B14F-4D97-AF65-F5344CB8AC3E}">
        <p14:creationId xmlns:p14="http://schemas.microsoft.com/office/powerpoint/2010/main" val="39390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441" y="1676400"/>
            <a:ext cx="5241195"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441" y="2438400"/>
            <a:ext cx="524119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38189" y="1676400"/>
            <a:ext cx="5241195"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38189" y="2438400"/>
            <a:ext cx="524119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649D6A4-F134-4378-899D-5C4647A36D23}" type="datetime1">
              <a:rPr lang="en-US" smtClean="0">
                <a:latin typeface="Arial"/>
              </a:rPr>
              <a:t>7/22/2025</a:t>
            </a:fld>
            <a:endParaRPr lang="en-US">
              <a:latin typeface="Arial"/>
            </a:endParaRPr>
          </a:p>
        </p:txBody>
      </p:sp>
      <p:sp>
        <p:nvSpPr>
          <p:cNvPr id="8" name="Footer Placeholder 7"/>
          <p:cNvSpPr>
            <a:spLocks noGrp="1"/>
          </p:cNvSpPr>
          <p:nvPr>
            <p:ph type="ftr" sz="quarter" idx="11"/>
          </p:nvPr>
        </p:nvSpPr>
        <p:spPr/>
        <p:txBody>
          <a:bodyPr/>
          <a:lstStyle/>
          <a:p>
            <a:r>
              <a:rPr lang="en-US">
                <a:latin typeface="Arial"/>
              </a:rPr>
              <a:t>From Security in Computing, Fifth Edition, </a:t>
            </a:r>
            <a:r>
              <a:rPr lang="en-US" dirty="0">
                <a:latin typeface="Arial"/>
              </a:rPr>
              <a:t>by Charles P. </a:t>
            </a:r>
            <a:r>
              <a:rPr lang="en-US" dirty="0" err="1">
                <a:latin typeface="Arial"/>
              </a:rPr>
              <a:t>Pfleeger</a:t>
            </a:r>
            <a:r>
              <a:rPr lang="en-US" dirty="0">
                <a:latin typeface="Arial"/>
              </a:rPr>
              <a:t>, et al. (ISBN: 9780134085043). Copyright 2015 by Pearson Education, Inc. All rights reserved.</a:t>
            </a:r>
          </a:p>
        </p:txBody>
      </p:sp>
      <p:sp>
        <p:nvSpPr>
          <p:cNvPr id="9" name="Slide Number Placeholder 8"/>
          <p:cNvSpPr>
            <a:spLocks noGrp="1"/>
          </p:cNvSpPr>
          <p:nvPr>
            <p:ph type="sldNum" sz="quarter" idx="12"/>
          </p:nvPr>
        </p:nvSpPr>
        <p:spPr/>
        <p:txBody>
          <a:bodyPr/>
          <a:lstStyle/>
          <a:p>
            <a:fld id="{5BFA158B-7C94-F543-87DB-41F59EA4FAFA}" type="slidenum">
              <a:rPr lang="en-US" smtClean="0">
                <a:latin typeface="Arial"/>
              </a:rPr>
              <a:pPr/>
              <a:t>‹#›</a:t>
            </a:fld>
            <a:endParaRPr lang="en-US">
              <a:latin typeface="Arial"/>
            </a:endParaRPr>
          </a:p>
        </p:txBody>
      </p:sp>
      <p:cxnSp>
        <p:nvCxnSpPr>
          <p:cNvPr id="11" name="Straight Connector 10"/>
          <p:cNvCxnSpPr/>
          <p:nvPr/>
        </p:nvCxnSpPr>
        <p:spPr>
          <a:xfrm rot="5400000">
            <a:off x="3740362" y="4045691"/>
            <a:ext cx="4709160" cy="105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77117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FECA951-6F7F-456B-8A0C-7C5D4644D0E7}" type="datetime1">
              <a:rPr lang="en-US" smtClean="0">
                <a:latin typeface="Arial"/>
              </a:rPr>
              <a:t>7/22/2025</a:t>
            </a:fld>
            <a:endParaRPr lang="en-US">
              <a:latin typeface="Arial"/>
            </a:endParaRPr>
          </a:p>
        </p:txBody>
      </p:sp>
      <p:sp>
        <p:nvSpPr>
          <p:cNvPr id="4" name="Footer Placeholder 3"/>
          <p:cNvSpPr>
            <a:spLocks noGrp="1"/>
          </p:cNvSpPr>
          <p:nvPr>
            <p:ph type="ftr" sz="quarter" idx="11"/>
          </p:nvPr>
        </p:nvSpPr>
        <p:spPr/>
        <p:txBody>
          <a:bodyPr/>
          <a:lstStyle/>
          <a:p>
            <a:r>
              <a:rPr lang="en-US">
                <a:latin typeface="Arial"/>
              </a:rPr>
              <a:t>From Security in Computing, Fifth Edition, </a:t>
            </a:r>
            <a:r>
              <a:rPr lang="en-US" dirty="0">
                <a:latin typeface="Arial"/>
              </a:rPr>
              <a:t>by Charles P. </a:t>
            </a:r>
            <a:r>
              <a:rPr lang="en-US" dirty="0" err="1">
                <a:latin typeface="Arial"/>
              </a:rPr>
              <a:t>Pfleeger</a:t>
            </a:r>
            <a:r>
              <a:rPr lang="en-US" dirty="0">
                <a:latin typeface="Arial"/>
              </a:rPr>
              <a:t>, et al. (ISBN: 9780134085043). Copyright 2015 by Pearson Education, Inc. All rights reserved.</a:t>
            </a:r>
          </a:p>
        </p:txBody>
      </p:sp>
      <p:sp>
        <p:nvSpPr>
          <p:cNvPr id="5" name="Slide Number Placeholder 4"/>
          <p:cNvSpPr>
            <a:spLocks noGrp="1"/>
          </p:cNvSpPr>
          <p:nvPr>
            <p:ph type="sldNum" sz="quarter" idx="12"/>
          </p:nvPr>
        </p:nvSpPr>
        <p:spPr/>
        <p:txBody>
          <a:bodyPr/>
          <a:lstStyle/>
          <a:p>
            <a:fld id="{5BFA158B-7C94-F543-87DB-41F59EA4FAFA}" type="slidenum">
              <a:rPr lang="en-US" smtClean="0">
                <a:latin typeface="Arial"/>
              </a:rPr>
              <a:pPr/>
              <a:t>‹#›</a:t>
            </a:fld>
            <a:endParaRPr lang="en-US">
              <a:latin typeface="Arial"/>
            </a:endParaRPr>
          </a:p>
        </p:txBody>
      </p:sp>
    </p:spTree>
    <p:extLst>
      <p:ext uri="{BB962C8B-B14F-4D97-AF65-F5344CB8AC3E}">
        <p14:creationId xmlns:p14="http://schemas.microsoft.com/office/powerpoint/2010/main" val="12154022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B285B23-6EBB-40F1-B5EB-FCB988F7AD32}" type="datetime1">
              <a:rPr lang="en-US" smtClean="0">
                <a:latin typeface="Arial"/>
              </a:rPr>
              <a:t>7/22/2025</a:t>
            </a:fld>
            <a:endParaRPr lang="en-US">
              <a:latin typeface="Arial"/>
            </a:endParaRPr>
          </a:p>
        </p:txBody>
      </p:sp>
      <p:sp>
        <p:nvSpPr>
          <p:cNvPr id="3" name="Footer Placeholder 2"/>
          <p:cNvSpPr>
            <a:spLocks noGrp="1"/>
          </p:cNvSpPr>
          <p:nvPr>
            <p:ph type="ftr" sz="quarter" idx="11"/>
          </p:nvPr>
        </p:nvSpPr>
        <p:spPr/>
        <p:txBody>
          <a:bodyPr/>
          <a:lstStyle/>
          <a:p>
            <a:r>
              <a:rPr lang="en-US">
                <a:latin typeface="Arial"/>
              </a:rPr>
              <a:t>From Security in Computing, Fifth Edition, </a:t>
            </a:r>
            <a:r>
              <a:rPr lang="en-US" dirty="0">
                <a:latin typeface="Arial"/>
              </a:rPr>
              <a:t>by Charles P. </a:t>
            </a:r>
            <a:r>
              <a:rPr lang="en-US" dirty="0" err="1">
                <a:latin typeface="Arial"/>
              </a:rPr>
              <a:t>Pfleeger</a:t>
            </a:r>
            <a:r>
              <a:rPr lang="en-US" dirty="0">
                <a:latin typeface="Arial"/>
              </a:rPr>
              <a:t>, et al. (ISBN: 9780134085043). Copyright 2015 by Pearson Education, Inc. All rights reserved.</a:t>
            </a:r>
          </a:p>
        </p:txBody>
      </p:sp>
      <p:sp>
        <p:nvSpPr>
          <p:cNvPr id="4" name="Slide Number Placeholder 3"/>
          <p:cNvSpPr>
            <a:spLocks noGrp="1"/>
          </p:cNvSpPr>
          <p:nvPr>
            <p:ph type="sldNum" sz="quarter" idx="12"/>
          </p:nvPr>
        </p:nvSpPr>
        <p:spPr/>
        <p:txBody>
          <a:bodyPr/>
          <a:lstStyle/>
          <a:p>
            <a:fld id="{5BFA158B-7C94-F543-87DB-41F59EA4FAFA}" type="slidenum">
              <a:rPr lang="en-US" smtClean="0">
                <a:latin typeface="Arial"/>
              </a:rPr>
              <a:pPr/>
              <a:t>‹#›</a:t>
            </a:fld>
            <a:endParaRPr lang="en-US">
              <a:latin typeface="Arial"/>
            </a:endParaRPr>
          </a:p>
        </p:txBody>
      </p:sp>
    </p:spTree>
    <p:extLst>
      <p:ext uri="{BB962C8B-B14F-4D97-AF65-F5344CB8AC3E}">
        <p14:creationId xmlns:p14="http://schemas.microsoft.com/office/powerpoint/2010/main" val="14530441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441" y="792080"/>
            <a:ext cx="2852185"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3961368" y="792080"/>
            <a:ext cx="7618016"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443" y="2130553"/>
            <a:ext cx="2852185"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E581A47-C67A-4555-BDC2-7E2955DA94BF}" type="datetime1">
              <a:rPr lang="en-US" smtClean="0">
                <a:latin typeface="Arial"/>
              </a:rPr>
              <a:t>7/22/2025</a:t>
            </a:fld>
            <a:endParaRPr lang="en-US">
              <a:latin typeface="Arial"/>
            </a:endParaRPr>
          </a:p>
        </p:txBody>
      </p:sp>
      <p:sp>
        <p:nvSpPr>
          <p:cNvPr id="6" name="Footer Placeholder 5"/>
          <p:cNvSpPr>
            <a:spLocks noGrp="1"/>
          </p:cNvSpPr>
          <p:nvPr>
            <p:ph type="ftr" sz="quarter" idx="11"/>
          </p:nvPr>
        </p:nvSpPr>
        <p:spPr/>
        <p:txBody>
          <a:bodyPr/>
          <a:lstStyle/>
          <a:p>
            <a:r>
              <a:rPr lang="en-US">
                <a:latin typeface="Arial"/>
              </a:rPr>
              <a:t>From Security in Computing, Fifth Edition, </a:t>
            </a:r>
            <a:r>
              <a:rPr lang="en-US" dirty="0">
                <a:latin typeface="Arial"/>
              </a:rPr>
              <a:t>by Charles P. </a:t>
            </a:r>
            <a:r>
              <a:rPr lang="en-US" dirty="0" err="1">
                <a:latin typeface="Arial"/>
              </a:rPr>
              <a:t>Pfleeger</a:t>
            </a:r>
            <a:r>
              <a:rPr lang="en-US" dirty="0">
                <a:latin typeface="Arial"/>
              </a:rPr>
              <a:t>, et al. (ISBN: 9780134085043). Copyright 2015 by Pearson Education, Inc. All rights reserved.</a:t>
            </a:r>
          </a:p>
        </p:txBody>
      </p:sp>
      <p:sp>
        <p:nvSpPr>
          <p:cNvPr id="7" name="Slide Number Placeholder 6"/>
          <p:cNvSpPr>
            <a:spLocks noGrp="1"/>
          </p:cNvSpPr>
          <p:nvPr>
            <p:ph type="sldNum" sz="quarter" idx="12"/>
          </p:nvPr>
        </p:nvSpPr>
        <p:spPr/>
        <p:txBody>
          <a:bodyPr/>
          <a:lstStyle/>
          <a:p>
            <a:fld id="{5BFA158B-7C94-F543-87DB-41F59EA4FAFA}" type="slidenum">
              <a:rPr lang="en-US" smtClean="0">
                <a:latin typeface="Arial"/>
              </a:rPr>
              <a:pPr/>
              <a:t>‹#›</a:t>
            </a:fld>
            <a:endParaRPr lang="en-US">
              <a:latin typeface="Arial"/>
            </a:endParaRPr>
          </a:p>
        </p:txBody>
      </p:sp>
      <p:cxnSp>
        <p:nvCxnSpPr>
          <p:cNvPr id="9" name="Straight Connector 8"/>
          <p:cNvCxnSpPr/>
          <p:nvPr/>
        </p:nvCxnSpPr>
        <p:spPr>
          <a:xfrm rot="5400000">
            <a:off x="911188" y="3579942"/>
            <a:ext cx="5577840" cy="2117"/>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881057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441" y="792480"/>
            <a:ext cx="2856163"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3810487" y="838201"/>
            <a:ext cx="787047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lang="en-US" dirty="0"/>
          </a:p>
        </p:txBody>
      </p:sp>
      <p:sp>
        <p:nvSpPr>
          <p:cNvPr id="4" name="Text Placeholder 3"/>
          <p:cNvSpPr>
            <a:spLocks noGrp="1"/>
          </p:cNvSpPr>
          <p:nvPr>
            <p:ph type="body" sz="half" idx="2"/>
          </p:nvPr>
        </p:nvSpPr>
        <p:spPr>
          <a:xfrm>
            <a:off x="609441" y="2133600"/>
            <a:ext cx="2852185"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F2D84EC-10B1-4226-81E6-5226631642CB}" type="datetime1">
              <a:rPr lang="en-US" smtClean="0">
                <a:latin typeface="Arial"/>
              </a:rPr>
              <a:t>7/22/2025</a:t>
            </a:fld>
            <a:endParaRPr lang="en-US">
              <a:latin typeface="Arial"/>
            </a:endParaRPr>
          </a:p>
        </p:txBody>
      </p:sp>
      <p:sp>
        <p:nvSpPr>
          <p:cNvPr id="6" name="Footer Placeholder 5"/>
          <p:cNvSpPr>
            <a:spLocks noGrp="1"/>
          </p:cNvSpPr>
          <p:nvPr>
            <p:ph type="ftr" sz="quarter" idx="11"/>
          </p:nvPr>
        </p:nvSpPr>
        <p:spPr/>
        <p:txBody>
          <a:bodyPr/>
          <a:lstStyle/>
          <a:p>
            <a:r>
              <a:rPr lang="en-US">
                <a:latin typeface="Arial"/>
              </a:rPr>
              <a:t>From Security in Computing, Fifth Edition, </a:t>
            </a:r>
            <a:r>
              <a:rPr lang="en-US" dirty="0">
                <a:latin typeface="Arial"/>
              </a:rPr>
              <a:t>by Charles P. </a:t>
            </a:r>
            <a:r>
              <a:rPr lang="en-US" dirty="0" err="1">
                <a:latin typeface="Arial"/>
              </a:rPr>
              <a:t>Pfleeger</a:t>
            </a:r>
            <a:r>
              <a:rPr lang="en-US" dirty="0">
                <a:latin typeface="Arial"/>
              </a:rPr>
              <a:t>, et al. (ISBN: 9780134085043). Copyright 2015 by Pearson Education, Inc. All rights reserved.</a:t>
            </a:r>
          </a:p>
        </p:txBody>
      </p:sp>
      <p:sp>
        <p:nvSpPr>
          <p:cNvPr id="7" name="Slide Number Placeholder 6"/>
          <p:cNvSpPr>
            <a:spLocks noGrp="1"/>
          </p:cNvSpPr>
          <p:nvPr>
            <p:ph type="sldNum" sz="quarter" idx="12"/>
          </p:nvPr>
        </p:nvSpPr>
        <p:spPr/>
        <p:txBody>
          <a:bodyPr/>
          <a:lstStyle/>
          <a:p>
            <a:fld id="{5BFA158B-7C94-F543-87DB-41F59EA4FAFA}" type="slidenum">
              <a:rPr lang="en-US" smtClean="0">
                <a:latin typeface="Arial"/>
              </a:rPr>
              <a:pPr/>
              <a:t>‹#›</a:t>
            </a:fld>
            <a:endParaRPr lang="en-US">
              <a:latin typeface="Arial"/>
            </a:endParaRPr>
          </a:p>
        </p:txBody>
      </p:sp>
    </p:spTree>
    <p:extLst>
      <p:ext uri="{BB962C8B-B14F-4D97-AF65-F5344CB8AC3E}">
        <p14:creationId xmlns:p14="http://schemas.microsoft.com/office/powerpoint/2010/main" val="25305375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E43BAA8-0641-402E-8CA4-3006C7736F4F}" type="datetime1">
              <a:rPr lang="en-US" smtClean="0">
                <a:latin typeface="Arial"/>
              </a:rPr>
              <a:t>7/22/2025</a:t>
            </a:fld>
            <a:endParaRPr lang="en-US">
              <a:latin typeface="Arial"/>
            </a:endParaRPr>
          </a:p>
        </p:txBody>
      </p:sp>
      <p:sp>
        <p:nvSpPr>
          <p:cNvPr id="5" name="Footer Placeholder 4"/>
          <p:cNvSpPr>
            <a:spLocks noGrp="1"/>
          </p:cNvSpPr>
          <p:nvPr>
            <p:ph type="ftr" sz="quarter" idx="11"/>
          </p:nvPr>
        </p:nvSpPr>
        <p:spPr/>
        <p:txBody>
          <a:bodyPr/>
          <a:lstStyle/>
          <a:p>
            <a:r>
              <a:rPr lang="en-US">
                <a:latin typeface="Arial"/>
              </a:rPr>
              <a:t>From Security in Computing, Fifth Edition, </a:t>
            </a:r>
            <a:r>
              <a:rPr lang="en-US" dirty="0">
                <a:latin typeface="Arial"/>
              </a:rPr>
              <a:t>by Charles P. </a:t>
            </a:r>
            <a:r>
              <a:rPr lang="en-US" dirty="0" err="1">
                <a:latin typeface="Arial"/>
              </a:rPr>
              <a:t>Pfleeger</a:t>
            </a:r>
            <a:r>
              <a:rPr lang="en-US" dirty="0">
                <a:latin typeface="Arial"/>
              </a:rPr>
              <a:t>, et al. (ISBN: 9780134085043). Copyright 2015 by Pearson Education, Inc. All rights reserved.</a:t>
            </a:r>
          </a:p>
        </p:txBody>
      </p:sp>
      <p:sp>
        <p:nvSpPr>
          <p:cNvPr id="6" name="Slide Number Placeholder 5"/>
          <p:cNvSpPr>
            <a:spLocks noGrp="1"/>
          </p:cNvSpPr>
          <p:nvPr>
            <p:ph type="sldNum" sz="quarter" idx="12"/>
          </p:nvPr>
        </p:nvSpPr>
        <p:spPr/>
        <p:txBody>
          <a:bodyPr/>
          <a:lstStyle/>
          <a:p>
            <a:fld id="{5BFA158B-7C94-F543-87DB-41F59EA4FAFA}" type="slidenum">
              <a:rPr lang="en-US" smtClean="0">
                <a:latin typeface="Arial"/>
              </a:rPr>
              <a:pPr/>
              <a:t>‹#›</a:t>
            </a:fld>
            <a:endParaRPr lang="en-US">
              <a:latin typeface="Arial"/>
            </a:endParaRPr>
          </a:p>
        </p:txBody>
      </p:sp>
    </p:spTree>
    <p:extLst>
      <p:ext uri="{BB962C8B-B14F-4D97-AF65-F5344CB8AC3E}">
        <p14:creationId xmlns:p14="http://schemas.microsoft.com/office/powerpoint/2010/main" val="7020867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09600"/>
            <a:ext cx="2742486"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609441" y="609600"/>
            <a:ext cx="802431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C47770-E991-4F52-AA8E-E4EEF365013A}" type="datetime1">
              <a:rPr lang="en-US" smtClean="0">
                <a:latin typeface="Arial"/>
              </a:rPr>
              <a:t>7/22/2025</a:t>
            </a:fld>
            <a:endParaRPr lang="en-US">
              <a:latin typeface="Arial"/>
            </a:endParaRPr>
          </a:p>
        </p:txBody>
      </p:sp>
      <p:sp>
        <p:nvSpPr>
          <p:cNvPr id="5" name="Footer Placeholder 4"/>
          <p:cNvSpPr>
            <a:spLocks noGrp="1"/>
          </p:cNvSpPr>
          <p:nvPr>
            <p:ph type="ftr" sz="quarter" idx="11"/>
          </p:nvPr>
        </p:nvSpPr>
        <p:spPr/>
        <p:txBody>
          <a:bodyPr/>
          <a:lstStyle/>
          <a:p>
            <a:r>
              <a:rPr lang="en-US">
                <a:latin typeface="Arial"/>
              </a:rPr>
              <a:t>From Security in Computing, Fifth Edition, </a:t>
            </a:r>
            <a:r>
              <a:rPr lang="en-US" dirty="0">
                <a:latin typeface="Arial"/>
              </a:rPr>
              <a:t>by Charles P. </a:t>
            </a:r>
            <a:r>
              <a:rPr lang="en-US" dirty="0" err="1">
                <a:latin typeface="Arial"/>
              </a:rPr>
              <a:t>Pfleeger</a:t>
            </a:r>
            <a:r>
              <a:rPr lang="en-US" dirty="0">
                <a:latin typeface="Arial"/>
              </a:rPr>
              <a:t>, et al. (ISBN: 9780134085043). Copyright 2015 by Pearson Education, Inc. All rights reserved.</a:t>
            </a:r>
          </a:p>
        </p:txBody>
      </p:sp>
      <p:sp>
        <p:nvSpPr>
          <p:cNvPr id="6" name="Slide Number Placeholder 5"/>
          <p:cNvSpPr>
            <a:spLocks noGrp="1"/>
          </p:cNvSpPr>
          <p:nvPr>
            <p:ph type="sldNum" sz="quarter" idx="12"/>
          </p:nvPr>
        </p:nvSpPr>
        <p:spPr/>
        <p:txBody>
          <a:bodyPr/>
          <a:lstStyle/>
          <a:p>
            <a:fld id="{5BFA158B-7C94-F543-87DB-41F59EA4FAFA}" type="slidenum">
              <a:rPr lang="en-US" smtClean="0">
                <a:latin typeface="Arial"/>
              </a:rPr>
              <a:pPr/>
              <a:t>‹#›</a:t>
            </a:fld>
            <a:endParaRPr lang="en-US">
              <a:latin typeface="Arial"/>
            </a:endParaRPr>
          </a:p>
        </p:txBody>
      </p:sp>
    </p:spTree>
    <p:extLst>
      <p:ext uri="{BB962C8B-B14F-4D97-AF65-F5344CB8AC3E}">
        <p14:creationId xmlns:p14="http://schemas.microsoft.com/office/powerpoint/2010/main" val="21130679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7DD356B-E5CD-44F2-850A-F898D624950E}" type="datetime1">
              <a:rPr lang="en-US" smtClean="0">
                <a:latin typeface="Arial"/>
              </a:rPr>
              <a:t>7/22/2025</a:t>
            </a:fld>
            <a:endParaRPr lang="en-US">
              <a:latin typeface="Arial"/>
            </a:endParaRPr>
          </a:p>
        </p:txBody>
      </p:sp>
      <p:sp>
        <p:nvSpPr>
          <p:cNvPr id="5" name="Footer Placeholder 4"/>
          <p:cNvSpPr>
            <a:spLocks noGrp="1"/>
          </p:cNvSpPr>
          <p:nvPr>
            <p:ph type="ftr" sz="quarter" idx="11"/>
          </p:nvPr>
        </p:nvSpPr>
        <p:spPr/>
        <p:txBody>
          <a:bodyPr/>
          <a:lstStyle/>
          <a:p>
            <a:r>
              <a:rPr lang="en-US">
                <a:latin typeface="Arial"/>
              </a:rPr>
              <a:t>From Security in Computing, Fifth Edition, </a:t>
            </a:r>
            <a:r>
              <a:rPr lang="en-US" dirty="0">
                <a:latin typeface="Arial"/>
              </a:rPr>
              <a:t>by Charles P. </a:t>
            </a:r>
            <a:r>
              <a:rPr lang="en-US" dirty="0" err="1">
                <a:latin typeface="Arial"/>
              </a:rPr>
              <a:t>Pfleeger</a:t>
            </a:r>
            <a:r>
              <a:rPr lang="en-US" dirty="0">
                <a:latin typeface="Arial"/>
              </a:rPr>
              <a:t>, et al. (ISBN: 9780134085043). Copyright 2015 by Pearson Education, Inc. All rights reserved.</a:t>
            </a:r>
          </a:p>
        </p:txBody>
      </p:sp>
      <p:sp>
        <p:nvSpPr>
          <p:cNvPr id="6" name="Slide Number Placeholder 5"/>
          <p:cNvSpPr>
            <a:spLocks noGrp="1"/>
          </p:cNvSpPr>
          <p:nvPr>
            <p:ph type="sldNum" sz="quarter" idx="12"/>
          </p:nvPr>
        </p:nvSpPr>
        <p:spPr/>
        <p:txBody>
          <a:bodyPr/>
          <a:lstStyle/>
          <a:p>
            <a:fld id="{FD01F0F2-74A4-EF40-82B3-DFFDF0BA3880}" type="slidenum">
              <a:rPr lang="en-US" smtClean="0">
                <a:latin typeface="Arial"/>
              </a:rPr>
              <a:pPr/>
              <a:t>‹#›</a:t>
            </a:fld>
            <a:endParaRPr lang="en-US">
              <a:latin typeface="Arial"/>
            </a:endParaRPr>
          </a:p>
        </p:txBody>
      </p:sp>
    </p:spTree>
    <p:extLst>
      <p:ext uri="{BB962C8B-B14F-4D97-AF65-F5344CB8AC3E}">
        <p14:creationId xmlns:p14="http://schemas.microsoft.com/office/powerpoint/2010/main" val="42936226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12188825"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latin typeface="Arial"/>
            </a:endParaRPr>
          </a:p>
        </p:txBody>
      </p:sp>
      <p:sp>
        <p:nvSpPr>
          <p:cNvPr id="2" name="Title Placeholder 1"/>
          <p:cNvSpPr>
            <a:spLocks noGrp="1"/>
          </p:cNvSpPr>
          <p:nvPr>
            <p:ph type="title"/>
          </p:nvPr>
        </p:nvSpPr>
        <p:spPr>
          <a:xfrm>
            <a:off x="609441" y="533400"/>
            <a:ext cx="10969943" cy="990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09441" y="1600200"/>
            <a:ext cx="10969943" cy="4876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0" y="0"/>
            <a:ext cx="12188825"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latin typeface="Arial"/>
            </a:endParaRPr>
          </a:p>
        </p:txBody>
      </p:sp>
      <p:sp>
        <p:nvSpPr>
          <p:cNvPr id="4" name="Date Placeholder 3"/>
          <p:cNvSpPr>
            <a:spLocks noGrp="1"/>
          </p:cNvSpPr>
          <p:nvPr>
            <p:ph type="dt" sz="half" idx="2"/>
          </p:nvPr>
        </p:nvSpPr>
        <p:spPr>
          <a:xfrm>
            <a:off x="609441" y="18288"/>
            <a:ext cx="3859795" cy="329184"/>
          </a:xfrm>
          <a:prstGeom prst="rect">
            <a:avLst/>
          </a:prstGeom>
        </p:spPr>
        <p:txBody>
          <a:bodyPr vert="horz" lIns="91440" tIns="45720" rIns="91440" bIns="45720" rtlCol="0" anchor="ctr"/>
          <a:lstStyle>
            <a:lvl1pPr algn="l">
              <a:defRPr sz="1200">
                <a:solidFill>
                  <a:srgbClr val="FFFFFF"/>
                </a:solidFill>
              </a:defRPr>
            </a:lvl1pPr>
          </a:lstStyle>
          <a:p>
            <a:fld id="{3C5BD2A0-181B-4F6D-9BFF-DA542B93E706}" type="datetime1">
              <a:rPr lang="en-US" smtClean="0">
                <a:latin typeface="Arial"/>
              </a:rPr>
              <a:t>7/22/2025</a:t>
            </a:fld>
            <a:endParaRPr lang="en-US">
              <a:latin typeface="Arial"/>
            </a:endParaRPr>
          </a:p>
        </p:txBody>
      </p:sp>
      <p:sp>
        <p:nvSpPr>
          <p:cNvPr id="5" name="Footer Placeholder 4"/>
          <p:cNvSpPr>
            <a:spLocks noGrp="1"/>
          </p:cNvSpPr>
          <p:nvPr>
            <p:ph type="ftr" sz="quarter" idx="3"/>
          </p:nvPr>
        </p:nvSpPr>
        <p:spPr>
          <a:xfrm>
            <a:off x="0" y="6535229"/>
            <a:ext cx="12188825" cy="329184"/>
          </a:xfrm>
          <a:prstGeom prst="rect">
            <a:avLst/>
          </a:prstGeom>
        </p:spPr>
        <p:txBody>
          <a:bodyPr vert="horz" lIns="91440" tIns="45720" rIns="91440" bIns="45720" rtlCol="0" anchor="ctr"/>
          <a:lstStyle>
            <a:lvl1pPr algn="ctr">
              <a:defRPr sz="950">
                <a:solidFill>
                  <a:schemeClr val="tx1"/>
                </a:solidFill>
              </a:defRPr>
            </a:lvl1pPr>
          </a:lstStyle>
          <a:p>
            <a:r>
              <a:rPr lang="en-US" dirty="0"/>
              <a:t>From </a:t>
            </a:r>
            <a:r>
              <a:rPr lang="en-US" i="1" dirty="0"/>
              <a:t>Security in Computing, Fifth Edition</a:t>
            </a:r>
            <a:r>
              <a:rPr lang="en-US" dirty="0"/>
              <a:t>, by Charles P. </a:t>
            </a:r>
            <a:r>
              <a:rPr lang="en-US" dirty="0" err="1"/>
              <a:t>Pfleeger</a:t>
            </a:r>
            <a:r>
              <a:rPr lang="en-US" dirty="0"/>
              <a:t>, et al. (ISBN: 9780134085043). Copyright 2015 by Pearson Education, Inc. All rights reserved.</a:t>
            </a:r>
          </a:p>
        </p:txBody>
      </p:sp>
      <p:sp>
        <p:nvSpPr>
          <p:cNvPr id="6" name="Slide Number Placeholder 5"/>
          <p:cNvSpPr>
            <a:spLocks noGrp="1"/>
          </p:cNvSpPr>
          <p:nvPr>
            <p:ph type="sldNum" sz="quarter" idx="4"/>
          </p:nvPr>
        </p:nvSpPr>
        <p:spPr>
          <a:xfrm>
            <a:off x="10157354" y="18288"/>
            <a:ext cx="1422030" cy="329184"/>
          </a:xfrm>
          <a:prstGeom prst="rect">
            <a:avLst/>
          </a:prstGeom>
        </p:spPr>
        <p:txBody>
          <a:bodyPr vert="horz" lIns="91440" tIns="45720" rIns="91440" bIns="45720" rtlCol="0" anchor="ctr"/>
          <a:lstStyle>
            <a:lvl1pPr algn="l">
              <a:defRPr sz="1400" b="1">
                <a:solidFill>
                  <a:srgbClr val="FFFFFF"/>
                </a:solidFill>
              </a:defRPr>
            </a:lvl1pPr>
          </a:lstStyle>
          <a:p>
            <a:fld id="{5BFA158B-7C94-F543-87DB-41F59EA4FAFA}" type="slidenum">
              <a:rPr lang="en-US" smtClean="0">
                <a:latin typeface="Arial"/>
              </a:rPr>
              <a:pPr/>
              <a:t>‹#›</a:t>
            </a:fld>
            <a:endParaRPr lang="en-US" dirty="0">
              <a:latin typeface="Arial"/>
            </a:endParaRPr>
          </a:p>
        </p:txBody>
      </p:sp>
    </p:spTree>
    <p:extLst>
      <p:ext uri="{BB962C8B-B14F-4D97-AF65-F5344CB8AC3E}">
        <p14:creationId xmlns:p14="http://schemas.microsoft.com/office/powerpoint/2010/main" val="242345610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dt="0"/>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3.emf"/></Relationships>
</file>

<file path=ppt/slides/_rels/slide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13.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16.jpeg"/></Relationships>
</file>

<file path=ppt/slides/_rels/slide17.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7.emf"/></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705386" y="559620"/>
            <a:ext cx="10001600" cy="584775"/>
          </a:xfrm>
          <a:prstGeom prst="rect">
            <a:avLst/>
          </a:prstGeom>
        </p:spPr>
        <p:txBody>
          <a:bodyPr vert="horz" lIns="91440" tIns="45720" rIns="91440" bIns="45720" rtlCol="0" anchor="ctr">
            <a:normAutofit fontScale="97500"/>
          </a:bodyPr>
          <a:lstStyle/>
          <a:p>
            <a:pPr defTabSz="914400">
              <a:spcBef>
                <a:spcPct val="0"/>
              </a:spcBef>
            </a:pPr>
            <a:r>
              <a:rPr lang="en-US" sz="3200" spc="-100" dirty="0" smtClean="0">
                <a:solidFill>
                  <a:schemeClr val="tx2"/>
                </a:solidFill>
                <a:latin typeface="+mj-lt"/>
                <a:ea typeface="+mj-ea"/>
                <a:cs typeface="+mj-cs"/>
              </a:rPr>
              <a:t>Lets check your </a:t>
            </a:r>
            <a:r>
              <a:rPr lang="en-US" sz="3200" spc="-100" dirty="0">
                <a:solidFill>
                  <a:schemeClr val="tx2"/>
                </a:solidFill>
                <a:latin typeface="+mj-lt"/>
                <a:ea typeface="+mj-ea"/>
                <a:cs typeface="+mj-cs"/>
              </a:rPr>
              <a:t>understanding of </a:t>
            </a:r>
            <a:r>
              <a:rPr lang="en-US" sz="3200" spc="-100" dirty="0" smtClean="0">
                <a:solidFill>
                  <a:schemeClr val="tx2"/>
                </a:solidFill>
                <a:latin typeface="+mj-lt"/>
                <a:ea typeface="+mj-ea"/>
                <a:cs typeface="+mj-cs"/>
              </a:rPr>
              <a:t>Information </a:t>
            </a:r>
            <a:r>
              <a:rPr lang="en-US" sz="3200" spc="-100" dirty="0">
                <a:solidFill>
                  <a:schemeClr val="tx2"/>
                </a:solidFill>
                <a:latin typeface="+mj-lt"/>
                <a:ea typeface="+mj-ea"/>
                <a:cs typeface="+mj-cs"/>
              </a:rPr>
              <a:t>Security</a:t>
            </a:r>
            <a:endParaRPr lang="en-IN" sz="3200" spc="-100" dirty="0">
              <a:solidFill>
                <a:schemeClr val="tx2"/>
              </a:solidFill>
              <a:latin typeface="+mj-lt"/>
              <a:ea typeface="+mj-ea"/>
              <a:cs typeface="+mj-cs"/>
            </a:endParaRPr>
          </a:p>
        </p:txBody>
      </p:sp>
    </p:spTree>
    <p:extLst>
      <p:ext uri="{BB962C8B-B14F-4D97-AF65-F5344CB8AC3E}">
        <p14:creationId xmlns:p14="http://schemas.microsoft.com/office/powerpoint/2010/main" val="309775176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293" y="464743"/>
            <a:ext cx="10969943" cy="509619"/>
          </a:xfrm>
        </p:spPr>
        <p:txBody>
          <a:bodyPr>
            <a:normAutofit fontScale="90000"/>
          </a:bodyPr>
          <a:lstStyle/>
          <a:p>
            <a:pPr marR="0"/>
            <a:r>
              <a:rPr lang="en-US" sz="3200" dirty="0"/>
              <a:t>What Is </a:t>
            </a:r>
            <a:r>
              <a:rPr lang="en-US" sz="3200" dirty="0" smtClean="0"/>
              <a:t>Information </a:t>
            </a:r>
            <a:r>
              <a:rPr lang="en-US" sz="3200" dirty="0"/>
              <a:t>Security?</a:t>
            </a:r>
          </a:p>
        </p:txBody>
      </p:sp>
      <p:sp>
        <p:nvSpPr>
          <p:cNvPr id="3" name="Text Placeholder 2"/>
          <p:cNvSpPr>
            <a:spLocks noGrp="1"/>
          </p:cNvSpPr>
          <p:nvPr>
            <p:ph type="body" idx="1"/>
          </p:nvPr>
        </p:nvSpPr>
        <p:spPr>
          <a:xfrm>
            <a:off x="285294" y="1240536"/>
            <a:ext cx="3706601" cy="4376928"/>
          </a:xfrm>
        </p:spPr>
        <p:txBody>
          <a:bodyPr>
            <a:normAutofit/>
          </a:bodyPr>
          <a:lstStyle/>
          <a:p>
            <a:r>
              <a:rPr lang="en-US" sz="2000" dirty="0"/>
              <a:t>The protection of the assets of a computer system</a:t>
            </a:r>
          </a:p>
          <a:p>
            <a:pPr lvl="1"/>
            <a:r>
              <a:rPr lang="en-US" sz="1800" dirty="0"/>
              <a:t>Hardware</a:t>
            </a:r>
          </a:p>
          <a:p>
            <a:pPr lvl="1"/>
            <a:r>
              <a:rPr lang="en-US" sz="1800" dirty="0"/>
              <a:t>Software</a:t>
            </a:r>
          </a:p>
          <a:p>
            <a:pPr lvl="1"/>
            <a:r>
              <a:rPr lang="en-US" sz="1800" dirty="0"/>
              <a:t>Data</a:t>
            </a:r>
          </a:p>
        </p:txBody>
      </p:sp>
      <p:sp>
        <p:nvSpPr>
          <p:cNvPr id="4" name="Slide Number Placeholder 3"/>
          <p:cNvSpPr>
            <a:spLocks noGrp="1"/>
          </p:cNvSpPr>
          <p:nvPr>
            <p:ph type="sldNum" sz="quarter" idx="12"/>
          </p:nvPr>
        </p:nvSpPr>
        <p:spPr/>
        <p:txBody>
          <a:bodyPr/>
          <a:lstStyle/>
          <a:p>
            <a:fld id="{FD01F0F2-74A4-EF40-82B3-DFFDF0BA3880}" type="slidenum">
              <a:rPr lang="en-US" smtClean="0">
                <a:latin typeface="Arial"/>
              </a:rPr>
              <a:pPr/>
              <a:t>2</a:t>
            </a:fld>
            <a:endParaRPr lang="en-US">
              <a:latin typeface="Arial"/>
            </a:endParaRPr>
          </a:p>
        </p:txBody>
      </p:sp>
      <p:pic>
        <p:nvPicPr>
          <p:cNvPr id="16388" name="Picture 4">
            <a:extLst>
              <a:ext uri="{FF2B5EF4-FFF2-40B4-BE49-F238E27FC236}">
                <a16:creationId xmlns="" xmlns:a16="http://schemas.microsoft.com/office/drawing/2014/main" id="{DD279296-5601-7D2F-354E-6B27883BA0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98841" y="347472"/>
            <a:ext cx="6489984" cy="6414752"/>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fig01-02.eps">
            <a:extLst>
              <a:ext uri="{FF2B5EF4-FFF2-40B4-BE49-F238E27FC236}">
                <a16:creationId xmlns="" xmlns:a16="http://schemas.microsoft.com/office/drawing/2014/main" id="{3C314BF4-320B-0290-F3AC-31CD54CEE88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9605" y="2978590"/>
            <a:ext cx="5818668" cy="3737003"/>
          </a:xfrm>
          <a:prstGeom prst="rect">
            <a:avLst/>
          </a:prstGeom>
        </p:spPr>
      </p:pic>
      <p:sp>
        <p:nvSpPr>
          <p:cNvPr id="5" name="TextBox 4"/>
          <p:cNvSpPr txBox="1"/>
          <p:nvPr/>
        </p:nvSpPr>
        <p:spPr>
          <a:xfrm>
            <a:off x="525098" y="6244189"/>
            <a:ext cx="1855963" cy="276999"/>
          </a:xfrm>
          <a:prstGeom prst="rect">
            <a:avLst/>
          </a:prstGeom>
          <a:noFill/>
        </p:spPr>
        <p:txBody>
          <a:bodyPr wrap="square" rtlCol="0">
            <a:spAutoFit/>
          </a:bodyPr>
          <a:lstStyle/>
          <a:p>
            <a:r>
              <a:rPr lang="en-IN" sz="1200" b="1" dirty="0" smtClean="0"/>
              <a:t>Or Networking Devices</a:t>
            </a:r>
            <a:endParaRPr lang="en-IN" sz="1200" b="1" dirty="0"/>
          </a:p>
        </p:txBody>
      </p:sp>
    </p:spTree>
    <p:extLst>
      <p:ext uri="{BB962C8B-B14F-4D97-AF65-F5344CB8AC3E}">
        <p14:creationId xmlns:p14="http://schemas.microsoft.com/office/powerpoint/2010/main" val="24706202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p:cNvSpPr txBox="1">
            <a:spLocks/>
          </p:cNvSpPr>
          <p:nvPr/>
        </p:nvSpPr>
        <p:spPr>
          <a:xfrm>
            <a:off x="609441" y="533400"/>
            <a:ext cx="10969943" cy="990600"/>
          </a:xfrm>
          <a:prstGeom prst="rect">
            <a:avLst/>
          </a:prstGeom>
        </p:spPr>
        <p:txBody>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US" dirty="0">
                <a:solidFill>
                  <a:srgbClr val="D2533C"/>
                </a:solidFill>
                <a:latin typeface="Arial"/>
              </a:rPr>
              <a:t>Values of Assets</a:t>
            </a:r>
          </a:p>
        </p:txBody>
      </p:sp>
      <p:pic>
        <p:nvPicPr>
          <p:cNvPr id="3" name="Picture 2" descr="fig01-03.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9871" y="1208920"/>
            <a:ext cx="5574671" cy="5115680"/>
          </a:xfrm>
          <a:prstGeom prst="rect">
            <a:avLst/>
          </a:prstGeom>
        </p:spPr>
      </p:pic>
      <p:sp>
        <p:nvSpPr>
          <p:cNvPr id="2" name="Slide Number Placeholder 1"/>
          <p:cNvSpPr>
            <a:spLocks noGrp="1"/>
          </p:cNvSpPr>
          <p:nvPr>
            <p:ph type="sldNum" sz="quarter" idx="12"/>
          </p:nvPr>
        </p:nvSpPr>
        <p:spPr/>
        <p:txBody>
          <a:bodyPr/>
          <a:lstStyle/>
          <a:p>
            <a:fld id="{5BFA158B-7C94-F543-87DB-41F59EA4FAFA}" type="slidenum">
              <a:rPr lang="en-US" smtClean="0">
                <a:latin typeface="Arial"/>
              </a:rPr>
              <a:pPr/>
              <a:t>3</a:t>
            </a:fld>
            <a:endParaRPr lang="en-US">
              <a:latin typeface="Arial"/>
            </a:endParaRPr>
          </a:p>
        </p:txBody>
      </p:sp>
      <p:pic>
        <p:nvPicPr>
          <p:cNvPr id="4098" name="Picture 2">
            <a:extLst>
              <a:ext uri="{FF2B5EF4-FFF2-40B4-BE49-F238E27FC236}">
                <a16:creationId xmlns="" xmlns:a16="http://schemas.microsoft.com/office/drawing/2014/main" id="{C340A366-DEFA-903D-317B-6EA7396952E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26113" y="533401"/>
            <a:ext cx="5370701" cy="60485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284432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4519" y="491744"/>
            <a:ext cx="10969943" cy="990600"/>
          </a:xfrm>
        </p:spPr>
        <p:txBody>
          <a:bodyPr>
            <a:normAutofit/>
          </a:bodyPr>
          <a:lstStyle/>
          <a:p>
            <a:r>
              <a:rPr lang="en-US" sz="3200" dirty="0"/>
              <a:t>Threat &amp; Vulnerability</a:t>
            </a:r>
          </a:p>
        </p:txBody>
      </p:sp>
      <p:pic>
        <p:nvPicPr>
          <p:cNvPr id="6" name="Picture 5" descr="fig01-04.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442" y="1709928"/>
            <a:ext cx="5105319" cy="4754880"/>
          </a:xfrm>
          <a:prstGeom prst="rect">
            <a:avLst/>
          </a:prstGeom>
        </p:spPr>
      </p:pic>
      <p:sp>
        <p:nvSpPr>
          <p:cNvPr id="3" name="Slide Number Placeholder 2"/>
          <p:cNvSpPr>
            <a:spLocks noGrp="1"/>
          </p:cNvSpPr>
          <p:nvPr>
            <p:ph type="sldNum" sz="quarter" idx="12"/>
          </p:nvPr>
        </p:nvSpPr>
        <p:spPr/>
        <p:txBody>
          <a:bodyPr/>
          <a:lstStyle/>
          <a:p>
            <a:fld id="{5BFA158B-7C94-F543-87DB-41F59EA4FAFA}" type="slidenum">
              <a:rPr lang="en-US" smtClean="0">
                <a:latin typeface="Arial"/>
              </a:rPr>
              <a:pPr/>
              <a:t>4</a:t>
            </a:fld>
            <a:endParaRPr lang="en-US">
              <a:latin typeface="Arial"/>
            </a:endParaRPr>
          </a:p>
        </p:txBody>
      </p:sp>
      <p:sp>
        <p:nvSpPr>
          <p:cNvPr id="5" name="Content Placeholder 2">
            <a:extLst>
              <a:ext uri="{FF2B5EF4-FFF2-40B4-BE49-F238E27FC236}">
                <a16:creationId xmlns="" xmlns:a16="http://schemas.microsoft.com/office/drawing/2014/main" id="{DEB879BE-20D2-B148-AE29-66301939B71E}"/>
              </a:ext>
            </a:extLst>
          </p:cNvPr>
          <p:cNvSpPr>
            <a:spLocks noGrp="1"/>
          </p:cNvSpPr>
          <p:nvPr>
            <p:ph idx="1"/>
          </p:nvPr>
        </p:nvSpPr>
        <p:spPr>
          <a:xfrm>
            <a:off x="609441" y="1854200"/>
            <a:ext cx="4765631" cy="1473200"/>
          </a:xfrm>
        </p:spPr>
        <p:txBody>
          <a:bodyPr>
            <a:normAutofit fontScale="47500" lnSpcReduction="20000"/>
          </a:bodyPr>
          <a:lstStyle/>
          <a:p>
            <a:r>
              <a:rPr lang="en-US" sz="3600" dirty="0"/>
              <a:t>Vulnerability</a:t>
            </a:r>
          </a:p>
          <a:p>
            <a:r>
              <a:rPr lang="en-US" sz="3600" dirty="0"/>
              <a:t>Threat</a:t>
            </a:r>
          </a:p>
          <a:p>
            <a:r>
              <a:rPr lang="en-US" sz="3600" dirty="0"/>
              <a:t>Attack</a:t>
            </a:r>
          </a:p>
          <a:p>
            <a:r>
              <a:rPr lang="en-US" sz="3600" dirty="0"/>
              <a:t>Countermeasure </a:t>
            </a:r>
          </a:p>
          <a:p>
            <a:pPr marL="0" indent="0">
              <a:buNone/>
            </a:pPr>
            <a:r>
              <a:rPr lang="en-US" sz="3600" dirty="0"/>
              <a:t>or control</a:t>
            </a:r>
          </a:p>
        </p:txBody>
      </p:sp>
      <p:pic>
        <p:nvPicPr>
          <p:cNvPr id="3074" name="Picture 2">
            <a:extLst>
              <a:ext uri="{FF2B5EF4-FFF2-40B4-BE49-F238E27FC236}">
                <a16:creationId xmlns="" xmlns:a16="http://schemas.microsoft.com/office/drawing/2014/main" id="{07FB5CA8-D2EA-8822-9364-AE86DB6FC11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61301" y="515113"/>
            <a:ext cx="5180251" cy="617050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 xmlns:a16="http://schemas.microsoft.com/office/drawing/2014/main" id="{490D3FEF-7362-975E-8C57-B68B3DBDDC09}"/>
              </a:ext>
            </a:extLst>
          </p:cNvPr>
          <p:cNvSpPr txBox="1"/>
          <p:nvPr/>
        </p:nvSpPr>
        <p:spPr>
          <a:xfrm>
            <a:off x="706854" y="4889824"/>
            <a:ext cx="3069684" cy="738664"/>
          </a:xfrm>
          <a:prstGeom prst="rect">
            <a:avLst/>
          </a:prstGeom>
          <a:noFill/>
        </p:spPr>
        <p:txBody>
          <a:bodyPr wrap="square">
            <a:spAutoFit/>
          </a:bodyPr>
          <a:lstStyle/>
          <a:p>
            <a:pPr algn="ctr"/>
            <a:r>
              <a:rPr lang="en-US" sz="1400" dirty="0">
                <a:solidFill>
                  <a:srgbClr val="C00000"/>
                </a:solidFill>
              </a:rPr>
              <a:t>The water is the threat, the crack the vulnerability, and the finger</a:t>
            </a:r>
            <a:r>
              <a:rPr lang="en-US" sz="1400" baseline="0" dirty="0">
                <a:solidFill>
                  <a:srgbClr val="C00000"/>
                </a:solidFill>
              </a:rPr>
              <a:t> the control (for now).</a:t>
            </a:r>
            <a:endParaRPr lang="en-US" sz="1400" dirty="0">
              <a:solidFill>
                <a:srgbClr val="C00000"/>
              </a:solidFill>
            </a:endParaRPr>
          </a:p>
        </p:txBody>
      </p:sp>
    </p:spTree>
    <p:extLst>
      <p:ext uri="{BB962C8B-B14F-4D97-AF65-F5344CB8AC3E}">
        <p14:creationId xmlns:p14="http://schemas.microsoft.com/office/powerpoint/2010/main" val="247389249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21"/>
          <p:cNvSpPr>
            <a:spLocks noGrp="1"/>
          </p:cNvSpPr>
          <p:nvPr>
            <p:ph type="title"/>
          </p:nvPr>
        </p:nvSpPr>
        <p:spPr>
          <a:xfrm>
            <a:off x="2472648" y="6385294"/>
            <a:ext cx="5231851" cy="508918"/>
          </a:xfrm>
        </p:spPr>
        <p:txBody>
          <a:bodyPr>
            <a:noAutofit/>
          </a:bodyPr>
          <a:lstStyle/>
          <a:p>
            <a:pPr fontAlgn="auto">
              <a:spcAft>
                <a:spcPts val="0"/>
              </a:spcAft>
              <a:defRPr/>
            </a:pPr>
            <a:r>
              <a:rPr lang="en-US" sz="3200" dirty="0">
                <a:solidFill>
                  <a:srgbClr val="FF0000"/>
                </a:solidFill>
              </a:rPr>
              <a:t>The CIA </a:t>
            </a:r>
            <a:r>
              <a:rPr lang="en-US" sz="3200" dirty="0" smtClean="0">
                <a:solidFill>
                  <a:srgbClr val="FF0000"/>
                </a:solidFill>
              </a:rPr>
              <a:t>Triad / Security </a:t>
            </a:r>
            <a:r>
              <a:rPr lang="en-US" sz="3200" dirty="0" err="1" smtClean="0">
                <a:solidFill>
                  <a:srgbClr val="FF0000"/>
                </a:solidFill>
              </a:rPr>
              <a:t>Traid</a:t>
            </a:r>
            <a:endParaRPr lang="en-US" sz="3200" dirty="0">
              <a:solidFill>
                <a:srgbClr val="FF0000"/>
              </a:solidFill>
            </a:endParaRPr>
          </a:p>
        </p:txBody>
      </p:sp>
      <p:graphicFrame>
        <p:nvGraphicFramePr>
          <p:cNvPr id="24" name="Content Placeholder 23"/>
          <p:cNvGraphicFramePr>
            <a:graphicFrameLocks noGrp="1"/>
          </p:cNvGraphicFramePr>
          <p:nvPr>
            <p:ph idx="1"/>
            <p:extLst>
              <p:ext uri="{D42A27DB-BD31-4B8C-83A1-F6EECF244321}">
                <p14:modId xmlns:p14="http://schemas.microsoft.com/office/powerpoint/2010/main" val="970187382"/>
              </p:ext>
            </p:extLst>
          </p:nvPr>
        </p:nvGraphicFramePr>
        <p:xfrm>
          <a:off x="546066" y="2253186"/>
          <a:ext cx="10969943" cy="34080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Rectangle 3">
            <a:extLst>
              <a:ext uri="{FF2B5EF4-FFF2-40B4-BE49-F238E27FC236}">
                <a16:creationId xmlns="" xmlns:a16="http://schemas.microsoft.com/office/drawing/2014/main" id="{8A200B01-B080-4F96-920E-AAB24F722168}"/>
              </a:ext>
            </a:extLst>
          </p:cNvPr>
          <p:cNvSpPr txBox="1">
            <a:spLocks noChangeArrowheads="1"/>
          </p:cNvSpPr>
          <p:nvPr/>
        </p:nvSpPr>
        <p:spPr>
          <a:xfrm>
            <a:off x="127464" y="719194"/>
            <a:ext cx="11608411" cy="1923005"/>
          </a:xfrm>
          <a:prstGeom prst="rect">
            <a:avLst/>
          </a:prstGeom>
        </p:spPr>
        <p:txBody>
          <a:bodyPr vert="horz" lIns="91440" tIns="45720" rIns="91440" bIns="45720" rtlCol="0">
            <a:normAutofit fontScale="70000" lnSpcReduction="20000"/>
          </a:bodyPr>
          <a:lstStyle>
            <a:lvl1pPr marL="342900" indent="-342900" algn="l" rtl="0" fontAlgn="base">
              <a:spcBef>
                <a:spcPts val="2000"/>
              </a:spcBef>
              <a:spcAft>
                <a:spcPct val="0"/>
              </a:spcAft>
              <a:buClr>
                <a:schemeClr val="accent1"/>
              </a:buClr>
              <a:buSzPct val="90000"/>
              <a:buFont typeface="Wingdings" pitchFamily="2" charset="2"/>
              <a:buChar char=""/>
              <a:defRPr sz="2400" b="1" kern="1200">
                <a:solidFill>
                  <a:schemeClr val="tx1"/>
                </a:solidFill>
                <a:effectLst>
                  <a:outerShdw blurRad="50800" dist="50800" dir="2700000" algn="tl" rotWithShape="0">
                    <a:schemeClr val="bg1">
                      <a:alpha val="30000"/>
                    </a:schemeClr>
                  </a:outerShdw>
                </a:effectLst>
                <a:latin typeface="+mn-lt"/>
                <a:ea typeface="+mn-ea"/>
                <a:cs typeface="+mn-cs"/>
              </a:defRPr>
            </a:lvl1pPr>
            <a:lvl2pPr marL="685800" indent="-336550" algn="l" rtl="0" fontAlgn="base">
              <a:spcBef>
                <a:spcPts val="600"/>
              </a:spcBef>
              <a:spcAft>
                <a:spcPct val="0"/>
              </a:spcAft>
              <a:buClr>
                <a:schemeClr val="accent2"/>
              </a:buClr>
              <a:buSzPct val="90000"/>
              <a:buFont typeface="Wingdings" pitchFamily="2" charset="2"/>
              <a:buChar char=""/>
              <a:defRPr sz="2200" b="1" kern="1200">
                <a:solidFill>
                  <a:schemeClr val="tx1"/>
                </a:solidFill>
                <a:effectLst>
                  <a:outerShdw blurRad="50800" dist="50800" dir="2700000" algn="tl" rotWithShape="0">
                    <a:schemeClr val="bg1">
                      <a:alpha val="30000"/>
                    </a:schemeClr>
                  </a:outerShdw>
                </a:effectLst>
                <a:latin typeface="+mn-lt"/>
                <a:ea typeface="+mn-ea"/>
                <a:cs typeface="+mn-cs"/>
              </a:defRPr>
            </a:lvl2pPr>
            <a:lvl3pPr marL="1035050" indent="-349250" algn="l" rtl="0" fontAlgn="base">
              <a:spcBef>
                <a:spcPts val="600"/>
              </a:spcBef>
              <a:spcAft>
                <a:spcPct val="0"/>
              </a:spcAft>
              <a:buClr>
                <a:schemeClr val="accent1"/>
              </a:buClr>
              <a:buSzPct val="90000"/>
              <a:buFont typeface="Wingdings" pitchFamily="2" charset="2"/>
              <a:buChar char=""/>
              <a:defRPr sz="2000" b="1" kern="1200">
                <a:solidFill>
                  <a:schemeClr val="tx1"/>
                </a:solidFill>
                <a:effectLst>
                  <a:outerShdw blurRad="50800" dist="50800" dir="2700000" algn="tl" rotWithShape="0">
                    <a:schemeClr val="bg1">
                      <a:alpha val="30000"/>
                    </a:schemeClr>
                  </a:outerShdw>
                </a:effectLst>
                <a:latin typeface="+mn-lt"/>
                <a:ea typeface="+mn-ea"/>
                <a:cs typeface="+mn-cs"/>
              </a:defRPr>
            </a:lvl3pPr>
            <a:lvl4pPr marL="1371600" indent="-336550" algn="l" rtl="0" fontAlgn="base">
              <a:spcBef>
                <a:spcPts val="600"/>
              </a:spcBef>
              <a:spcAft>
                <a:spcPct val="0"/>
              </a:spcAft>
              <a:buClr>
                <a:schemeClr val="accent2"/>
              </a:buClr>
              <a:buSzPct val="90000"/>
              <a:buFont typeface="Wingdings" pitchFamily="2" charset="2"/>
              <a:buChar char=""/>
              <a:defRPr b="1" kern="1200">
                <a:solidFill>
                  <a:schemeClr val="tx1"/>
                </a:solidFill>
                <a:effectLst>
                  <a:outerShdw blurRad="50800" dist="50800" dir="2700000" algn="tl" rotWithShape="0">
                    <a:schemeClr val="bg1">
                      <a:alpha val="30000"/>
                    </a:schemeClr>
                  </a:outerShdw>
                </a:effectLst>
                <a:latin typeface="+mn-lt"/>
                <a:ea typeface="+mn-ea"/>
                <a:cs typeface="+mn-cs"/>
              </a:defRPr>
            </a:lvl4pPr>
            <a:lvl5pPr marL="1720850" indent="-349250" algn="l" rtl="0" fontAlgn="base">
              <a:spcBef>
                <a:spcPts val="600"/>
              </a:spcBef>
              <a:spcAft>
                <a:spcPct val="0"/>
              </a:spcAft>
              <a:buClr>
                <a:schemeClr val="accent1"/>
              </a:buClr>
              <a:buSzPct val="90000"/>
              <a:buFont typeface="Wingdings" pitchFamily="2" charset="2"/>
              <a:buChar char=""/>
              <a:defRPr b="1" kern="1200">
                <a:solidFill>
                  <a:schemeClr val="tx1"/>
                </a:solidFill>
                <a:effectLst>
                  <a:outerShdw blurRad="50800" dist="50800" dir="2700000" algn="tl" rotWithShape="0">
                    <a:schemeClr val="bg1">
                      <a:alpha val="30000"/>
                    </a:schemeClr>
                  </a:outerShdw>
                </a:effectLst>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fontAlgn="auto">
              <a:spcAft>
                <a:spcPts val="0"/>
              </a:spcAft>
              <a:buFont typeface="Wingdings" pitchFamily="-107" charset="2"/>
              <a:buNone/>
              <a:defRPr/>
            </a:pPr>
            <a:r>
              <a:rPr lang="en-US" dirty="0">
                <a:effectLst>
                  <a:outerShdw blurRad="38100" dist="38100" dir="2700000" algn="tl">
                    <a:srgbClr val="000000">
                      <a:alpha val="43137"/>
                    </a:srgbClr>
                  </a:outerShdw>
                </a:effectLst>
              </a:rPr>
              <a:t>	</a:t>
            </a:r>
            <a:r>
              <a:rPr lang="en-US" sz="2800" dirty="0">
                <a:effectLst>
                  <a:outerShdw blurRad="38100" dist="38100" dir="2700000" algn="tl">
                    <a:srgbClr val="000000">
                      <a:alpha val="43137"/>
                    </a:srgbClr>
                  </a:outerShdw>
                </a:effectLst>
              </a:rPr>
              <a:t>The National Institute of Standards and technology (NIST) Computer Security Handbook defines the term Computer Security as: </a:t>
            </a:r>
          </a:p>
          <a:p>
            <a:pPr fontAlgn="auto">
              <a:spcAft>
                <a:spcPts val="0"/>
              </a:spcAft>
              <a:buFont typeface="Wingdings" pitchFamily="-107" charset="2"/>
              <a:buNone/>
              <a:defRPr/>
            </a:pPr>
            <a:r>
              <a:rPr lang="en-US" dirty="0">
                <a:solidFill>
                  <a:srgbClr val="92D050"/>
                </a:solidFill>
                <a:effectLst>
                  <a:outerShdw blurRad="38100" dist="38100" dir="2700000" algn="tl">
                    <a:srgbClr val="000000">
                      <a:alpha val="43137"/>
                    </a:srgbClr>
                  </a:outerShdw>
                </a:effectLst>
              </a:rPr>
              <a:t>	</a:t>
            </a:r>
            <a:r>
              <a:rPr lang="en-US" sz="2800" dirty="0">
                <a:solidFill>
                  <a:srgbClr val="92D050"/>
                </a:solidFill>
                <a:effectLst>
                  <a:outerShdw blurRad="38100" dist="38100" dir="2700000" algn="tl">
                    <a:srgbClr val="000000">
                      <a:alpha val="43137"/>
                    </a:srgbClr>
                  </a:outerShdw>
                </a:effectLst>
              </a:rPr>
              <a:t>“The protection afforded to an automated information system in order to attain the applicable objectives of preserving the integrity, availability and confidentiality of information system resources” (includes hardware, software, firmware, information/data, and telecommunications).</a:t>
            </a:r>
            <a:endParaRPr lang="en-AU" sz="2800" dirty="0">
              <a:solidFill>
                <a:srgbClr val="92D050"/>
              </a:solidFill>
              <a:effectLst>
                <a:outerShdw blurRad="38100" dist="38100" dir="2700000" algn="tl">
                  <a:srgbClr val="000000">
                    <a:alpha val="43137"/>
                  </a:srgbClr>
                </a:outerShdw>
              </a:effectLst>
              <a:latin typeface="Times" pitchFamily="-107" charset="0"/>
            </a:endParaRPr>
          </a:p>
        </p:txBody>
      </p:sp>
      <p:sp>
        <p:nvSpPr>
          <p:cNvPr id="2" name="Rectangle 1"/>
          <p:cNvSpPr/>
          <p:nvPr/>
        </p:nvSpPr>
        <p:spPr>
          <a:xfrm>
            <a:off x="4174700" y="5390562"/>
            <a:ext cx="3258196" cy="1200329"/>
          </a:xfrm>
          <a:prstGeom prst="rect">
            <a:avLst/>
          </a:prstGeom>
        </p:spPr>
        <p:txBody>
          <a:bodyPr wrap="square">
            <a:spAutoFit/>
          </a:bodyPr>
          <a:lstStyle/>
          <a:p>
            <a:r>
              <a:rPr lang="en-US" dirty="0"/>
              <a:t>You can't say "I didn't do it" or "I didn't send that message" if there's evidence proving you did. </a:t>
            </a:r>
            <a:endParaRPr lang="en-IN" dirty="0"/>
          </a:p>
        </p:txBody>
      </p:sp>
      <p:pic>
        <p:nvPicPr>
          <p:cNvPr id="1027" name="Picture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808832" y="4398256"/>
            <a:ext cx="3526107" cy="24597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4619337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1"/>
          <p:cNvSpPr txBox="1">
            <a:spLocks noChangeArrowheads="1"/>
          </p:cNvSpPr>
          <p:nvPr/>
        </p:nvSpPr>
        <p:spPr bwMode="auto">
          <a:xfrm>
            <a:off x="914400" y="609600"/>
            <a:ext cx="10360025"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9pPr>
          </a:lstStyle>
          <a:p>
            <a:pPr algn="ctr">
              <a:buClrTx/>
              <a:buFontTx/>
              <a:buNone/>
            </a:pPr>
            <a:r>
              <a:rPr lang="en-US" altLang="en-US" sz="4400">
                <a:solidFill>
                  <a:srgbClr val="000000"/>
                </a:solidFill>
              </a:rPr>
              <a:t>Confidentiality</a:t>
            </a:r>
          </a:p>
        </p:txBody>
      </p:sp>
      <p:sp>
        <p:nvSpPr>
          <p:cNvPr id="11267" name="Text Box 2"/>
          <p:cNvSpPr txBox="1">
            <a:spLocks noChangeArrowheads="1"/>
          </p:cNvSpPr>
          <p:nvPr/>
        </p:nvSpPr>
        <p:spPr bwMode="auto">
          <a:xfrm>
            <a:off x="914400" y="1981200"/>
            <a:ext cx="10360025"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1313" indent="-341313">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bg1"/>
                </a:solidFill>
                <a:latin typeface="Times New Roman" pitchFamily="16" charset="0"/>
                <a:ea typeface="WenQuanYi Micro Hei" charset="0"/>
                <a:cs typeface="WenQuanYi Micro Hei" charset="0"/>
              </a:defRPr>
            </a:lvl1pPr>
            <a:lvl2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bg1"/>
                </a:solidFill>
                <a:latin typeface="Times New Roman" pitchFamily="16" charset="0"/>
                <a:ea typeface="WenQuanYi Micro Hei" charset="0"/>
                <a:cs typeface="WenQuanYi Micro Hei"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bg1"/>
                </a:solidFill>
                <a:latin typeface="Times New Roman" pitchFamily="16" charset="0"/>
                <a:ea typeface="WenQuanYi Micro Hei" charset="0"/>
                <a:cs typeface="WenQuanYi Micro Hei"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bg1"/>
                </a:solidFill>
                <a:latin typeface="Times New Roman" pitchFamily="16" charset="0"/>
                <a:ea typeface="WenQuanYi Micro Hei" charset="0"/>
                <a:cs typeface="WenQuanYi Micro Hei"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bg1"/>
                </a:solidFill>
                <a:latin typeface="Times New Roman" pitchFamily="16" charset="0"/>
                <a:ea typeface="WenQuanYi Micro Hei"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bg1"/>
                </a:solidFill>
                <a:latin typeface="Times New Roman" pitchFamily="16" charset="0"/>
                <a:ea typeface="WenQuanYi Micro Hei"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bg1"/>
                </a:solidFill>
                <a:latin typeface="Times New Roman" pitchFamily="16" charset="0"/>
                <a:ea typeface="WenQuanYi Micro Hei"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bg1"/>
                </a:solidFill>
                <a:latin typeface="Times New Roman" pitchFamily="16" charset="0"/>
                <a:ea typeface="WenQuanYi Micro Hei"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bg1"/>
                </a:solidFill>
                <a:latin typeface="Times New Roman" pitchFamily="16" charset="0"/>
                <a:ea typeface="WenQuanYi Micro Hei" charset="0"/>
                <a:cs typeface="WenQuanYi Micro Hei" charset="0"/>
              </a:defRPr>
            </a:lvl9pPr>
          </a:lstStyle>
          <a:p>
            <a:pPr>
              <a:spcBef>
                <a:spcPts val="800"/>
              </a:spcBef>
              <a:buFont typeface="Times New Roman" pitchFamily="16" charset="0"/>
              <a:buChar char="•"/>
            </a:pPr>
            <a:r>
              <a:rPr lang="en-US" altLang="en-US" sz="3200">
                <a:solidFill>
                  <a:srgbClr val="000000"/>
                </a:solidFill>
              </a:rPr>
              <a:t>It ensures that computer-related assets are accessed only by authorized parties</a:t>
            </a:r>
          </a:p>
          <a:p>
            <a:pPr>
              <a:spcBef>
                <a:spcPts val="800"/>
              </a:spcBef>
              <a:buFont typeface="Times New Roman" pitchFamily="16" charset="0"/>
              <a:buChar char="•"/>
            </a:pPr>
            <a:r>
              <a:rPr lang="en-US" altLang="en-US" sz="3200">
                <a:solidFill>
                  <a:srgbClr val="000000"/>
                </a:solidFill>
              </a:rPr>
              <a:t>Access means reading, viewing, printing, or simply knowing that a particular asset exists</a:t>
            </a:r>
          </a:p>
          <a:p>
            <a:pPr>
              <a:spcBef>
                <a:spcPts val="800"/>
              </a:spcBef>
              <a:buFont typeface="Times New Roman" pitchFamily="16" charset="0"/>
              <a:buChar char="•"/>
            </a:pPr>
            <a:r>
              <a:rPr lang="en-US" altLang="en-US" sz="3200">
                <a:solidFill>
                  <a:srgbClr val="000000"/>
                </a:solidFill>
              </a:rPr>
              <a:t>It is sometimes also called secrecy or privacy</a:t>
            </a:r>
          </a:p>
        </p:txBody>
      </p:sp>
    </p:spTree>
    <p:extLst>
      <p:ext uri="{BB962C8B-B14F-4D97-AF65-F5344CB8AC3E}">
        <p14:creationId xmlns:p14="http://schemas.microsoft.com/office/powerpoint/2010/main" val="334563214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1"/>
          <p:cNvSpPr txBox="1">
            <a:spLocks noChangeArrowheads="1"/>
          </p:cNvSpPr>
          <p:nvPr/>
        </p:nvSpPr>
        <p:spPr bwMode="auto">
          <a:xfrm>
            <a:off x="914400" y="609600"/>
            <a:ext cx="10360025"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9pPr>
          </a:lstStyle>
          <a:p>
            <a:pPr algn="ctr">
              <a:buClrTx/>
              <a:buFontTx/>
              <a:buNone/>
            </a:pPr>
            <a:r>
              <a:rPr lang="en-US" altLang="en-US" sz="4400">
                <a:solidFill>
                  <a:srgbClr val="000000"/>
                </a:solidFill>
              </a:rPr>
              <a:t>Integrity</a:t>
            </a:r>
          </a:p>
        </p:txBody>
      </p:sp>
      <p:sp>
        <p:nvSpPr>
          <p:cNvPr id="12291" name="Text Box 2"/>
          <p:cNvSpPr txBox="1">
            <a:spLocks noChangeArrowheads="1"/>
          </p:cNvSpPr>
          <p:nvPr/>
        </p:nvSpPr>
        <p:spPr bwMode="auto">
          <a:xfrm>
            <a:off x="914400" y="1981200"/>
            <a:ext cx="10360025"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1313" indent="-341313">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bg1"/>
                </a:solidFill>
                <a:latin typeface="Times New Roman" pitchFamily="16" charset="0"/>
                <a:ea typeface="WenQuanYi Micro Hei" charset="0"/>
                <a:cs typeface="WenQuanYi Micro Hei" charset="0"/>
              </a:defRPr>
            </a:lvl1pPr>
            <a:lvl2pPr marL="741363" indent="-284163">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bg1"/>
                </a:solidFill>
                <a:latin typeface="Times New Roman" pitchFamily="16" charset="0"/>
                <a:ea typeface="WenQuanYi Micro Hei" charset="0"/>
                <a:cs typeface="WenQuanYi Micro Hei"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bg1"/>
                </a:solidFill>
                <a:latin typeface="Times New Roman" pitchFamily="16" charset="0"/>
                <a:ea typeface="WenQuanYi Micro Hei" charset="0"/>
                <a:cs typeface="WenQuanYi Micro Hei"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bg1"/>
                </a:solidFill>
                <a:latin typeface="Times New Roman" pitchFamily="16" charset="0"/>
                <a:ea typeface="WenQuanYi Micro Hei" charset="0"/>
                <a:cs typeface="WenQuanYi Micro Hei"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bg1"/>
                </a:solidFill>
                <a:latin typeface="Times New Roman" pitchFamily="16" charset="0"/>
                <a:ea typeface="WenQuanYi Micro Hei"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bg1"/>
                </a:solidFill>
                <a:latin typeface="Times New Roman" pitchFamily="16" charset="0"/>
                <a:ea typeface="WenQuanYi Micro Hei"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bg1"/>
                </a:solidFill>
                <a:latin typeface="Times New Roman" pitchFamily="16" charset="0"/>
                <a:ea typeface="WenQuanYi Micro Hei"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bg1"/>
                </a:solidFill>
                <a:latin typeface="Times New Roman" pitchFamily="16" charset="0"/>
                <a:ea typeface="WenQuanYi Micro Hei"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bg1"/>
                </a:solidFill>
                <a:latin typeface="Times New Roman" pitchFamily="16" charset="0"/>
                <a:ea typeface="WenQuanYi Micro Hei" charset="0"/>
                <a:cs typeface="WenQuanYi Micro Hei" charset="0"/>
              </a:defRPr>
            </a:lvl9pPr>
          </a:lstStyle>
          <a:p>
            <a:pPr>
              <a:spcBef>
                <a:spcPts val="800"/>
              </a:spcBef>
              <a:buFont typeface="Times New Roman" pitchFamily="16" charset="0"/>
              <a:buChar char="•"/>
            </a:pPr>
            <a:r>
              <a:rPr lang="en-US" altLang="en-US" sz="3200">
                <a:solidFill>
                  <a:srgbClr val="000000"/>
                </a:solidFill>
              </a:rPr>
              <a:t>It means that assets can be modified only by authorized parties only in authorized ways.</a:t>
            </a:r>
          </a:p>
          <a:p>
            <a:pPr>
              <a:spcBef>
                <a:spcPts val="800"/>
              </a:spcBef>
              <a:buFont typeface="Times New Roman" pitchFamily="16" charset="0"/>
              <a:buChar char="•"/>
            </a:pPr>
            <a:r>
              <a:rPr lang="en-US" altLang="en-US" sz="3200">
                <a:solidFill>
                  <a:srgbClr val="000000"/>
                </a:solidFill>
              </a:rPr>
              <a:t>The integrity of an item is preserved if it is:</a:t>
            </a:r>
          </a:p>
          <a:p>
            <a:pPr lvl="1">
              <a:spcBef>
                <a:spcPts val="700"/>
              </a:spcBef>
              <a:buFont typeface="Times New Roman" pitchFamily="16" charset="0"/>
              <a:buChar char="–"/>
            </a:pPr>
            <a:r>
              <a:rPr lang="en-US" altLang="en-US" sz="2800">
                <a:solidFill>
                  <a:srgbClr val="000000"/>
                </a:solidFill>
              </a:rPr>
              <a:t>Precise, accurate, unmodified, modified only in acceptable ways, modified by authorized people, modified by authorized processes, consistent, meaningful and usable.</a:t>
            </a:r>
          </a:p>
        </p:txBody>
      </p:sp>
    </p:spTree>
    <p:extLst>
      <p:ext uri="{BB962C8B-B14F-4D97-AF65-F5344CB8AC3E}">
        <p14:creationId xmlns:p14="http://schemas.microsoft.com/office/powerpoint/2010/main" val="3051430964"/>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Box 1"/>
          <p:cNvSpPr txBox="1">
            <a:spLocks noChangeArrowheads="1"/>
          </p:cNvSpPr>
          <p:nvPr/>
        </p:nvSpPr>
        <p:spPr bwMode="auto">
          <a:xfrm>
            <a:off x="914400" y="609600"/>
            <a:ext cx="10360025"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9pPr>
          </a:lstStyle>
          <a:p>
            <a:pPr algn="ctr">
              <a:buClrTx/>
              <a:buFontTx/>
              <a:buNone/>
            </a:pPr>
            <a:r>
              <a:rPr lang="en-US" altLang="en-US" sz="4400">
                <a:solidFill>
                  <a:srgbClr val="000000"/>
                </a:solidFill>
              </a:rPr>
              <a:t>Availability</a:t>
            </a:r>
          </a:p>
        </p:txBody>
      </p:sp>
      <p:sp>
        <p:nvSpPr>
          <p:cNvPr id="13315" name="Text Box 2"/>
          <p:cNvSpPr txBox="1">
            <a:spLocks noChangeArrowheads="1"/>
          </p:cNvSpPr>
          <p:nvPr/>
        </p:nvSpPr>
        <p:spPr bwMode="auto">
          <a:xfrm>
            <a:off x="914400" y="1981200"/>
            <a:ext cx="10360025"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1313" indent="-341313">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bg1"/>
                </a:solidFill>
                <a:latin typeface="Times New Roman" pitchFamily="16" charset="0"/>
                <a:ea typeface="WenQuanYi Micro Hei" charset="0"/>
                <a:cs typeface="WenQuanYi Micro Hei" charset="0"/>
              </a:defRPr>
            </a:lvl1pPr>
            <a:lvl2pPr marL="741363" indent="-284163">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bg1"/>
                </a:solidFill>
                <a:latin typeface="Times New Roman" pitchFamily="16" charset="0"/>
                <a:ea typeface="WenQuanYi Micro Hei" charset="0"/>
                <a:cs typeface="WenQuanYi Micro Hei"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bg1"/>
                </a:solidFill>
                <a:latin typeface="Times New Roman" pitchFamily="16" charset="0"/>
                <a:ea typeface="WenQuanYi Micro Hei" charset="0"/>
                <a:cs typeface="WenQuanYi Micro Hei"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bg1"/>
                </a:solidFill>
                <a:latin typeface="Times New Roman" pitchFamily="16" charset="0"/>
                <a:ea typeface="WenQuanYi Micro Hei" charset="0"/>
                <a:cs typeface="WenQuanYi Micro Hei"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bg1"/>
                </a:solidFill>
                <a:latin typeface="Times New Roman" pitchFamily="16" charset="0"/>
                <a:ea typeface="WenQuanYi Micro Hei"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bg1"/>
                </a:solidFill>
                <a:latin typeface="Times New Roman" pitchFamily="16" charset="0"/>
                <a:ea typeface="WenQuanYi Micro Hei"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bg1"/>
                </a:solidFill>
                <a:latin typeface="Times New Roman" pitchFamily="16" charset="0"/>
                <a:ea typeface="WenQuanYi Micro Hei"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bg1"/>
                </a:solidFill>
                <a:latin typeface="Times New Roman" pitchFamily="16" charset="0"/>
                <a:ea typeface="WenQuanYi Micro Hei"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bg1"/>
                </a:solidFill>
                <a:latin typeface="Times New Roman" pitchFamily="16" charset="0"/>
                <a:ea typeface="WenQuanYi Micro Hei" charset="0"/>
                <a:cs typeface="WenQuanYi Micro Hei" charset="0"/>
              </a:defRPr>
            </a:lvl9pPr>
          </a:lstStyle>
          <a:p>
            <a:pPr>
              <a:spcBef>
                <a:spcPts val="800"/>
              </a:spcBef>
              <a:buFont typeface="Times New Roman" pitchFamily="16" charset="0"/>
              <a:buChar char="•"/>
            </a:pPr>
            <a:r>
              <a:rPr lang="en-US" altLang="en-US" sz="3200">
                <a:solidFill>
                  <a:srgbClr val="000000"/>
                </a:solidFill>
              </a:rPr>
              <a:t>It applies to both data and data processing</a:t>
            </a:r>
          </a:p>
          <a:p>
            <a:pPr>
              <a:spcBef>
                <a:spcPts val="800"/>
              </a:spcBef>
              <a:buFont typeface="Times New Roman" pitchFamily="16" charset="0"/>
              <a:buChar char="•"/>
            </a:pPr>
            <a:r>
              <a:rPr lang="en-US" altLang="en-US" sz="3200">
                <a:solidFill>
                  <a:srgbClr val="000000"/>
                </a:solidFill>
              </a:rPr>
              <a:t>A data item, service or system is available if </a:t>
            </a:r>
          </a:p>
          <a:p>
            <a:pPr lvl="1">
              <a:spcBef>
                <a:spcPts val="700"/>
              </a:spcBef>
              <a:buFont typeface="Times New Roman" pitchFamily="16" charset="0"/>
              <a:buChar char="–"/>
            </a:pPr>
            <a:r>
              <a:rPr lang="en-US" altLang="en-US" sz="2800">
                <a:solidFill>
                  <a:srgbClr val="000000"/>
                </a:solidFill>
              </a:rPr>
              <a:t>There is a timely response to our request</a:t>
            </a:r>
          </a:p>
          <a:p>
            <a:pPr lvl="1">
              <a:spcBef>
                <a:spcPts val="700"/>
              </a:spcBef>
              <a:buFont typeface="Times New Roman" pitchFamily="16" charset="0"/>
              <a:buChar char="–"/>
            </a:pPr>
            <a:r>
              <a:rPr lang="en-US" altLang="en-US" sz="2800">
                <a:solidFill>
                  <a:srgbClr val="000000"/>
                </a:solidFill>
              </a:rPr>
              <a:t>Fair to all i.e. some requesters are not favored over others</a:t>
            </a:r>
          </a:p>
          <a:p>
            <a:pPr lvl="1">
              <a:spcBef>
                <a:spcPts val="700"/>
              </a:spcBef>
              <a:buFont typeface="Times New Roman" pitchFamily="16" charset="0"/>
              <a:buChar char="–"/>
            </a:pPr>
            <a:r>
              <a:rPr lang="en-US" altLang="en-US" sz="2800">
                <a:solidFill>
                  <a:srgbClr val="000000"/>
                </a:solidFill>
              </a:rPr>
              <a:t>Fault tolerant</a:t>
            </a:r>
          </a:p>
          <a:p>
            <a:pPr lvl="1">
              <a:spcBef>
                <a:spcPts val="700"/>
              </a:spcBef>
              <a:buFont typeface="Times New Roman" pitchFamily="16" charset="0"/>
              <a:buChar char="–"/>
            </a:pPr>
            <a:r>
              <a:rPr lang="en-US" altLang="en-US" sz="2800">
                <a:solidFill>
                  <a:srgbClr val="000000"/>
                </a:solidFill>
              </a:rPr>
              <a:t>There is controlled concurrency, deadlock management, and exclusive access as required</a:t>
            </a:r>
          </a:p>
        </p:txBody>
      </p:sp>
    </p:spTree>
    <p:extLst>
      <p:ext uri="{BB962C8B-B14F-4D97-AF65-F5344CB8AC3E}">
        <p14:creationId xmlns:p14="http://schemas.microsoft.com/office/powerpoint/2010/main" val="4058438277"/>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Access Control</a:t>
            </a:r>
          </a:p>
        </p:txBody>
      </p:sp>
      <p:pic>
        <p:nvPicPr>
          <p:cNvPr id="6" name="Content Placeholder 5" descr="fig01-06.eps"/>
          <p:cNvPicPr>
            <a:picLocks noGrp="1" noChangeAspect="1"/>
          </p:cNvPicPr>
          <p:nvPr>
            <p:ph idx="1"/>
          </p:nvPr>
        </p:nvPicPr>
        <p:blipFill rotWithShape="1">
          <a:blip r:embed="rId3">
            <a:extLst>
              <a:ext uri="{28A0092B-C50C-407E-A947-70E740481C1C}">
                <a14:useLocalDpi xmlns:a14="http://schemas.microsoft.com/office/drawing/2010/main" val="0"/>
              </a:ext>
            </a:extLst>
          </a:blip>
          <a:stretch/>
        </p:blipFill>
        <p:spPr>
          <a:xfrm>
            <a:off x="1921691" y="1667086"/>
            <a:ext cx="8328371" cy="4572000"/>
          </a:xfrm>
        </p:spPr>
      </p:pic>
      <p:sp>
        <p:nvSpPr>
          <p:cNvPr id="3" name="Slide Number Placeholder 2"/>
          <p:cNvSpPr>
            <a:spLocks noGrp="1"/>
          </p:cNvSpPr>
          <p:nvPr>
            <p:ph type="sldNum" sz="quarter" idx="12"/>
          </p:nvPr>
        </p:nvSpPr>
        <p:spPr/>
        <p:txBody>
          <a:bodyPr/>
          <a:lstStyle/>
          <a:p>
            <a:fld id="{5BFA158B-7C94-F543-87DB-41F59EA4FAFA}" type="slidenum">
              <a:rPr lang="en-US" smtClean="0">
                <a:latin typeface="Arial"/>
              </a:rPr>
              <a:pPr/>
              <a:t>9</a:t>
            </a:fld>
            <a:endParaRPr lang="en-US">
              <a:latin typeface="Arial"/>
            </a:endParaRPr>
          </a:p>
        </p:txBody>
      </p:sp>
    </p:spTree>
    <p:extLst>
      <p:ext uri="{BB962C8B-B14F-4D97-AF65-F5344CB8AC3E}">
        <p14:creationId xmlns:p14="http://schemas.microsoft.com/office/powerpoint/2010/main" val="388246770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 Kinds </a:t>
            </a:r>
            <a:r>
              <a:rPr lang="en-US" dirty="0"/>
              <a:t>of Threats</a:t>
            </a:r>
          </a:p>
        </p:txBody>
      </p:sp>
      <p:sp>
        <p:nvSpPr>
          <p:cNvPr id="3" name="Slide Number Placeholder 2"/>
          <p:cNvSpPr>
            <a:spLocks noGrp="1"/>
          </p:cNvSpPr>
          <p:nvPr>
            <p:ph type="sldNum" sz="quarter" idx="12"/>
          </p:nvPr>
        </p:nvSpPr>
        <p:spPr/>
        <p:txBody>
          <a:bodyPr/>
          <a:lstStyle/>
          <a:p>
            <a:fld id="{FD01F0F2-74A4-EF40-82B3-DFFDF0BA3880}" type="slidenum">
              <a:rPr lang="en-US" smtClean="0">
                <a:latin typeface="Arial"/>
              </a:rPr>
              <a:pPr/>
              <a:t>10</a:t>
            </a:fld>
            <a:endParaRPr lang="en-US">
              <a:latin typeface="Arial"/>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06563" y="1315771"/>
            <a:ext cx="6095184" cy="51440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4591716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Advanced Persistent Threat (APT)</a:t>
            </a:r>
          </a:p>
        </p:txBody>
      </p:sp>
      <p:sp>
        <p:nvSpPr>
          <p:cNvPr id="3" name="Text Placeholder 2"/>
          <p:cNvSpPr>
            <a:spLocks noGrp="1"/>
          </p:cNvSpPr>
          <p:nvPr>
            <p:ph type="body" idx="1"/>
          </p:nvPr>
        </p:nvSpPr>
        <p:spPr/>
        <p:txBody>
          <a:bodyPr/>
          <a:lstStyle/>
          <a:p>
            <a:r>
              <a:rPr lang="en-US" dirty="0"/>
              <a:t>Organized</a:t>
            </a:r>
          </a:p>
          <a:p>
            <a:r>
              <a:rPr lang="en-US" dirty="0"/>
              <a:t>Directed</a:t>
            </a:r>
          </a:p>
          <a:p>
            <a:r>
              <a:rPr lang="en-US" dirty="0"/>
              <a:t>Well financed</a:t>
            </a:r>
          </a:p>
          <a:p>
            <a:r>
              <a:rPr lang="en-US" dirty="0"/>
              <a:t>Patient</a:t>
            </a:r>
          </a:p>
          <a:p>
            <a:r>
              <a:rPr lang="en-US" dirty="0"/>
              <a:t>Silent</a:t>
            </a:r>
          </a:p>
        </p:txBody>
      </p:sp>
      <p:sp>
        <p:nvSpPr>
          <p:cNvPr id="5" name="Footer Placeholder 4"/>
          <p:cNvSpPr>
            <a:spLocks noGrp="1"/>
          </p:cNvSpPr>
          <p:nvPr>
            <p:ph type="ftr" sz="quarter" idx="11"/>
          </p:nvPr>
        </p:nvSpPr>
        <p:spPr/>
        <p:txBody>
          <a:bodyPr/>
          <a:lstStyle/>
          <a:p>
            <a:endParaRPr lang="en-US" dirty="0">
              <a:latin typeface="Arial"/>
            </a:endParaRPr>
          </a:p>
        </p:txBody>
      </p:sp>
      <p:sp>
        <p:nvSpPr>
          <p:cNvPr id="4" name="Slide Number Placeholder 3"/>
          <p:cNvSpPr>
            <a:spLocks noGrp="1"/>
          </p:cNvSpPr>
          <p:nvPr>
            <p:ph type="sldNum" sz="quarter" idx="12"/>
          </p:nvPr>
        </p:nvSpPr>
        <p:spPr/>
        <p:txBody>
          <a:bodyPr/>
          <a:lstStyle/>
          <a:p>
            <a:fld id="{FD01F0F2-74A4-EF40-82B3-DFFDF0BA3880}" type="slidenum">
              <a:rPr lang="en-US" smtClean="0">
                <a:latin typeface="Arial"/>
              </a:rPr>
              <a:pPr/>
              <a:t>11</a:t>
            </a:fld>
            <a:endParaRPr lang="en-US">
              <a:latin typeface="Arial"/>
            </a:endParaRPr>
          </a:p>
        </p:txBody>
      </p:sp>
      <p:sp>
        <p:nvSpPr>
          <p:cNvPr id="7" name="TextBox 6">
            <a:extLst>
              <a:ext uri="{FF2B5EF4-FFF2-40B4-BE49-F238E27FC236}">
                <a16:creationId xmlns="" xmlns:a16="http://schemas.microsoft.com/office/drawing/2014/main" id="{82C61716-1C9B-5CA8-BA8F-F5D1B79944A5}"/>
              </a:ext>
            </a:extLst>
          </p:cNvPr>
          <p:cNvSpPr txBox="1"/>
          <p:nvPr/>
        </p:nvSpPr>
        <p:spPr>
          <a:xfrm>
            <a:off x="609441" y="3997694"/>
            <a:ext cx="5375072" cy="2031325"/>
          </a:xfrm>
          <a:prstGeom prst="rect">
            <a:avLst/>
          </a:prstGeom>
          <a:noFill/>
        </p:spPr>
        <p:txBody>
          <a:bodyPr wrap="square">
            <a:spAutoFit/>
          </a:bodyPr>
          <a:lstStyle/>
          <a:p>
            <a:r>
              <a:rPr lang="en-US" dirty="0"/>
              <a:t>APT is a special type of threat that has only</a:t>
            </a:r>
            <a:r>
              <a:rPr lang="en-US" baseline="0" dirty="0"/>
              <a:t> been taken </a:t>
            </a:r>
            <a:r>
              <a:rPr lang="en-US" b="1" baseline="0" dirty="0"/>
              <a:t>seriously</a:t>
            </a:r>
            <a:r>
              <a:rPr lang="en-US" baseline="0" dirty="0"/>
              <a:t> by the broad security community over the past decade. </a:t>
            </a:r>
            <a:endParaRPr lang="en-US" baseline="0" dirty="0" smtClean="0"/>
          </a:p>
          <a:p>
            <a:endParaRPr lang="en-US" dirty="0"/>
          </a:p>
          <a:p>
            <a:r>
              <a:rPr lang="en-US" baseline="0" dirty="0" smtClean="0"/>
              <a:t>In </a:t>
            </a:r>
            <a:r>
              <a:rPr lang="en-US" baseline="0" dirty="0"/>
              <a:t>general, security experts believe that no one who becomes a high-priority target can truly be safe from APT.</a:t>
            </a:r>
            <a:endParaRPr lang="en-US" dirty="0"/>
          </a:p>
        </p:txBody>
      </p:sp>
      <p:pic>
        <p:nvPicPr>
          <p:cNvPr id="9218" name="Picture 2">
            <a:extLst>
              <a:ext uri="{FF2B5EF4-FFF2-40B4-BE49-F238E27FC236}">
                <a16:creationId xmlns="" xmlns:a16="http://schemas.microsoft.com/office/drawing/2014/main" id="{6847CD42-31BB-7CCD-5C0F-AF7B874363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84513" y="1258432"/>
            <a:ext cx="5685404" cy="52185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804983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441" y="533401"/>
            <a:ext cx="10969943" cy="455951"/>
          </a:xfrm>
        </p:spPr>
        <p:txBody>
          <a:bodyPr>
            <a:normAutofit fontScale="90000"/>
          </a:bodyPr>
          <a:lstStyle/>
          <a:p>
            <a:r>
              <a:rPr lang="en-US" dirty="0"/>
              <a:t>Types of Attackers</a:t>
            </a:r>
          </a:p>
        </p:txBody>
      </p:sp>
      <p:pic>
        <p:nvPicPr>
          <p:cNvPr id="6" name="Content Placeholder 5" descr="fig01-10.eps"/>
          <p:cNvPicPr>
            <a:picLocks noGrp="1" noChangeAspect="1"/>
          </p:cNvPicPr>
          <p:nvPr>
            <p:ph idx="1"/>
          </p:nvPr>
        </p:nvPicPr>
        <p:blipFill rotWithShape="1">
          <a:blip r:embed="rId3">
            <a:extLst>
              <a:ext uri="{28A0092B-C50C-407E-A947-70E740481C1C}">
                <a14:useLocalDpi xmlns:a14="http://schemas.microsoft.com/office/drawing/2010/main" val="0"/>
              </a:ext>
            </a:extLst>
          </a:blip>
          <a:srcRect t="-1406" b="-1906"/>
          <a:stretch/>
        </p:blipFill>
        <p:spPr>
          <a:xfrm>
            <a:off x="354520" y="1524001"/>
            <a:ext cx="5739893" cy="3842479"/>
          </a:xfrm>
        </p:spPr>
      </p:pic>
      <p:sp>
        <p:nvSpPr>
          <p:cNvPr id="3" name="Slide Number Placeholder 2"/>
          <p:cNvSpPr>
            <a:spLocks noGrp="1"/>
          </p:cNvSpPr>
          <p:nvPr>
            <p:ph type="sldNum" sz="quarter" idx="12"/>
          </p:nvPr>
        </p:nvSpPr>
        <p:spPr/>
        <p:txBody>
          <a:bodyPr/>
          <a:lstStyle/>
          <a:p>
            <a:fld id="{5BFA158B-7C94-F543-87DB-41F59EA4FAFA}" type="slidenum">
              <a:rPr lang="en-US" smtClean="0">
                <a:latin typeface="Arial"/>
              </a:rPr>
              <a:pPr/>
              <a:t>12</a:t>
            </a:fld>
            <a:endParaRPr lang="en-US">
              <a:latin typeface="Arial"/>
            </a:endParaRPr>
          </a:p>
        </p:txBody>
      </p:sp>
      <p:sp>
        <p:nvSpPr>
          <p:cNvPr id="7" name="TextBox 6">
            <a:extLst>
              <a:ext uri="{FF2B5EF4-FFF2-40B4-BE49-F238E27FC236}">
                <a16:creationId xmlns="" xmlns:a16="http://schemas.microsoft.com/office/drawing/2014/main" id="{4455E595-214D-ABE0-AF97-8E9833216BE9}"/>
              </a:ext>
            </a:extLst>
          </p:cNvPr>
          <p:cNvSpPr txBox="1"/>
          <p:nvPr/>
        </p:nvSpPr>
        <p:spPr>
          <a:xfrm>
            <a:off x="354520" y="5658470"/>
            <a:ext cx="6019636" cy="954107"/>
          </a:xfrm>
          <a:prstGeom prst="rect">
            <a:avLst/>
          </a:prstGeom>
          <a:noFill/>
        </p:spPr>
        <p:txBody>
          <a:bodyPr wrap="square">
            <a:spAutoFit/>
          </a:bodyPr>
          <a:lstStyle/>
          <a:p>
            <a:r>
              <a:rPr lang="en-US" sz="1400" dirty="0"/>
              <a:t>Each of these attacker types is associated with a different set of resources,</a:t>
            </a:r>
            <a:r>
              <a:rPr lang="en-US" sz="1400" baseline="0" dirty="0"/>
              <a:t> capabilities</a:t>
            </a:r>
            <a:r>
              <a:rPr lang="en-US" sz="1400" dirty="0"/>
              <a:t> &amp; </a:t>
            </a:r>
            <a:r>
              <a:rPr lang="en-US" sz="1400" baseline="0" dirty="0"/>
              <a:t>motivations.</a:t>
            </a:r>
          </a:p>
          <a:p>
            <a:endParaRPr lang="en-US" sz="1400" dirty="0"/>
          </a:p>
          <a:p>
            <a:r>
              <a:rPr lang="en-US" sz="1400" baseline="0" dirty="0"/>
              <a:t>Understanding the different types will help later in considering threats.</a:t>
            </a:r>
            <a:endParaRPr lang="en-US" sz="1400" dirty="0"/>
          </a:p>
        </p:txBody>
      </p:sp>
      <p:pic>
        <p:nvPicPr>
          <p:cNvPr id="8194" name="Picture 2">
            <a:extLst>
              <a:ext uri="{FF2B5EF4-FFF2-40B4-BE49-F238E27FC236}">
                <a16:creationId xmlns="" xmlns:a16="http://schemas.microsoft.com/office/drawing/2014/main" id="{B8B4F468-9F1C-6B32-5743-32CC28119DC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02885" y="1848242"/>
            <a:ext cx="5347689" cy="40118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008997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Harm</a:t>
            </a:r>
          </a:p>
        </p:txBody>
      </p:sp>
      <p:pic>
        <p:nvPicPr>
          <p:cNvPr id="4" name="Picture 3" descr="fig01-05.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81036" y="1261448"/>
            <a:ext cx="6388285" cy="3572657"/>
          </a:xfrm>
          <a:prstGeom prst="rect">
            <a:avLst/>
          </a:prstGeom>
        </p:spPr>
      </p:pic>
      <p:sp>
        <p:nvSpPr>
          <p:cNvPr id="3" name="Slide Number Placeholder 2"/>
          <p:cNvSpPr>
            <a:spLocks noGrp="1"/>
          </p:cNvSpPr>
          <p:nvPr>
            <p:ph type="sldNum" sz="quarter" idx="12"/>
          </p:nvPr>
        </p:nvSpPr>
        <p:spPr/>
        <p:txBody>
          <a:bodyPr/>
          <a:lstStyle/>
          <a:p>
            <a:fld id="{5BFA158B-7C94-F543-87DB-41F59EA4FAFA}" type="slidenum">
              <a:rPr lang="en-US" smtClean="0">
                <a:latin typeface="Arial"/>
              </a:rPr>
              <a:pPr/>
              <a:t>13</a:t>
            </a:fld>
            <a:endParaRPr lang="en-US">
              <a:latin typeface="Arial"/>
            </a:endParaRPr>
          </a:p>
        </p:txBody>
      </p:sp>
      <p:sp>
        <p:nvSpPr>
          <p:cNvPr id="7" name="TextBox 6">
            <a:extLst>
              <a:ext uri="{FF2B5EF4-FFF2-40B4-BE49-F238E27FC236}">
                <a16:creationId xmlns="" xmlns:a16="http://schemas.microsoft.com/office/drawing/2014/main" id="{198ECD01-C8FE-3C81-683D-633439DBB8B0}"/>
              </a:ext>
            </a:extLst>
          </p:cNvPr>
          <p:cNvSpPr txBox="1"/>
          <p:nvPr/>
        </p:nvSpPr>
        <p:spPr>
          <a:xfrm>
            <a:off x="789274" y="5015176"/>
            <a:ext cx="11249687" cy="1200329"/>
          </a:xfrm>
          <a:prstGeom prst="rect">
            <a:avLst/>
          </a:prstGeom>
          <a:noFill/>
        </p:spPr>
        <p:txBody>
          <a:bodyPr wrap="square">
            <a:spAutoFit/>
          </a:bodyPr>
          <a:lstStyle/>
          <a:p>
            <a:pPr algn="just"/>
            <a:r>
              <a:rPr lang="en-US" dirty="0"/>
              <a:t>The negative consequence of an actualized threat is </a:t>
            </a:r>
            <a:r>
              <a:rPr lang="en-US" b="1" dirty="0"/>
              <a:t>harm</a:t>
            </a:r>
            <a:r>
              <a:rPr lang="en-US" dirty="0"/>
              <a:t>; we protect ourselves against</a:t>
            </a:r>
          </a:p>
          <a:p>
            <a:pPr algn="just"/>
            <a:r>
              <a:rPr lang="en-US" dirty="0"/>
              <a:t>threats in order to reduce or eliminate harm. </a:t>
            </a:r>
            <a:endParaRPr lang="en-US" dirty="0" smtClean="0"/>
          </a:p>
          <a:p>
            <a:pPr algn="just"/>
            <a:r>
              <a:rPr lang="en-US" dirty="0">
                <a:solidFill>
                  <a:srgbClr val="FF0000"/>
                </a:solidFill>
              </a:rPr>
              <a:t>E</a:t>
            </a:r>
            <a:r>
              <a:rPr lang="en-US" dirty="0" smtClean="0">
                <a:solidFill>
                  <a:srgbClr val="FF0000"/>
                </a:solidFill>
              </a:rPr>
              <a:t>xamples of computer </a:t>
            </a:r>
            <a:r>
              <a:rPr lang="en-US" dirty="0">
                <a:solidFill>
                  <a:srgbClr val="FF0000"/>
                </a:solidFill>
              </a:rPr>
              <a:t>harm</a:t>
            </a:r>
            <a:r>
              <a:rPr lang="en-US" dirty="0"/>
              <a:t>: a stolen computer, modified or lost file, revealed private letter, or denied</a:t>
            </a:r>
          </a:p>
          <a:p>
            <a:pPr algn="just"/>
            <a:r>
              <a:rPr lang="en-US" dirty="0"/>
              <a:t>access to data. These events cause harm that we want to avoid.</a:t>
            </a:r>
            <a:endParaRPr lang="en-US" dirty="0">
              <a:solidFill>
                <a:srgbClr val="C00000"/>
              </a:solidFill>
            </a:endParaRPr>
          </a:p>
        </p:txBody>
      </p:sp>
    </p:spTree>
    <p:extLst>
      <p:ext uri="{BB962C8B-B14F-4D97-AF65-F5344CB8AC3E}">
        <p14:creationId xmlns:p14="http://schemas.microsoft.com/office/powerpoint/2010/main" val="243487285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ext Box 1"/>
          <p:cNvSpPr txBox="1">
            <a:spLocks noChangeArrowheads="1"/>
          </p:cNvSpPr>
          <p:nvPr/>
        </p:nvSpPr>
        <p:spPr bwMode="auto">
          <a:xfrm>
            <a:off x="914400" y="609600"/>
            <a:ext cx="10360025"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itchFamily="16" charset="0"/>
                <a:ea typeface="WenQuanYi Micro Hei"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itchFamily="16" charset="0"/>
                <a:ea typeface="WenQuanYi Micro Hei"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itchFamily="16" charset="0"/>
                <a:ea typeface="WenQuanYi Micro Hei"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itchFamily="16" charset="0"/>
                <a:ea typeface="WenQuanYi Micro Hei"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itchFamily="16" charset="0"/>
                <a:ea typeface="WenQuanYi Micro Hei"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itchFamily="16" charset="0"/>
                <a:ea typeface="WenQuanYi Micro Hei"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itchFamily="16" charset="0"/>
                <a:ea typeface="WenQuanYi Micro Hei"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itchFamily="16" charset="0"/>
                <a:ea typeface="WenQuanYi Micro Hei"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itchFamily="16" charset="0"/>
                <a:ea typeface="WenQuanYi Micro Hei" charset="0"/>
                <a:cs typeface="WenQuanYi Micro Hei" charset="0"/>
              </a:defRPr>
            </a:lvl9pPr>
          </a:lstStyle>
          <a:p>
            <a:pPr algn="ctr">
              <a:buClrTx/>
              <a:buFontTx/>
              <a:buNone/>
              <a:defRPr/>
            </a:pPr>
            <a:r>
              <a:rPr lang="en-US" sz="4400" dirty="0">
                <a:solidFill>
                  <a:srgbClr val="FF0000"/>
                </a:solidFill>
              </a:rPr>
              <a:t>Types of </a:t>
            </a:r>
            <a:r>
              <a:rPr lang="en-US" sz="4400" dirty="0" smtClean="0">
                <a:solidFill>
                  <a:srgbClr val="FF0000"/>
                </a:solidFill>
              </a:rPr>
              <a:t>Harm: </a:t>
            </a:r>
            <a:r>
              <a:rPr lang="en-US" altLang="en-US" sz="4400" b="1" dirty="0" smtClean="0">
                <a:effectLst>
                  <a:outerShdw blurRad="38100" dist="38100" dir="2700000" algn="tl">
                    <a:srgbClr val="C0C0C0"/>
                  </a:outerShdw>
                </a:effectLst>
                <a:latin typeface="Comic Sans MS" pitchFamily="64" charset="0"/>
              </a:rPr>
              <a:t>Security Attacks</a:t>
            </a:r>
          </a:p>
        </p:txBody>
      </p:sp>
      <p:sp>
        <p:nvSpPr>
          <p:cNvPr id="16387" name="Text Box 2"/>
          <p:cNvSpPr txBox="1">
            <a:spLocks noChangeArrowheads="1"/>
          </p:cNvSpPr>
          <p:nvPr/>
        </p:nvSpPr>
        <p:spPr bwMode="auto">
          <a:xfrm>
            <a:off x="914400" y="1981200"/>
            <a:ext cx="10360025"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1313" indent="-341313">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bg1"/>
                </a:solidFill>
                <a:latin typeface="Times New Roman" pitchFamily="16" charset="0"/>
                <a:ea typeface="WenQuanYi Micro Hei" charset="0"/>
                <a:cs typeface="WenQuanYi Micro Hei" charset="0"/>
              </a:defRPr>
            </a:lvl1pPr>
            <a:lvl2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bg1"/>
                </a:solidFill>
                <a:latin typeface="Times New Roman" pitchFamily="16" charset="0"/>
                <a:ea typeface="WenQuanYi Micro Hei" charset="0"/>
                <a:cs typeface="WenQuanYi Micro Hei"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bg1"/>
                </a:solidFill>
                <a:latin typeface="Times New Roman" pitchFamily="16" charset="0"/>
                <a:ea typeface="WenQuanYi Micro Hei" charset="0"/>
                <a:cs typeface="WenQuanYi Micro Hei"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bg1"/>
                </a:solidFill>
                <a:latin typeface="Times New Roman" pitchFamily="16" charset="0"/>
                <a:ea typeface="WenQuanYi Micro Hei" charset="0"/>
                <a:cs typeface="WenQuanYi Micro Hei"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bg1"/>
                </a:solidFill>
                <a:latin typeface="Times New Roman" pitchFamily="16" charset="0"/>
                <a:ea typeface="WenQuanYi Micro Hei"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bg1"/>
                </a:solidFill>
                <a:latin typeface="Times New Roman" pitchFamily="16" charset="0"/>
                <a:ea typeface="WenQuanYi Micro Hei"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bg1"/>
                </a:solidFill>
                <a:latin typeface="Times New Roman" pitchFamily="16" charset="0"/>
                <a:ea typeface="WenQuanYi Micro Hei"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bg1"/>
                </a:solidFill>
                <a:latin typeface="Times New Roman" pitchFamily="16" charset="0"/>
                <a:ea typeface="WenQuanYi Micro Hei"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bg1"/>
                </a:solidFill>
                <a:latin typeface="Times New Roman" pitchFamily="16" charset="0"/>
                <a:ea typeface="WenQuanYi Micro Hei" charset="0"/>
                <a:cs typeface="WenQuanYi Micro Hei" charset="0"/>
              </a:defRPr>
            </a:lvl9pPr>
          </a:lstStyle>
          <a:p>
            <a:pPr>
              <a:lnSpc>
                <a:spcPct val="90000"/>
              </a:lnSpc>
              <a:spcBef>
                <a:spcPts val="800"/>
              </a:spcBef>
              <a:buFont typeface="Comic Sans MS" pitchFamily="64" charset="0"/>
              <a:buChar char="•"/>
            </a:pPr>
            <a:r>
              <a:rPr lang="en-US" altLang="en-US" sz="3200" b="1">
                <a:solidFill>
                  <a:srgbClr val="000000"/>
                </a:solidFill>
                <a:latin typeface="Comic Sans MS" pitchFamily="64" charset="0"/>
              </a:rPr>
              <a:t>Interruption:</a:t>
            </a:r>
            <a:r>
              <a:rPr lang="en-US" altLang="en-US" sz="3200">
                <a:solidFill>
                  <a:srgbClr val="000000"/>
                </a:solidFill>
                <a:latin typeface="Comic Sans MS" pitchFamily="64" charset="0"/>
              </a:rPr>
              <a:t> This is an attack on availability</a:t>
            </a:r>
          </a:p>
          <a:p>
            <a:pPr>
              <a:lnSpc>
                <a:spcPct val="90000"/>
              </a:lnSpc>
              <a:spcBef>
                <a:spcPts val="800"/>
              </a:spcBef>
              <a:buFont typeface="Comic Sans MS" pitchFamily="64" charset="0"/>
              <a:buChar char="•"/>
            </a:pPr>
            <a:r>
              <a:rPr lang="en-US" altLang="en-US" sz="3200" b="1">
                <a:solidFill>
                  <a:srgbClr val="000000"/>
                </a:solidFill>
                <a:latin typeface="Comic Sans MS" pitchFamily="64" charset="0"/>
              </a:rPr>
              <a:t>Interception:</a:t>
            </a:r>
            <a:r>
              <a:rPr lang="en-US" altLang="en-US" sz="3200">
                <a:solidFill>
                  <a:srgbClr val="000000"/>
                </a:solidFill>
                <a:latin typeface="Comic Sans MS" pitchFamily="64" charset="0"/>
              </a:rPr>
              <a:t> This is an attack on confidentiality</a:t>
            </a:r>
          </a:p>
          <a:p>
            <a:pPr>
              <a:lnSpc>
                <a:spcPct val="90000"/>
              </a:lnSpc>
              <a:spcBef>
                <a:spcPts val="800"/>
              </a:spcBef>
              <a:buFont typeface="Comic Sans MS" pitchFamily="64" charset="0"/>
              <a:buChar char="•"/>
            </a:pPr>
            <a:r>
              <a:rPr lang="en-US" altLang="en-US" sz="3200" b="1">
                <a:solidFill>
                  <a:srgbClr val="000000"/>
                </a:solidFill>
                <a:latin typeface="Comic Sans MS" pitchFamily="64" charset="0"/>
              </a:rPr>
              <a:t>Modification:</a:t>
            </a:r>
            <a:r>
              <a:rPr lang="en-US" altLang="en-US" sz="3200">
                <a:solidFill>
                  <a:srgbClr val="000000"/>
                </a:solidFill>
                <a:latin typeface="Comic Sans MS" pitchFamily="64" charset="0"/>
              </a:rPr>
              <a:t> This is an attack on integrity</a:t>
            </a:r>
          </a:p>
          <a:p>
            <a:pPr>
              <a:lnSpc>
                <a:spcPct val="90000"/>
              </a:lnSpc>
              <a:spcBef>
                <a:spcPts val="800"/>
              </a:spcBef>
              <a:buFont typeface="Comic Sans MS" pitchFamily="64" charset="0"/>
              <a:buChar char="•"/>
            </a:pPr>
            <a:r>
              <a:rPr lang="en-US" altLang="en-US" sz="3200" b="1">
                <a:solidFill>
                  <a:srgbClr val="000000"/>
                </a:solidFill>
                <a:latin typeface="Comic Sans MS" pitchFamily="64" charset="0"/>
              </a:rPr>
              <a:t>Fabrication:</a:t>
            </a:r>
            <a:r>
              <a:rPr lang="en-US" altLang="en-US" sz="3200">
                <a:solidFill>
                  <a:srgbClr val="000000"/>
                </a:solidFill>
                <a:latin typeface="Comic Sans MS" pitchFamily="64" charset="0"/>
              </a:rPr>
              <a:t> This is an attack on authenticity</a:t>
            </a:r>
          </a:p>
          <a:p>
            <a:pPr>
              <a:lnSpc>
                <a:spcPct val="90000"/>
              </a:lnSpc>
              <a:spcBef>
                <a:spcPts val="800"/>
              </a:spcBef>
              <a:buFont typeface="Comic Sans MS" pitchFamily="64" charset="0"/>
              <a:buNone/>
            </a:pPr>
            <a:endParaRPr lang="en-US" altLang="en-US" sz="3200">
              <a:solidFill>
                <a:srgbClr val="000000"/>
              </a:solidFill>
              <a:latin typeface="Comic Sans MS" pitchFamily="64" charset="0"/>
            </a:endParaRPr>
          </a:p>
        </p:txBody>
      </p:sp>
    </p:spTree>
    <p:extLst>
      <p:ext uri="{BB962C8B-B14F-4D97-AF65-F5344CB8AC3E}">
        <p14:creationId xmlns:p14="http://schemas.microsoft.com/office/powerpoint/2010/main" val="1267233023"/>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Vulnerability</a:t>
            </a:r>
            <a:endParaRPr lang="en-US" dirty="0"/>
          </a:p>
        </p:txBody>
      </p:sp>
      <p:sp>
        <p:nvSpPr>
          <p:cNvPr id="3" name="Slide Number Placeholder 2"/>
          <p:cNvSpPr>
            <a:spLocks noGrp="1"/>
          </p:cNvSpPr>
          <p:nvPr>
            <p:ph type="sldNum" sz="quarter" idx="12"/>
          </p:nvPr>
        </p:nvSpPr>
        <p:spPr/>
        <p:txBody>
          <a:bodyPr/>
          <a:lstStyle/>
          <a:p>
            <a:fld id="{5BFA158B-7C94-F543-87DB-41F59EA4FAFA}" type="slidenum">
              <a:rPr lang="en-US" smtClean="0">
                <a:latin typeface="Arial"/>
              </a:rPr>
              <a:pPr/>
              <a:t>15</a:t>
            </a:fld>
            <a:endParaRPr lang="en-US">
              <a:latin typeface="Arial"/>
            </a:endParaRPr>
          </a:p>
        </p:txBody>
      </p:sp>
      <p:sp>
        <p:nvSpPr>
          <p:cNvPr id="7" name="TextBox 6">
            <a:extLst>
              <a:ext uri="{FF2B5EF4-FFF2-40B4-BE49-F238E27FC236}">
                <a16:creationId xmlns="" xmlns:a16="http://schemas.microsoft.com/office/drawing/2014/main" id="{198ECD01-C8FE-3C81-683D-633439DBB8B0}"/>
              </a:ext>
            </a:extLst>
          </p:cNvPr>
          <p:cNvSpPr txBox="1"/>
          <p:nvPr/>
        </p:nvSpPr>
        <p:spPr>
          <a:xfrm>
            <a:off x="463350" y="2012444"/>
            <a:ext cx="11249687" cy="4524315"/>
          </a:xfrm>
          <a:prstGeom prst="rect">
            <a:avLst/>
          </a:prstGeom>
          <a:noFill/>
        </p:spPr>
        <p:txBody>
          <a:bodyPr wrap="square">
            <a:spAutoFit/>
          </a:bodyPr>
          <a:lstStyle/>
          <a:p>
            <a:pPr algn="just"/>
            <a:r>
              <a:rPr lang="en-US" dirty="0" smtClean="0"/>
              <a:t>It is </a:t>
            </a:r>
            <a:r>
              <a:rPr lang="en-US" dirty="0" err="1" smtClean="0"/>
              <a:t>is</a:t>
            </a:r>
            <a:r>
              <a:rPr lang="en-US" dirty="0" smtClean="0"/>
              <a:t> </a:t>
            </a:r>
            <a:r>
              <a:rPr lang="en-US" dirty="0"/>
              <a:t>a weakness in the security of </a:t>
            </a:r>
            <a:r>
              <a:rPr lang="en-US" dirty="0" smtClean="0"/>
              <a:t>the </a:t>
            </a:r>
            <a:r>
              <a:rPr lang="en-US" dirty="0"/>
              <a:t>computer system, for example, in procedures, design, or implementation, that might </a:t>
            </a:r>
            <a:r>
              <a:rPr lang="en-US" dirty="0" smtClean="0"/>
              <a:t>be exploited </a:t>
            </a:r>
            <a:r>
              <a:rPr lang="en-US" dirty="0"/>
              <a:t>to cause loss or harm. </a:t>
            </a:r>
            <a:endParaRPr lang="en-US" dirty="0" smtClean="0"/>
          </a:p>
          <a:p>
            <a:pPr algn="just"/>
            <a:endParaRPr lang="en-US" dirty="0"/>
          </a:p>
          <a:p>
            <a:pPr algn="just"/>
            <a:r>
              <a:rPr lang="en-US" dirty="0" smtClean="0"/>
              <a:t>Think </a:t>
            </a:r>
            <a:r>
              <a:rPr lang="en-US" dirty="0"/>
              <a:t>of a bank, with an armed guard at the front </a:t>
            </a:r>
            <a:r>
              <a:rPr lang="en-US" dirty="0" smtClean="0"/>
              <a:t>door, bulletproof </a:t>
            </a:r>
            <a:r>
              <a:rPr lang="en-US" dirty="0"/>
              <a:t>glass protecting the tellers, and a heavy metal vault requiring multiple keys </a:t>
            </a:r>
            <a:r>
              <a:rPr lang="en-US" dirty="0" smtClean="0"/>
              <a:t>for entry</a:t>
            </a:r>
            <a:r>
              <a:rPr lang="en-US" dirty="0"/>
              <a:t>. To rob a bank, you would have to think of how to exploit a weakness not covered </a:t>
            </a:r>
            <a:r>
              <a:rPr lang="en-US" dirty="0" smtClean="0"/>
              <a:t>by these </a:t>
            </a:r>
            <a:r>
              <a:rPr lang="en-US" dirty="0"/>
              <a:t>defenses. For example, you might bribe a </a:t>
            </a:r>
            <a:r>
              <a:rPr lang="en-US" dirty="0" smtClean="0"/>
              <a:t>teller.</a:t>
            </a:r>
          </a:p>
          <a:p>
            <a:pPr algn="just"/>
            <a:endParaRPr lang="en-US" dirty="0" smtClean="0">
              <a:solidFill>
                <a:srgbClr val="C00000"/>
              </a:solidFill>
            </a:endParaRPr>
          </a:p>
          <a:p>
            <a:pPr algn="just"/>
            <a:r>
              <a:rPr lang="en-US" dirty="0" smtClean="0"/>
              <a:t>Computer </a:t>
            </a:r>
            <a:r>
              <a:rPr lang="en-US" dirty="0"/>
              <a:t>systems have vulnerabilities, too. </a:t>
            </a:r>
            <a:endParaRPr lang="en-US" dirty="0" smtClean="0"/>
          </a:p>
          <a:p>
            <a:pPr algn="just"/>
            <a:r>
              <a:rPr lang="en-US" dirty="0" smtClean="0"/>
              <a:t>S</a:t>
            </a:r>
            <a:r>
              <a:rPr lang="en-IN" dirty="0" err="1" smtClean="0"/>
              <a:t>uch</a:t>
            </a:r>
            <a:r>
              <a:rPr lang="en-IN" dirty="0" smtClean="0"/>
              <a:t> as </a:t>
            </a:r>
          </a:p>
          <a:p>
            <a:pPr marL="285750" indent="-285750" algn="just">
              <a:buFont typeface="Arial" panose="020B0604020202020204" pitchFamily="34" charset="0"/>
              <a:buChar char="•"/>
            </a:pPr>
            <a:r>
              <a:rPr lang="en-US" dirty="0" smtClean="0"/>
              <a:t>weak </a:t>
            </a:r>
            <a:r>
              <a:rPr lang="en-US" dirty="0"/>
              <a:t>authentication, </a:t>
            </a:r>
            <a:endParaRPr lang="en-US" dirty="0" smtClean="0"/>
          </a:p>
          <a:p>
            <a:pPr marL="285750" indent="-285750" algn="just">
              <a:buFont typeface="Arial" panose="020B0604020202020204" pitchFamily="34" charset="0"/>
              <a:buChar char="•"/>
            </a:pPr>
            <a:r>
              <a:rPr lang="en-US" dirty="0" smtClean="0"/>
              <a:t>lack </a:t>
            </a:r>
            <a:r>
              <a:rPr lang="en-US" dirty="0"/>
              <a:t>of access control, errors in programs, </a:t>
            </a:r>
            <a:endParaRPr lang="en-US" dirty="0" smtClean="0"/>
          </a:p>
          <a:p>
            <a:pPr marL="285750" indent="-285750" algn="just">
              <a:buFont typeface="Arial" panose="020B0604020202020204" pitchFamily="34" charset="0"/>
              <a:buChar char="•"/>
            </a:pPr>
            <a:r>
              <a:rPr lang="en-US" dirty="0" smtClean="0"/>
              <a:t>finite </a:t>
            </a:r>
            <a:r>
              <a:rPr lang="en-US" dirty="0"/>
              <a:t>or </a:t>
            </a:r>
            <a:r>
              <a:rPr lang="en-US" dirty="0" smtClean="0"/>
              <a:t>insufficient resources</a:t>
            </a:r>
            <a:r>
              <a:rPr lang="en-US" dirty="0"/>
              <a:t>, </a:t>
            </a:r>
            <a:endParaRPr lang="en-US" dirty="0" smtClean="0"/>
          </a:p>
          <a:p>
            <a:pPr marL="285750" indent="-285750" algn="just">
              <a:buFont typeface="Arial" panose="020B0604020202020204" pitchFamily="34" charset="0"/>
              <a:buChar char="•"/>
            </a:pPr>
            <a:r>
              <a:rPr lang="en-US" dirty="0" smtClean="0"/>
              <a:t>and </a:t>
            </a:r>
            <a:r>
              <a:rPr lang="en-US" dirty="0"/>
              <a:t>inadequate physical protection. </a:t>
            </a:r>
            <a:endParaRPr lang="en-US" dirty="0" smtClean="0"/>
          </a:p>
          <a:p>
            <a:pPr algn="just"/>
            <a:endParaRPr lang="en-US" dirty="0"/>
          </a:p>
          <a:p>
            <a:pPr algn="just"/>
            <a:r>
              <a:rPr lang="en-US" dirty="0" smtClean="0"/>
              <a:t>Paired </a:t>
            </a:r>
            <a:r>
              <a:rPr lang="en-US" dirty="0"/>
              <a:t>with a credible attack, each of </a:t>
            </a:r>
            <a:r>
              <a:rPr lang="en-US" dirty="0" smtClean="0"/>
              <a:t>these vulnerabilities </a:t>
            </a:r>
            <a:r>
              <a:rPr lang="en-US" dirty="0"/>
              <a:t>can allow harm to confidentiality, integrity, or availability.</a:t>
            </a:r>
            <a:endParaRPr lang="en-US" dirty="0">
              <a:solidFill>
                <a:srgbClr val="C00000"/>
              </a:solidFill>
            </a:endParaRPr>
          </a:p>
        </p:txBody>
      </p:sp>
    </p:spTree>
    <p:extLst>
      <p:ext uri="{BB962C8B-B14F-4D97-AF65-F5344CB8AC3E}">
        <p14:creationId xmlns:p14="http://schemas.microsoft.com/office/powerpoint/2010/main" val="233866540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4684" y="444987"/>
            <a:ext cx="6094411" cy="635833"/>
          </a:xfrm>
        </p:spPr>
        <p:txBody>
          <a:bodyPr>
            <a:noAutofit/>
          </a:bodyPr>
          <a:lstStyle/>
          <a:p>
            <a:r>
              <a:rPr lang="en-US" sz="2800" dirty="0" smtClean="0"/>
              <a:t>Controls / Countermeasures</a:t>
            </a:r>
            <a:endParaRPr lang="en-US" sz="2800" dirty="0"/>
          </a:p>
        </p:txBody>
      </p:sp>
      <p:pic>
        <p:nvPicPr>
          <p:cNvPr id="4" name="Picture 3" descr="fig01-13.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4683" y="1648918"/>
            <a:ext cx="4993729" cy="3172170"/>
          </a:xfrm>
          <a:prstGeom prst="rect">
            <a:avLst/>
          </a:prstGeom>
        </p:spPr>
      </p:pic>
      <p:sp>
        <p:nvSpPr>
          <p:cNvPr id="3" name="Slide Number Placeholder 2"/>
          <p:cNvSpPr>
            <a:spLocks noGrp="1"/>
          </p:cNvSpPr>
          <p:nvPr>
            <p:ph type="sldNum" sz="quarter" idx="12"/>
          </p:nvPr>
        </p:nvSpPr>
        <p:spPr/>
        <p:txBody>
          <a:bodyPr/>
          <a:lstStyle/>
          <a:p>
            <a:fld id="{FD01F0F2-74A4-EF40-82B3-DFFDF0BA3880}" type="slidenum">
              <a:rPr lang="en-US" smtClean="0">
                <a:latin typeface="Arial"/>
              </a:rPr>
              <a:pPr/>
              <a:t>16</a:t>
            </a:fld>
            <a:endParaRPr lang="en-US">
              <a:latin typeface="Arial"/>
            </a:endParaRPr>
          </a:p>
        </p:txBody>
      </p:sp>
      <p:sp>
        <p:nvSpPr>
          <p:cNvPr id="7" name="TextBox 6">
            <a:extLst>
              <a:ext uri="{FF2B5EF4-FFF2-40B4-BE49-F238E27FC236}">
                <a16:creationId xmlns="" xmlns:a16="http://schemas.microsoft.com/office/drawing/2014/main" id="{C0F360B9-48D6-F389-D112-407A974AAA1F}"/>
              </a:ext>
            </a:extLst>
          </p:cNvPr>
          <p:cNvSpPr txBox="1"/>
          <p:nvPr/>
        </p:nvSpPr>
        <p:spPr>
          <a:xfrm>
            <a:off x="344684" y="5113848"/>
            <a:ext cx="5290150" cy="1569660"/>
          </a:xfrm>
          <a:prstGeom prst="rect">
            <a:avLst/>
          </a:prstGeom>
          <a:noFill/>
        </p:spPr>
        <p:txBody>
          <a:bodyPr wrap="square">
            <a:spAutoFit/>
          </a:bodyPr>
          <a:lstStyle/>
          <a:p>
            <a:pPr marL="285750" indent="-285750">
              <a:buFont typeface="Arial" panose="020B0604020202020204" pitchFamily="34" charset="0"/>
              <a:buChar char="•"/>
            </a:pPr>
            <a:r>
              <a:rPr lang="en-US" sz="1600" dirty="0"/>
              <a:t>The three</a:t>
            </a:r>
            <a:r>
              <a:rPr lang="en-US" sz="1600" baseline="0" dirty="0"/>
              <a:t> dimensions by which a control can be categorized.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baseline="0" dirty="0"/>
              <a:t>Thinking about controls in this way enables you to easily map the controls against the threats they help address.</a:t>
            </a:r>
            <a:endParaRPr lang="en-US" sz="1600" dirty="0"/>
          </a:p>
        </p:txBody>
      </p:sp>
      <p:pic>
        <p:nvPicPr>
          <p:cNvPr id="15362" name="Picture 2">
            <a:extLst>
              <a:ext uri="{FF2B5EF4-FFF2-40B4-BE49-F238E27FC236}">
                <a16:creationId xmlns="" xmlns:a16="http://schemas.microsoft.com/office/drawing/2014/main" id="{4F6DFED7-754D-2645-A14B-6AD1822F03D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4412" y="444986"/>
            <a:ext cx="6094411" cy="62385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663974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Different Types of Controls</a:t>
            </a:r>
          </a:p>
        </p:txBody>
      </p:sp>
      <p:pic>
        <p:nvPicPr>
          <p:cNvPr id="5" name="Picture 4" descr="fig01-12.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9490" y="2062693"/>
            <a:ext cx="11314961" cy="3879813"/>
          </a:xfrm>
          <a:prstGeom prst="rect">
            <a:avLst/>
          </a:prstGeom>
        </p:spPr>
      </p:pic>
      <p:sp>
        <p:nvSpPr>
          <p:cNvPr id="3" name="Slide Number Placeholder 2"/>
          <p:cNvSpPr>
            <a:spLocks noGrp="1"/>
          </p:cNvSpPr>
          <p:nvPr>
            <p:ph type="sldNum" sz="quarter" idx="12"/>
          </p:nvPr>
        </p:nvSpPr>
        <p:spPr/>
        <p:txBody>
          <a:bodyPr/>
          <a:lstStyle/>
          <a:p>
            <a:fld id="{FD01F0F2-74A4-EF40-82B3-DFFDF0BA3880}" type="slidenum">
              <a:rPr lang="en-US" smtClean="0">
                <a:latin typeface="Arial"/>
              </a:rPr>
              <a:pPr/>
              <a:t>17</a:t>
            </a:fld>
            <a:endParaRPr lang="en-US">
              <a:latin typeface="Arial"/>
            </a:endParaRPr>
          </a:p>
        </p:txBody>
      </p:sp>
      <p:sp>
        <p:nvSpPr>
          <p:cNvPr id="7" name="TextBox 6">
            <a:extLst>
              <a:ext uri="{FF2B5EF4-FFF2-40B4-BE49-F238E27FC236}">
                <a16:creationId xmlns="" xmlns:a16="http://schemas.microsoft.com/office/drawing/2014/main" id="{A9771662-8A23-38B2-398A-C001BFCB967C}"/>
              </a:ext>
            </a:extLst>
          </p:cNvPr>
          <p:cNvSpPr txBox="1"/>
          <p:nvPr/>
        </p:nvSpPr>
        <p:spPr>
          <a:xfrm>
            <a:off x="419490" y="6056078"/>
            <a:ext cx="11769336" cy="523220"/>
          </a:xfrm>
          <a:prstGeom prst="rect">
            <a:avLst/>
          </a:prstGeom>
          <a:noFill/>
        </p:spPr>
        <p:txBody>
          <a:bodyPr wrap="square">
            <a:spAutoFit/>
          </a:bodyPr>
          <a:lstStyle/>
          <a:p>
            <a:r>
              <a:rPr lang="en-US" sz="1400" dirty="0">
                <a:solidFill>
                  <a:srgbClr val="C00000"/>
                </a:solidFill>
              </a:rPr>
              <a:t>In this simple representation of a networked system, it is easy to see all the touch points where controls can be placed,</a:t>
            </a:r>
            <a:r>
              <a:rPr lang="en-US" sz="1400" baseline="0" dirty="0">
                <a:solidFill>
                  <a:srgbClr val="C00000"/>
                </a:solidFill>
              </a:rPr>
              <a:t> as well as some different types of controls, including deterrence, deflection, response, prevention, and preemption.</a:t>
            </a:r>
            <a:endParaRPr lang="en-US" sz="1400" dirty="0">
              <a:solidFill>
                <a:srgbClr val="C00000"/>
              </a:solidFill>
            </a:endParaRPr>
          </a:p>
        </p:txBody>
      </p:sp>
    </p:spTree>
    <p:extLst>
      <p:ext uri="{BB962C8B-B14F-4D97-AF65-F5344CB8AC3E}">
        <p14:creationId xmlns:p14="http://schemas.microsoft.com/office/powerpoint/2010/main" val="28267300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1"/>
          <p:cNvSpPr txBox="1">
            <a:spLocks noChangeArrowheads="1"/>
          </p:cNvSpPr>
          <p:nvPr/>
        </p:nvSpPr>
        <p:spPr bwMode="auto">
          <a:xfrm>
            <a:off x="914400" y="609600"/>
            <a:ext cx="10360025"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9pPr>
          </a:lstStyle>
          <a:p>
            <a:pPr algn="ctr">
              <a:buClrTx/>
              <a:buFontTx/>
              <a:buNone/>
            </a:pPr>
            <a:r>
              <a:rPr lang="en-US" altLang="en-US" sz="4400" dirty="0">
                <a:solidFill>
                  <a:srgbClr val="000000"/>
                </a:solidFill>
              </a:rPr>
              <a:t>Method, Opportunity and Motive</a:t>
            </a:r>
          </a:p>
        </p:txBody>
      </p:sp>
      <p:sp>
        <p:nvSpPr>
          <p:cNvPr id="12290" name="Text Box 2"/>
          <p:cNvSpPr txBox="1">
            <a:spLocks noChangeArrowheads="1"/>
          </p:cNvSpPr>
          <p:nvPr/>
        </p:nvSpPr>
        <p:spPr bwMode="auto">
          <a:xfrm>
            <a:off x="914400" y="1981200"/>
            <a:ext cx="10360025"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1313" indent="-341313">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itchFamily="16" charset="0"/>
                <a:ea typeface="WenQuanYi Micro Hei" charset="0"/>
                <a:cs typeface="WenQuanYi Micro Hei" charset="0"/>
              </a:defRPr>
            </a:lvl1pPr>
            <a:lvl2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itchFamily="16" charset="0"/>
                <a:ea typeface="WenQuanYi Micro Hei" charset="0"/>
                <a:cs typeface="WenQuanYi Micro Hei"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itchFamily="16" charset="0"/>
                <a:ea typeface="WenQuanYi Micro Hei" charset="0"/>
                <a:cs typeface="WenQuanYi Micro Hei"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itchFamily="16" charset="0"/>
                <a:ea typeface="WenQuanYi Micro Hei" charset="0"/>
                <a:cs typeface="WenQuanYi Micro Hei"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itchFamily="16" charset="0"/>
                <a:ea typeface="WenQuanYi Micro Hei"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itchFamily="16" charset="0"/>
                <a:ea typeface="WenQuanYi Micro Hei"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itchFamily="16" charset="0"/>
                <a:ea typeface="WenQuanYi Micro Hei"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itchFamily="16" charset="0"/>
                <a:ea typeface="WenQuanYi Micro Hei"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itchFamily="16" charset="0"/>
                <a:ea typeface="WenQuanYi Micro Hei" charset="0"/>
                <a:cs typeface="WenQuanYi Micro Hei" charset="0"/>
              </a:defRPr>
            </a:lvl9pPr>
          </a:lstStyle>
          <a:p>
            <a:pPr>
              <a:lnSpc>
                <a:spcPct val="90000"/>
              </a:lnSpc>
              <a:spcBef>
                <a:spcPts val="700"/>
              </a:spcBef>
              <a:buFont typeface="Times New Roman" pitchFamily="16" charset="0"/>
              <a:buChar char="•"/>
              <a:defRPr/>
            </a:pPr>
            <a:r>
              <a:rPr lang="en-US" altLang="en-US" sz="2800" dirty="0" smtClean="0"/>
              <a:t>Method : the skills, knowledge, tools and other things with which to be able to pull off the attack</a:t>
            </a:r>
          </a:p>
          <a:p>
            <a:pPr>
              <a:lnSpc>
                <a:spcPct val="90000"/>
              </a:lnSpc>
              <a:spcBef>
                <a:spcPts val="700"/>
              </a:spcBef>
              <a:buFont typeface="Times New Roman" pitchFamily="16" charset="0"/>
              <a:buChar char="•"/>
              <a:defRPr/>
            </a:pPr>
            <a:r>
              <a:rPr lang="en-US" altLang="en-US" sz="2800" dirty="0" smtClean="0"/>
              <a:t>Opportunity : the time and access to accomplish the attack</a:t>
            </a:r>
          </a:p>
          <a:p>
            <a:pPr>
              <a:lnSpc>
                <a:spcPct val="90000"/>
              </a:lnSpc>
              <a:spcBef>
                <a:spcPts val="700"/>
              </a:spcBef>
              <a:buFont typeface="Times New Roman" pitchFamily="16" charset="0"/>
              <a:buChar char="•"/>
              <a:defRPr/>
            </a:pPr>
            <a:r>
              <a:rPr lang="en-US" altLang="en-US" sz="2800" dirty="0" smtClean="0"/>
              <a:t>Motive : a reason to want to perform this attack against this system </a:t>
            </a:r>
          </a:p>
          <a:p>
            <a:pPr marL="342900">
              <a:lnSpc>
                <a:spcPct val="90000"/>
              </a:lnSpc>
              <a:spcBef>
                <a:spcPts val="700"/>
              </a:spcBef>
              <a:buClrTx/>
              <a:buFontTx/>
              <a:buNone/>
              <a:defRPr/>
            </a:pPr>
            <a:endParaRPr lang="en-US" altLang="en-US" sz="2800" dirty="0" smtClean="0"/>
          </a:p>
          <a:p>
            <a:pPr marL="342900">
              <a:lnSpc>
                <a:spcPct val="90000"/>
              </a:lnSpc>
              <a:spcBef>
                <a:spcPts val="700"/>
              </a:spcBef>
              <a:buClrTx/>
              <a:buFontTx/>
              <a:buNone/>
              <a:defRPr/>
            </a:pPr>
            <a:r>
              <a:rPr lang="en-US" altLang="en-US" sz="2800" dirty="0" smtClean="0"/>
              <a:t>   DENY ANY OF THESE THREE THINGS AND</a:t>
            </a:r>
          </a:p>
          <a:p>
            <a:pPr marL="342900">
              <a:lnSpc>
                <a:spcPct val="90000"/>
              </a:lnSpc>
              <a:spcBef>
                <a:spcPts val="700"/>
              </a:spcBef>
              <a:buClrTx/>
              <a:buFontTx/>
              <a:buNone/>
              <a:defRPr/>
            </a:pPr>
            <a:r>
              <a:rPr lang="en-US" altLang="en-US" sz="2800" dirty="0" smtClean="0"/>
              <a:t>          ATTACKS WILL NOT OCCUR</a:t>
            </a:r>
          </a:p>
        </p:txBody>
      </p:sp>
      <mc:AlternateContent xmlns:mc="http://schemas.openxmlformats.org/markup-compatibility/2006" xmlns:p14="http://schemas.microsoft.com/office/powerpoint/2010/main">
        <mc:Choice Requires="p14">
          <p:contentPart p14:bwMode="auto" r:id="rId3">
            <p14:nvContentPartPr>
              <p14:cNvPr id="2" name="Ink 1"/>
              <p14:cNvContentPartPr/>
              <p14:nvPr/>
            </p14:nvContentPartPr>
            <p14:xfrm>
              <a:off x="1226880" y="3628080"/>
              <a:ext cx="35280" cy="39240"/>
            </p14:xfrm>
          </p:contentPart>
        </mc:Choice>
        <mc:Fallback xmlns="">
          <p:pic>
            <p:nvPicPr>
              <p:cNvPr id="2" name="Ink 1"/>
              <p:cNvPicPr/>
              <p:nvPr/>
            </p:nvPicPr>
            <p:blipFill>
              <a:blip r:embed="rId4"/>
              <a:stretch>
                <a:fillRect/>
              </a:stretch>
            </p:blipFill>
            <p:spPr>
              <a:xfrm>
                <a:off x="664560" y="1929600"/>
                <a:ext cx="7252200" cy="4192560"/>
              </a:xfrm>
              <a:prstGeom prst="rect">
                <a:avLst/>
              </a:prstGeom>
            </p:spPr>
          </p:pic>
        </mc:Fallback>
      </mc:AlternateContent>
    </p:spTree>
    <p:extLst>
      <p:ext uri="{BB962C8B-B14F-4D97-AF65-F5344CB8AC3E}">
        <p14:creationId xmlns:p14="http://schemas.microsoft.com/office/powerpoint/2010/main" val="940988862"/>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dirty="0" smtClean="0">
                <a:latin typeface="Arial"/>
              </a:rPr>
              <a:t>From Security in Computing, Fifth Edition, by Charles P. </a:t>
            </a:r>
            <a:r>
              <a:rPr lang="en-US" dirty="0" err="1" smtClean="0">
                <a:latin typeface="Arial"/>
              </a:rPr>
              <a:t>Pfleeger</a:t>
            </a:r>
            <a:r>
              <a:rPr lang="en-US" dirty="0" smtClean="0">
                <a:latin typeface="Arial"/>
              </a:rPr>
              <a:t>, et al. (ISBN: 9780134085043). Copyright 2015 by Pearson Education, Inc. All rights reserved.</a:t>
            </a:r>
            <a:endParaRPr lang="en-US" dirty="0">
              <a:latin typeface="Arial"/>
            </a:endParaRPr>
          </a:p>
        </p:txBody>
      </p:sp>
      <p:sp>
        <p:nvSpPr>
          <p:cNvPr id="3" name="Slide Number Placeholder 2"/>
          <p:cNvSpPr>
            <a:spLocks noGrp="1"/>
          </p:cNvSpPr>
          <p:nvPr>
            <p:ph type="sldNum" sz="quarter" idx="12"/>
          </p:nvPr>
        </p:nvSpPr>
        <p:spPr/>
        <p:txBody>
          <a:bodyPr/>
          <a:lstStyle/>
          <a:p>
            <a:fld id="{5BFA158B-7C94-F543-87DB-41F59EA4FAFA}" type="slidenum">
              <a:rPr lang="en-US" smtClean="0">
                <a:latin typeface="Arial"/>
              </a:rPr>
              <a:pPr/>
              <a:t>19</a:t>
            </a:fld>
            <a:endParaRPr lang="en-US">
              <a:latin typeface="Arial"/>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7708" y="1508042"/>
            <a:ext cx="4885825" cy="50271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 Box 1"/>
          <p:cNvSpPr txBox="1">
            <a:spLocks noChangeArrowheads="1"/>
          </p:cNvSpPr>
          <p:nvPr/>
        </p:nvSpPr>
        <p:spPr bwMode="auto">
          <a:xfrm>
            <a:off x="914400" y="365041"/>
            <a:ext cx="10360025"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9pPr>
          </a:lstStyle>
          <a:p>
            <a:pPr algn="ctr">
              <a:buClrTx/>
              <a:buFontTx/>
              <a:buNone/>
            </a:pPr>
            <a:r>
              <a:rPr lang="en-US" altLang="en-US" sz="4400" dirty="0">
                <a:solidFill>
                  <a:srgbClr val="000000"/>
                </a:solidFill>
              </a:rPr>
              <a:t>Method, Opportunity and Motive</a:t>
            </a:r>
          </a:p>
        </p:txBody>
      </p:sp>
    </p:spTree>
    <p:extLst>
      <p:ext uri="{BB962C8B-B14F-4D97-AF65-F5344CB8AC3E}">
        <p14:creationId xmlns:p14="http://schemas.microsoft.com/office/powerpoint/2010/main" val="9322287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 Box 1"/>
          <p:cNvSpPr txBox="1">
            <a:spLocks noChangeArrowheads="1"/>
          </p:cNvSpPr>
          <p:nvPr/>
        </p:nvSpPr>
        <p:spPr bwMode="auto">
          <a:xfrm>
            <a:off x="914400" y="609600"/>
            <a:ext cx="10360025"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9pPr>
          </a:lstStyle>
          <a:p>
            <a:pPr algn="ctr">
              <a:buClrTx/>
              <a:buFontTx/>
              <a:buNone/>
            </a:pPr>
            <a:r>
              <a:rPr lang="en-US" altLang="en-US" sz="4400">
                <a:solidFill>
                  <a:srgbClr val="000000"/>
                </a:solidFill>
              </a:rPr>
              <a:t>Methods of Defense	</a:t>
            </a:r>
          </a:p>
        </p:txBody>
      </p:sp>
      <p:sp>
        <p:nvSpPr>
          <p:cNvPr id="28675" name="Text Box 2"/>
          <p:cNvSpPr txBox="1">
            <a:spLocks noChangeArrowheads="1"/>
          </p:cNvSpPr>
          <p:nvPr/>
        </p:nvSpPr>
        <p:spPr bwMode="auto">
          <a:xfrm>
            <a:off x="914400" y="1981200"/>
            <a:ext cx="10360025" cy="4572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1313" indent="-341313">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bg1"/>
                </a:solidFill>
                <a:latin typeface="Times New Roman" pitchFamily="16" charset="0"/>
                <a:ea typeface="WenQuanYi Micro Hei" charset="0"/>
                <a:cs typeface="WenQuanYi Micro Hei" charset="0"/>
              </a:defRPr>
            </a:lvl1pPr>
            <a:lvl2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bg1"/>
                </a:solidFill>
                <a:latin typeface="Times New Roman" pitchFamily="16" charset="0"/>
                <a:ea typeface="WenQuanYi Micro Hei" charset="0"/>
                <a:cs typeface="WenQuanYi Micro Hei"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bg1"/>
                </a:solidFill>
                <a:latin typeface="Times New Roman" pitchFamily="16" charset="0"/>
                <a:ea typeface="WenQuanYi Micro Hei" charset="0"/>
                <a:cs typeface="WenQuanYi Micro Hei"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bg1"/>
                </a:solidFill>
                <a:latin typeface="Times New Roman" pitchFamily="16" charset="0"/>
                <a:ea typeface="WenQuanYi Micro Hei" charset="0"/>
                <a:cs typeface="WenQuanYi Micro Hei"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bg1"/>
                </a:solidFill>
                <a:latin typeface="Times New Roman" pitchFamily="16" charset="0"/>
                <a:ea typeface="WenQuanYi Micro Hei"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bg1"/>
                </a:solidFill>
                <a:latin typeface="Times New Roman" pitchFamily="16" charset="0"/>
                <a:ea typeface="WenQuanYi Micro Hei"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bg1"/>
                </a:solidFill>
                <a:latin typeface="Times New Roman" pitchFamily="16" charset="0"/>
                <a:ea typeface="WenQuanYi Micro Hei"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bg1"/>
                </a:solidFill>
                <a:latin typeface="Times New Roman" pitchFamily="16" charset="0"/>
                <a:ea typeface="WenQuanYi Micro Hei"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bg1"/>
                </a:solidFill>
                <a:latin typeface="Times New Roman" pitchFamily="16" charset="0"/>
                <a:ea typeface="WenQuanYi Micro Hei" charset="0"/>
                <a:cs typeface="WenQuanYi Micro Hei" charset="0"/>
              </a:defRPr>
            </a:lvl9pPr>
          </a:lstStyle>
          <a:p>
            <a:pPr>
              <a:spcBef>
                <a:spcPts val="700"/>
              </a:spcBef>
              <a:buFont typeface="Times New Roman" pitchFamily="16" charset="0"/>
              <a:buChar char="•"/>
            </a:pPr>
            <a:r>
              <a:rPr lang="en-US" altLang="en-US" sz="2800" i="1">
                <a:solidFill>
                  <a:srgbClr val="000000"/>
                </a:solidFill>
              </a:rPr>
              <a:t>Prevent it</a:t>
            </a:r>
            <a:r>
              <a:rPr lang="en-US" altLang="en-US" sz="2800">
                <a:solidFill>
                  <a:srgbClr val="000000"/>
                </a:solidFill>
              </a:rPr>
              <a:t>, by blocking the attack or closing the vulnerability</a:t>
            </a:r>
          </a:p>
          <a:p>
            <a:pPr>
              <a:spcBef>
                <a:spcPts val="700"/>
              </a:spcBef>
              <a:buFont typeface="Times New Roman" pitchFamily="16" charset="0"/>
              <a:buChar char="•"/>
            </a:pPr>
            <a:r>
              <a:rPr lang="en-US" altLang="en-US" sz="2800" i="1">
                <a:solidFill>
                  <a:srgbClr val="000000"/>
                </a:solidFill>
              </a:rPr>
              <a:t>Deter it</a:t>
            </a:r>
            <a:r>
              <a:rPr lang="en-US" altLang="en-US" sz="2800">
                <a:solidFill>
                  <a:srgbClr val="000000"/>
                </a:solidFill>
              </a:rPr>
              <a:t>, by making attack harder if not impossible</a:t>
            </a:r>
          </a:p>
          <a:p>
            <a:pPr>
              <a:spcBef>
                <a:spcPts val="700"/>
              </a:spcBef>
              <a:buFont typeface="Times New Roman" pitchFamily="16" charset="0"/>
              <a:buChar char="•"/>
            </a:pPr>
            <a:r>
              <a:rPr lang="en-US" altLang="en-US" sz="2800" i="1">
                <a:solidFill>
                  <a:srgbClr val="000000"/>
                </a:solidFill>
              </a:rPr>
              <a:t>Deflect it</a:t>
            </a:r>
            <a:r>
              <a:rPr lang="en-US" altLang="en-US" sz="2800">
                <a:solidFill>
                  <a:srgbClr val="000000"/>
                </a:solidFill>
              </a:rPr>
              <a:t>, by making another target more attractive</a:t>
            </a:r>
          </a:p>
          <a:p>
            <a:pPr>
              <a:spcBef>
                <a:spcPts val="700"/>
              </a:spcBef>
              <a:buFont typeface="Times New Roman" pitchFamily="16" charset="0"/>
              <a:buChar char="•"/>
            </a:pPr>
            <a:r>
              <a:rPr lang="en-US" altLang="en-US" sz="2800" i="1">
                <a:solidFill>
                  <a:srgbClr val="000000"/>
                </a:solidFill>
              </a:rPr>
              <a:t>Mitigate it,</a:t>
            </a:r>
            <a:r>
              <a:rPr lang="en-US" altLang="en-US" sz="2800">
                <a:solidFill>
                  <a:srgbClr val="000000"/>
                </a:solidFill>
              </a:rPr>
              <a:t> by making its impact less severe</a:t>
            </a:r>
          </a:p>
          <a:p>
            <a:pPr>
              <a:spcBef>
                <a:spcPts val="700"/>
              </a:spcBef>
              <a:buFont typeface="Times New Roman" pitchFamily="16" charset="0"/>
              <a:buChar char="•"/>
            </a:pPr>
            <a:r>
              <a:rPr lang="en-US" altLang="en-US" sz="2800" i="1">
                <a:solidFill>
                  <a:srgbClr val="000000"/>
                </a:solidFill>
              </a:rPr>
              <a:t>Detect it</a:t>
            </a:r>
            <a:r>
              <a:rPr lang="en-US" altLang="en-US" sz="2800">
                <a:solidFill>
                  <a:srgbClr val="000000"/>
                </a:solidFill>
              </a:rPr>
              <a:t>, either as it happens or some time after the fact</a:t>
            </a:r>
          </a:p>
          <a:p>
            <a:pPr>
              <a:spcBef>
                <a:spcPts val="700"/>
              </a:spcBef>
              <a:buFont typeface="Times New Roman" pitchFamily="16" charset="0"/>
              <a:buChar char="•"/>
            </a:pPr>
            <a:r>
              <a:rPr lang="en-US" altLang="en-US" sz="2800" i="1">
                <a:solidFill>
                  <a:srgbClr val="000000"/>
                </a:solidFill>
              </a:rPr>
              <a:t>Recover</a:t>
            </a:r>
            <a:r>
              <a:rPr lang="en-US" altLang="en-US" sz="2800">
                <a:solidFill>
                  <a:srgbClr val="000000"/>
                </a:solidFill>
              </a:rPr>
              <a:t> from its effects </a:t>
            </a:r>
          </a:p>
        </p:txBody>
      </p:sp>
    </p:spTree>
    <p:extLst>
      <p:ext uri="{BB962C8B-B14F-4D97-AF65-F5344CB8AC3E}">
        <p14:creationId xmlns:p14="http://schemas.microsoft.com/office/powerpoint/2010/main" val="3223350497"/>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867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867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867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8675">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28675">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2867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ext Box 1"/>
          <p:cNvSpPr txBox="1">
            <a:spLocks noChangeArrowheads="1"/>
          </p:cNvSpPr>
          <p:nvPr/>
        </p:nvSpPr>
        <p:spPr bwMode="auto">
          <a:xfrm>
            <a:off x="914400" y="228600"/>
            <a:ext cx="10360025"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9pPr>
          </a:lstStyle>
          <a:p>
            <a:pPr algn="ctr">
              <a:buClrTx/>
              <a:buFontTx/>
              <a:buNone/>
            </a:pPr>
            <a:r>
              <a:rPr lang="en-US" altLang="en-US" sz="4400" dirty="0">
                <a:solidFill>
                  <a:srgbClr val="000000"/>
                </a:solidFill>
              </a:rPr>
              <a:t>Methods of Defense</a:t>
            </a:r>
          </a:p>
        </p:txBody>
      </p:sp>
      <p:sp>
        <p:nvSpPr>
          <p:cNvPr id="27650" name="Text Box 2"/>
          <p:cNvSpPr txBox="1">
            <a:spLocks noChangeArrowheads="1"/>
          </p:cNvSpPr>
          <p:nvPr/>
        </p:nvSpPr>
        <p:spPr bwMode="auto">
          <a:xfrm>
            <a:off x="914400" y="1371600"/>
            <a:ext cx="10360025" cy="472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1313" indent="-341313">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itchFamily="16" charset="0"/>
                <a:ea typeface="WenQuanYi Micro Hei" charset="0"/>
                <a:cs typeface="WenQuanYi Micro Hei" charset="0"/>
              </a:defRPr>
            </a:lvl1pPr>
            <a:lvl2pPr marL="741363" indent="-284163">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itchFamily="16" charset="0"/>
                <a:ea typeface="WenQuanYi Micro Hei" charset="0"/>
                <a:cs typeface="WenQuanYi Micro Hei" charset="0"/>
              </a:defRPr>
            </a:lvl2pPr>
            <a:lvl3pPr marL="1141413" indent="-227013">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itchFamily="16" charset="0"/>
                <a:ea typeface="WenQuanYi Micro Hei" charset="0"/>
                <a:cs typeface="WenQuanYi Micro Hei"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itchFamily="16" charset="0"/>
                <a:ea typeface="WenQuanYi Micro Hei" charset="0"/>
                <a:cs typeface="WenQuanYi Micro Hei"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itchFamily="16" charset="0"/>
                <a:ea typeface="WenQuanYi Micro Hei"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itchFamily="16" charset="0"/>
                <a:ea typeface="WenQuanYi Micro Hei"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itchFamily="16" charset="0"/>
                <a:ea typeface="WenQuanYi Micro Hei"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itchFamily="16" charset="0"/>
                <a:ea typeface="WenQuanYi Micro Hei"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itchFamily="16" charset="0"/>
                <a:ea typeface="WenQuanYi Micro Hei" charset="0"/>
                <a:cs typeface="WenQuanYi Micro Hei" charset="0"/>
              </a:defRPr>
            </a:lvl9pPr>
          </a:lstStyle>
          <a:p>
            <a:pPr>
              <a:lnSpc>
                <a:spcPct val="80000"/>
              </a:lnSpc>
              <a:spcBef>
                <a:spcPts val="500"/>
              </a:spcBef>
              <a:buFont typeface="Times New Roman" pitchFamily="16" charset="0"/>
              <a:buChar char="•"/>
              <a:defRPr/>
            </a:pPr>
            <a:r>
              <a:rPr lang="en-US" altLang="en-US" sz="2200" dirty="0" smtClean="0"/>
              <a:t>Controls</a:t>
            </a:r>
          </a:p>
          <a:p>
            <a:pPr lvl="1">
              <a:lnSpc>
                <a:spcPct val="80000"/>
              </a:lnSpc>
              <a:spcBef>
                <a:spcPts val="450"/>
              </a:spcBef>
              <a:buFont typeface="Times New Roman" pitchFamily="16" charset="0"/>
              <a:buChar char="–"/>
              <a:defRPr/>
            </a:pPr>
            <a:r>
              <a:rPr lang="en-US" altLang="en-US" sz="2200" dirty="0" smtClean="0"/>
              <a:t>Encryption</a:t>
            </a:r>
          </a:p>
          <a:p>
            <a:pPr lvl="1">
              <a:lnSpc>
                <a:spcPct val="80000"/>
              </a:lnSpc>
              <a:spcBef>
                <a:spcPts val="450"/>
              </a:spcBef>
              <a:buFont typeface="Times New Roman" pitchFamily="16" charset="0"/>
              <a:buChar char="–"/>
              <a:defRPr/>
            </a:pPr>
            <a:r>
              <a:rPr lang="en-US" altLang="en-US" sz="2200" dirty="0" smtClean="0"/>
              <a:t>Hardware Controls</a:t>
            </a:r>
          </a:p>
          <a:p>
            <a:pPr lvl="2">
              <a:lnSpc>
                <a:spcPct val="80000"/>
              </a:lnSpc>
              <a:spcBef>
                <a:spcPts val="400"/>
              </a:spcBef>
              <a:buFont typeface="Times New Roman" pitchFamily="16" charset="0"/>
              <a:buChar char="•"/>
              <a:defRPr/>
            </a:pPr>
            <a:r>
              <a:rPr lang="en-US" altLang="en-US" sz="2200" dirty="0" smtClean="0"/>
              <a:t>Hardware/smart card implementations of encryption</a:t>
            </a:r>
          </a:p>
          <a:p>
            <a:pPr lvl="2">
              <a:lnSpc>
                <a:spcPct val="80000"/>
              </a:lnSpc>
              <a:spcBef>
                <a:spcPts val="400"/>
              </a:spcBef>
              <a:buFont typeface="Times New Roman" pitchFamily="16" charset="0"/>
              <a:buChar char="•"/>
              <a:defRPr/>
            </a:pPr>
            <a:r>
              <a:rPr lang="en-US" altLang="en-US" sz="2200" dirty="0" smtClean="0"/>
              <a:t>Locks or cables limiting access</a:t>
            </a:r>
          </a:p>
          <a:p>
            <a:pPr lvl="2">
              <a:lnSpc>
                <a:spcPct val="80000"/>
              </a:lnSpc>
              <a:spcBef>
                <a:spcPts val="400"/>
              </a:spcBef>
              <a:buFont typeface="Times New Roman" pitchFamily="16" charset="0"/>
              <a:buChar char="•"/>
              <a:defRPr/>
            </a:pPr>
            <a:r>
              <a:rPr lang="en-US" altLang="en-US" sz="2200" dirty="0" smtClean="0"/>
              <a:t>Devices to verify users’ identity</a:t>
            </a:r>
          </a:p>
          <a:p>
            <a:pPr lvl="2">
              <a:lnSpc>
                <a:spcPct val="80000"/>
              </a:lnSpc>
              <a:spcBef>
                <a:spcPts val="400"/>
              </a:spcBef>
              <a:buFont typeface="Times New Roman" pitchFamily="16" charset="0"/>
              <a:buChar char="•"/>
              <a:defRPr/>
            </a:pPr>
            <a:r>
              <a:rPr lang="en-US" altLang="en-US" sz="2200" dirty="0" smtClean="0"/>
              <a:t>Firewalls</a:t>
            </a:r>
          </a:p>
          <a:p>
            <a:pPr lvl="2">
              <a:lnSpc>
                <a:spcPct val="80000"/>
              </a:lnSpc>
              <a:spcBef>
                <a:spcPts val="400"/>
              </a:spcBef>
              <a:buFont typeface="Times New Roman" pitchFamily="16" charset="0"/>
              <a:buChar char="•"/>
              <a:defRPr/>
            </a:pPr>
            <a:r>
              <a:rPr lang="en-US" altLang="en-US" sz="2200" dirty="0" smtClean="0"/>
              <a:t>Intrusion detection systems</a:t>
            </a:r>
          </a:p>
          <a:p>
            <a:pPr lvl="1">
              <a:lnSpc>
                <a:spcPct val="80000"/>
              </a:lnSpc>
              <a:spcBef>
                <a:spcPts val="450"/>
              </a:spcBef>
              <a:buFont typeface="Times New Roman" pitchFamily="16" charset="0"/>
              <a:buChar char="–"/>
              <a:defRPr/>
            </a:pPr>
            <a:r>
              <a:rPr lang="en-US" altLang="en-US" sz="2200" dirty="0" smtClean="0"/>
              <a:t>Software Controls</a:t>
            </a:r>
          </a:p>
          <a:p>
            <a:pPr lvl="2">
              <a:lnSpc>
                <a:spcPct val="80000"/>
              </a:lnSpc>
              <a:spcBef>
                <a:spcPts val="400"/>
              </a:spcBef>
              <a:buFont typeface="Times New Roman" pitchFamily="16" charset="0"/>
              <a:buChar char="•"/>
              <a:defRPr/>
            </a:pPr>
            <a:r>
              <a:rPr lang="en-US" altLang="en-US" sz="2200" dirty="0" smtClean="0"/>
              <a:t>Internal program controls,</a:t>
            </a:r>
          </a:p>
          <a:p>
            <a:pPr lvl="2">
              <a:lnSpc>
                <a:spcPct val="80000"/>
              </a:lnSpc>
              <a:spcBef>
                <a:spcPts val="400"/>
              </a:spcBef>
              <a:buFont typeface="Times New Roman" pitchFamily="16" charset="0"/>
              <a:buChar char="•"/>
              <a:defRPr/>
            </a:pPr>
            <a:r>
              <a:rPr lang="en-US" altLang="en-US" sz="2200" dirty="0" smtClean="0"/>
              <a:t>OS and Network system controls</a:t>
            </a:r>
          </a:p>
          <a:p>
            <a:pPr lvl="2">
              <a:lnSpc>
                <a:spcPct val="80000"/>
              </a:lnSpc>
              <a:spcBef>
                <a:spcPts val="400"/>
              </a:spcBef>
              <a:buFont typeface="Times New Roman" pitchFamily="16" charset="0"/>
              <a:buChar char="•"/>
              <a:defRPr/>
            </a:pPr>
            <a:r>
              <a:rPr lang="en-US" altLang="en-US" sz="2200" dirty="0" smtClean="0"/>
              <a:t>Independent control program (anti virus, passwords etc.)</a:t>
            </a:r>
          </a:p>
          <a:p>
            <a:pPr lvl="2">
              <a:lnSpc>
                <a:spcPct val="80000"/>
              </a:lnSpc>
              <a:spcBef>
                <a:spcPts val="400"/>
              </a:spcBef>
              <a:buFont typeface="Times New Roman" pitchFamily="16" charset="0"/>
              <a:buChar char="•"/>
              <a:defRPr/>
            </a:pPr>
            <a:r>
              <a:rPr lang="en-US" altLang="en-US" sz="2200" dirty="0" smtClean="0"/>
              <a:t>Development control</a:t>
            </a:r>
          </a:p>
          <a:p>
            <a:pPr lvl="1">
              <a:lnSpc>
                <a:spcPct val="80000"/>
              </a:lnSpc>
              <a:spcBef>
                <a:spcPts val="450"/>
              </a:spcBef>
              <a:buFont typeface="Times New Roman" pitchFamily="16" charset="0"/>
              <a:buChar char="–"/>
              <a:defRPr/>
            </a:pPr>
            <a:r>
              <a:rPr lang="en-US" altLang="en-US" sz="2200" dirty="0" smtClean="0"/>
              <a:t>Policies and Procedures</a:t>
            </a:r>
          </a:p>
          <a:p>
            <a:pPr lvl="1">
              <a:lnSpc>
                <a:spcPct val="80000"/>
              </a:lnSpc>
              <a:spcBef>
                <a:spcPts val="450"/>
              </a:spcBef>
              <a:buFont typeface="Times New Roman" pitchFamily="16" charset="0"/>
              <a:buChar char="–"/>
              <a:defRPr/>
            </a:pPr>
            <a:r>
              <a:rPr lang="en-US" altLang="en-US" sz="2200" dirty="0" smtClean="0"/>
              <a:t>Physical Controls</a:t>
            </a:r>
          </a:p>
          <a:p>
            <a:pPr lvl="1" indent="-282575">
              <a:lnSpc>
                <a:spcPct val="80000"/>
              </a:lnSpc>
              <a:spcBef>
                <a:spcPts val="450"/>
              </a:spcBef>
              <a:buClrTx/>
              <a:buFontTx/>
              <a:buNone/>
              <a:defRPr/>
            </a:pPr>
            <a:endParaRPr lang="en-US" altLang="en-US" sz="2200" dirty="0" smtClean="0"/>
          </a:p>
          <a:p>
            <a:pPr lvl="1">
              <a:lnSpc>
                <a:spcPct val="80000"/>
              </a:lnSpc>
              <a:spcBef>
                <a:spcPts val="450"/>
              </a:spcBef>
              <a:defRPr/>
            </a:pPr>
            <a:endParaRPr lang="en-US" altLang="en-US" sz="2200" dirty="0" smtClean="0"/>
          </a:p>
        </p:txBody>
      </p:sp>
    </p:spTree>
    <p:extLst>
      <p:ext uri="{BB962C8B-B14F-4D97-AF65-F5344CB8AC3E}">
        <p14:creationId xmlns:p14="http://schemas.microsoft.com/office/powerpoint/2010/main" val="3283542437"/>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ext Box 1"/>
          <p:cNvSpPr txBox="1">
            <a:spLocks noChangeArrowheads="1"/>
          </p:cNvSpPr>
          <p:nvPr/>
        </p:nvSpPr>
        <p:spPr bwMode="auto">
          <a:xfrm>
            <a:off x="914399" y="419477"/>
            <a:ext cx="10360025"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9pPr>
          </a:lstStyle>
          <a:p>
            <a:pPr algn="ctr">
              <a:buClrTx/>
              <a:buFontTx/>
              <a:buNone/>
            </a:pPr>
            <a:r>
              <a:rPr lang="en-US" altLang="en-US" sz="4400" dirty="0">
                <a:solidFill>
                  <a:srgbClr val="000000"/>
                </a:solidFill>
              </a:rPr>
              <a:t>C</a:t>
            </a:r>
            <a:r>
              <a:rPr lang="en-US" altLang="en-US" sz="4400" dirty="0" smtClean="0">
                <a:solidFill>
                  <a:srgbClr val="000000"/>
                </a:solidFill>
              </a:rPr>
              <a:t>lasses </a:t>
            </a:r>
            <a:r>
              <a:rPr lang="en-US" altLang="en-US" sz="4400" dirty="0">
                <a:solidFill>
                  <a:srgbClr val="000000"/>
                </a:solidFill>
              </a:rPr>
              <a:t>and </a:t>
            </a:r>
            <a:r>
              <a:rPr lang="en-US" altLang="en-US" sz="4400" dirty="0" smtClean="0">
                <a:solidFill>
                  <a:srgbClr val="000000"/>
                </a:solidFill>
              </a:rPr>
              <a:t>examples </a:t>
            </a:r>
            <a:r>
              <a:rPr lang="en-US" altLang="en-US" sz="4400" dirty="0">
                <a:solidFill>
                  <a:srgbClr val="000000"/>
                </a:solidFill>
              </a:rPr>
              <a:t>of </a:t>
            </a:r>
            <a:r>
              <a:rPr lang="en-US" altLang="en-US" sz="4400" dirty="0" smtClean="0">
                <a:solidFill>
                  <a:srgbClr val="000000"/>
                </a:solidFill>
              </a:rPr>
              <a:t>type </a:t>
            </a:r>
            <a:r>
              <a:rPr lang="en-US" altLang="en-US" sz="4400" dirty="0">
                <a:solidFill>
                  <a:srgbClr val="000000"/>
                </a:solidFill>
              </a:rPr>
              <a:t>of </a:t>
            </a:r>
            <a:r>
              <a:rPr lang="en-US" altLang="en-US" sz="4400" dirty="0" smtClean="0">
                <a:solidFill>
                  <a:srgbClr val="000000"/>
                </a:solidFill>
              </a:rPr>
              <a:t>control</a:t>
            </a:r>
            <a:endParaRPr lang="en-US" altLang="en-US" sz="4400" dirty="0">
              <a:solidFill>
                <a:srgbClr val="000000"/>
              </a:solidFill>
            </a:endParaRPr>
          </a:p>
        </p:txBody>
      </p:sp>
      <p:sp>
        <p:nvSpPr>
          <p:cNvPr id="2" name="Rectangle 1"/>
          <p:cNvSpPr/>
          <p:nvPr/>
        </p:nvSpPr>
        <p:spPr>
          <a:xfrm>
            <a:off x="1013989" y="1265864"/>
            <a:ext cx="10393378" cy="5632311"/>
          </a:xfrm>
          <a:prstGeom prst="rect">
            <a:avLst/>
          </a:prstGeom>
        </p:spPr>
        <p:txBody>
          <a:bodyPr wrap="square">
            <a:spAutoFit/>
          </a:bodyPr>
          <a:lstStyle/>
          <a:p>
            <a:r>
              <a:rPr lang="en-US" dirty="0"/>
              <a:t>• </a:t>
            </a:r>
            <a:r>
              <a:rPr lang="en-US" b="1" dirty="0">
                <a:latin typeface="Times New Roman" panose="02020603050405020304" pitchFamily="18" charset="0"/>
                <a:cs typeface="Times New Roman" panose="02020603050405020304" pitchFamily="18" charset="0"/>
              </a:rPr>
              <a:t>Physical controls </a:t>
            </a:r>
            <a:r>
              <a:rPr lang="en-US" dirty="0">
                <a:latin typeface="Times New Roman" panose="02020603050405020304" pitchFamily="18" charset="0"/>
                <a:cs typeface="Times New Roman" panose="02020603050405020304" pitchFamily="18" charset="0"/>
              </a:rPr>
              <a:t>stop or block an attack by using something tangible </a:t>
            </a:r>
            <a:r>
              <a:rPr lang="en-US" dirty="0" smtClean="0">
                <a:latin typeface="Times New Roman" panose="02020603050405020304" pitchFamily="18" charset="0"/>
                <a:cs typeface="Times New Roman" panose="02020603050405020304" pitchFamily="18" charset="0"/>
              </a:rPr>
              <a:t>too, such as- </a:t>
            </a:r>
          </a:p>
          <a:p>
            <a:pPr marL="361950"/>
            <a:r>
              <a:rPr lang="en-IN" dirty="0">
                <a:latin typeface="Times New Roman" panose="02020603050405020304" pitchFamily="18" charset="0"/>
                <a:cs typeface="Times New Roman" panose="02020603050405020304" pitchFamily="18" charset="0"/>
              </a:rPr>
              <a:t>–</a:t>
            </a:r>
            <a:r>
              <a:rPr lang="en-US" dirty="0" smtClean="0">
                <a:latin typeface="Times New Roman" panose="02020603050405020304" pitchFamily="18" charset="0"/>
                <a:cs typeface="Times New Roman" panose="02020603050405020304" pitchFamily="18" charset="0"/>
              </a:rPr>
              <a:t> walls and fences</a:t>
            </a:r>
          </a:p>
          <a:p>
            <a:pPr marL="361950"/>
            <a:r>
              <a:rPr lang="en-IN" dirty="0" smtClean="0">
                <a:latin typeface="Times New Roman" panose="02020603050405020304" pitchFamily="18" charset="0"/>
                <a:cs typeface="Times New Roman" panose="02020603050405020304" pitchFamily="18" charset="0"/>
              </a:rPr>
              <a:t>– locks</a:t>
            </a:r>
          </a:p>
          <a:p>
            <a:pPr marL="361950"/>
            <a:r>
              <a:rPr lang="en-IN" dirty="0" smtClean="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(human) guards</a:t>
            </a:r>
          </a:p>
          <a:p>
            <a:pPr marL="361950"/>
            <a:r>
              <a:rPr lang="en-US" dirty="0">
                <a:latin typeface="Times New Roman" panose="02020603050405020304" pitchFamily="18" charset="0"/>
                <a:cs typeface="Times New Roman" panose="02020603050405020304" pitchFamily="18" charset="0"/>
              </a:rPr>
              <a:t>– sprinklers and other fire </a:t>
            </a:r>
            <a:r>
              <a:rPr lang="en-US" dirty="0" smtClean="0">
                <a:latin typeface="Times New Roman" panose="02020603050405020304" pitchFamily="18" charset="0"/>
                <a:cs typeface="Times New Roman" panose="02020603050405020304" pitchFamily="18" charset="0"/>
              </a:rPr>
              <a:t>extinguishers</a:t>
            </a:r>
          </a:p>
          <a:p>
            <a:pPr marL="361950"/>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Procedural </a:t>
            </a:r>
            <a:r>
              <a:rPr lang="en-US" dirty="0">
                <a:latin typeface="Times New Roman" panose="02020603050405020304" pitchFamily="18" charset="0"/>
                <a:cs typeface="Times New Roman" panose="02020603050405020304" pitchFamily="18" charset="0"/>
              </a:rPr>
              <a:t>or </a:t>
            </a:r>
            <a:r>
              <a:rPr lang="en-US" b="1" dirty="0">
                <a:latin typeface="Times New Roman" panose="02020603050405020304" pitchFamily="18" charset="0"/>
                <a:cs typeface="Times New Roman" panose="02020603050405020304" pitchFamily="18" charset="0"/>
              </a:rPr>
              <a:t>administrative </a:t>
            </a:r>
            <a:r>
              <a:rPr lang="en-US" dirty="0">
                <a:latin typeface="Times New Roman" panose="02020603050405020304" pitchFamily="18" charset="0"/>
                <a:cs typeface="Times New Roman" panose="02020603050405020304" pitchFamily="18" charset="0"/>
              </a:rPr>
              <a:t>controls use a command or agreement that</a:t>
            </a:r>
          </a:p>
          <a:p>
            <a:pPr marL="361950"/>
            <a:r>
              <a:rPr lang="en-US" dirty="0">
                <a:latin typeface="Times New Roman" panose="02020603050405020304" pitchFamily="18" charset="0"/>
                <a:cs typeface="Times New Roman" panose="02020603050405020304" pitchFamily="18" charset="0"/>
              </a:rPr>
              <a:t>– requires or advises people how to act; for example,</a:t>
            </a:r>
          </a:p>
          <a:p>
            <a:pPr marL="361950"/>
            <a:r>
              <a:rPr lang="en-IN" dirty="0">
                <a:latin typeface="Times New Roman" panose="02020603050405020304" pitchFamily="18" charset="0"/>
                <a:cs typeface="Times New Roman" panose="02020603050405020304" pitchFamily="18" charset="0"/>
              </a:rPr>
              <a:t>– laws, regulations</a:t>
            </a:r>
          </a:p>
          <a:p>
            <a:pPr marL="361950"/>
            <a:r>
              <a:rPr lang="en-IN" dirty="0">
                <a:latin typeface="Times New Roman" panose="02020603050405020304" pitchFamily="18" charset="0"/>
                <a:cs typeface="Times New Roman" panose="02020603050405020304" pitchFamily="18" charset="0"/>
              </a:rPr>
              <a:t>– policies, procedures, guidelines</a:t>
            </a:r>
          </a:p>
          <a:p>
            <a:pPr marL="361950"/>
            <a:r>
              <a:rPr lang="en-IN" dirty="0">
                <a:latin typeface="Times New Roman" panose="02020603050405020304" pitchFamily="18" charset="0"/>
                <a:cs typeface="Times New Roman" panose="02020603050405020304" pitchFamily="18" charset="0"/>
              </a:rPr>
              <a:t>– copyrights, patents</a:t>
            </a:r>
          </a:p>
          <a:p>
            <a:pPr marL="361950"/>
            <a:r>
              <a:rPr lang="en-IN" dirty="0">
                <a:latin typeface="Times New Roman" panose="02020603050405020304" pitchFamily="18" charset="0"/>
                <a:cs typeface="Times New Roman" panose="02020603050405020304" pitchFamily="18" charset="0"/>
              </a:rPr>
              <a:t>– contracts, </a:t>
            </a:r>
            <a:r>
              <a:rPr lang="en-IN" dirty="0" smtClean="0">
                <a:latin typeface="Times New Roman" panose="02020603050405020304" pitchFamily="18" charset="0"/>
                <a:cs typeface="Times New Roman" panose="02020603050405020304" pitchFamily="18" charset="0"/>
              </a:rPr>
              <a:t>agreements</a:t>
            </a:r>
          </a:p>
          <a:p>
            <a:pPr marL="361950"/>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Technical controls </a:t>
            </a:r>
            <a:r>
              <a:rPr lang="en-US" dirty="0">
                <a:latin typeface="Times New Roman" panose="02020603050405020304" pitchFamily="18" charset="0"/>
                <a:cs typeface="Times New Roman" panose="02020603050405020304" pitchFamily="18" charset="0"/>
              </a:rPr>
              <a:t>counter threats with technology (hardware or software</a:t>
            </a:r>
            <a:r>
              <a:rPr lang="en-US" dirty="0" smtClean="0">
                <a:latin typeface="Times New Roman" panose="02020603050405020304" pitchFamily="18" charset="0"/>
                <a:cs typeface="Times New Roman" panose="02020603050405020304" pitchFamily="18" charset="0"/>
              </a:rPr>
              <a:t>), </a:t>
            </a:r>
            <a:r>
              <a:rPr lang="en-IN" dirty="0" smtClean="0">
                <a:latin typeface="Times New Roman" panose="02020603050405020304" pitchFamily="18" charset="0"/>
                <a:cs typeface="Times New Roman" panose="02020603050405020304" pitchFamily="18" charset="0"/>
              </a:rPr>
              <a:t>including</a:t>
            </a:r>
            <a:endParaRPr lang="en-IN" dirty="0">
              <a:latin typeface="Times New Roman" panose="02020603050405020304" pitchFamily="18" charset="0"/>
              <a:cs typeface="Times New Roman" panose="02020603050405020304" pitchFamily="18" charset="0"/>
            </a:endParaRPr>
          </a:p>
          <a:p>
            <a:pPr marL="361950"/>
            <a:r>
              <a:rPr lang="en-IN" dirty="0">
                <a:latin typeface="Times New Roman" panose="02020603050405020304" pitchFamily="18" charset="0"/>
                <a:cs typeface="Times New Roman" panose="02020603050405020304" pitchFamily="18" charset="0"/>
              </a:rPr>
              <a:t>– passwords</a:t>
            </a:r>
          </a:p>
          <a:p>
            <a:pPr marL="361950"/>
            <a:r>
              <a:rPr lang="en-US" dirty="0">
                <a:latin typeface="Times New Roman" panose="02020603050405020304" pitchFamily="18" charset="0"/>
                <a:cs typeface="Times New Roman" panose="02020603050405020304" pitchFamily="18" charset="0"/>
              </a:rPr>
              <a:t>– program or operating system access controls</a:t>
            </a:r>
          </a:p>
          <a:p>
            <a:pPr marL="361950"/>
            <a:r>
              <a:rPr lang="en-IN" dirty="0">
                <a:latin typeface="Times New Roman" panose="02020603050405020304" pitchFamily="18" charset="0"/>
                <a:cs typeface="Times New Roman" panose="02020603050405020304" pitchFamily="18" charset="0"/>
              </a:rPr>
              <a:t>– network protocols</a:t>
            </a:r>
          </a:p>
          <a:p>
            <a:pPr marL="361950"/>
            <a:r>
              <a:rPr lang="en-IN" dirty="0">
                <a:latin typeface="Times New Roman" panose="02020603050405020304" pitchFamily="18" charset="0"/>
                <a:cs typeface="Times New Roman" panose="02020603050405020304" pitchFamily="18" charset="0"/>
              </a:rPr>
              <a:t>– firewalls, intrusion detection systems</a:t>
            </a:r>
          </a:p>
          <a:p>
            <a:pPr marL="361950"/>
            <a:r>
              <a:rPr lang="en-IN" dirty="0">
                <a:latin typeface="Times New Roman" panose="02020603050405020304" pitchFamily="18" charset="0"/>
                <a:cs typeface="Times New Roman" panose="02020603050405020304" pitchFamily="18" charset="0"/>
              </a:rPr>
              <a:t>– encryption</a:t>
            </a:r>
          </a:p>
          <a:p>
            <a:pPr marL="361950"/>
            <a:r>
              <a:rPr lang="en-IN" dirty="0">
                <a:latin typeface="Times New Roman" panose="02020603050405020304" pitchFamily="18" charset="0"/>
                <a:cs typeface="Times New Roman" panose="02020603050405020304" pitchFamily="18" charset="0"/>
              </a:rPr>
              <a:t>– network traffic flow regulators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944393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ext Box 1"/>
          <p:cNvSpPr txBox="1">
            <a:spLocks noChangeArrowheads="1"/>
          </p:cNvSpPr>
          <p:nvPr/>
        </p:nvSpPr>
        <p:spPr bwMode="auto">
          <a:xfrm>
            <a:off x="914400" y="609600"/>
            <a:ext cx="10360025"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6" charset="0"/>
                <a:ea typeface="WenQuanYi Micro Hei" charset="0"/>
                <a:cs typeface="WenQuanYi Micro Hei" charset="0"/>
              </a:defRPr>
            </a:lvl9pPr>
          </a:lstStyle>
          <a:p>
            <a:pPr algn="ctr">
              <a:buClrTx/>
              <a:buFontTx/>
              <a:buNone/>
            </a:pPr>
            <a:r>
              <a:rPr lang="en-US" altLang="en-US" sz="4400">
                <a:solidFill>
                  <a:srgbClr val="000000"/>
                </a:solidFill>
              </a:rPr>
              <a:t>Effectiveness of Controls</a:t>
            </a:r>
          </a:p>
        </p:txBody>
      </p:sp>
      <p:sp>
        <p:nvSpPr>
          <p:cNvPr id="32771" name="Text Box 2"/>
          <p:cNvSpPr txBox="1">
            <a:spLocks noChangeArrowheads="1"/>
          </p:cNvSpPr>
          <p:nvPr/>
        </p:nvSpPr>
        <p:spPr bwMode="auto">
          <a:xfrm>
            <a:off x="914400" y="1981200"/>
            <a:ext cx="10360025"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1313" indent="-341313">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bg1"/>
                </a:solidFill>
                <a:latin typeface="Times New Roman" pitchFamily="16" charset="0"/>
                <a:ea typeface="WenQuanYi Micro Hei" charset="0"/>
                <a:cs typeface="WenQuanYi Micro Hei" charset="0"/>
              </a:defRPr>
            </a:lvl1pPr>
            <a:lvl2pPr marL="741363" indent="-284163">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bg1"/>
                </a:solidFill>
                <a:latin typeface="Times New Roman" pitchFamily="16" charset="0"/>
                <a:ea typeface="WenQuanYi Micro Hei" charset="0"/>
                <a:cs typeface="WenQuanYi Micro Hei"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bg1"/>
                </a:solidFill>
                <a:latin typeface="Times New Roman" pitchFamily="16" charset="0"/>
                <a:ea typeface="WenQuanYi Micro Hei" charset="0"/>
                <a:cs typeface="WenQuanYi Micro Hei"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bg1"/>
                </a:solidFill>
                <a:latin typeface="Times New Roman" pitchFamily="16" charset="0"/>
                <a:ea typeface="WenQuanYi Micro Hei" charset="0"/>
                <a:cs typeface="WenQuanYi Micro Hei"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bg1"/>
                </a:solidFill>
                <a:latin typeface="Times New Roman" pitchFamily="16" charset="0"/>
                <a:ea typeface="WenQuanYi Micro Hei"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bg1"/>
                </a:solidFill>
                <a:latin typeface="Times New Roman" pitchFamily="16" charset="0"/>
                <a:ea typeface="WenQuanYi Micro Hei"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bg1"/>
                </a:solidFill>
                <a:latin typeface="Times New Roman" pitchFamily="16" charset="0"/>
                <a:ea typeface="WenQuanYi Micro Hei"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bg1"/>
                </a:solidFill>
                <a:latin typeface="Times New Roman" pitchFamily="16" charset="0"/>
                <a:ea typeface="WenQuanYi Micro Hei"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bg1"/>
                </a:solidFill>
                <a:latin typeface="Times New Roman" pitchFamily="16" charset="0"/>
                <a:ea typeface="WenQuanYi Micro Hei" charset="0"/>
                <a:cs typeface="WenQuanYi Micro Hei" charset="0"/>
              </a:defRPr>
            </a:lvl9pPr>
          </a:lstStyle>
          <a:p>
            <a:pPr>
              <a:spcBef>
                <a:spcPts val="700"/>
              </a:spcBef>
              <a:buFont typeface="Times New Roman" pitchFamily="16" charset="0"/>
              <a:buChar char="•"/>
            </a:pPr>
            <a:r>
              <a:rPr lang="en-US" altLang="en-US" sz="2800" dirty="0">
                <a:solidFill>
                  <a:srgbClr val="000000"/>
                </a:solidFill>
              </a:rPr>
              <a:t>Awareness of Problem</a:t>
            </a:r>
          </a:p>
          <a:p>
            <a:pPr lvl="1">
              <a:spcBef>
                <a:spcPts val="600"/>
              </a:spcBef>
              <a:buFont typeface="Times New Roman" pitchFamily="16" charset="0"/>
              <a:buChar char="–"/>
            </a:pPr>
            <a:r>
              <a:rPr lang="en-US" altLang="en-US" dirty="0">
                <a:solidFill>
                  <a:srgbClr val="000000"/>
                </a:solidFill>
              </a:rPr>
              <a:t>Highlighting Need of security</a:t>
            </a:r>
          </a:p>
          <a:p>
            <a:pPr>
              <a:spcBef>
                <a:spcPts val="700"/>
              </a:spcBef>
              <a:buFont typeface="Times New Roman" pitchFamily="16" charset="0"/>
              <a:buChar char="•"/>
            </a:pPr>
            <a:r>
              <a:rPr lang="en-US" altLang="en-US" sz="2800" dirty="0" smtClean="0">
                <a:solidFill>
                  <a:srgbClr val="000000"/>
                </a:solidFill>
              </a:rPr>
              <a:t>Likelihood (probability) </a:t>
            </a:r>
            <a:r>
              <a:rPr lang="en-US" altLang="en-US" sz="2800" dirty="0">
                <a:solidFill>
                  <a:srgbClr val="000000"/>
                </a:solidFill>
              </a:rPr>
              <a:t>of Use</a:t>
            </a:r>
          </a:p>
          <a:p>
            <a:pPr lvl="1">
              <a:spcBef>
                <a:spcPts val="600"/>
              </a:spcBef>
              <a:buFont typeface="Times New Roman" pitchFamily="16" charset="0"/>
              <a:buChar char="–"/>
            </a:pPr>
            <a:r>
              <a:rPr lang="en-US" altLang="en-US" dirty="0">
                <a:solidFill>
                  <a:srgbClr val="000000"/>
                </a:solidFill>
              </a:rPr>
              <a:t>They must be efficient, easy to use, and appropriate</a:t>
            </a:r>
          </a:p>
          <a:p>
            <a:pPr>
              <a:spcBef>
                <a:spcPts val="700"/>
              </a:spcBef>
              <a:buFont typeface="Times New Roman" pitchFamily="16" charset="0"/>
              <a:buChar char="•"/>
            </a:pPr>
            <a:r>
              <a:rPr lang="en-US" altLang="en-US" sz="2800" dirty="0">
                <a:solidFill>
                  <a:srgbClr val="000000"/>
                </a:solidFill>
              </a:rPr>
              <a:t>Overlapping Controls</a:t>
            </a:r>
          </a:p>
          <a:p>
            <a:pPr lvl="1">
              <a:spcBef>
                <a:spcPts val="600"/>
              </a:spcBef>
              <a:buFont typeface="Times New Roman" pitchFamily="16" charset="0"/>
              <a:buChar char="–"/>
            </a:pPr>
            <a:r>
              <a:rPr lang="en-US" altLang="en-US" dirty="0">
                <a:solidFill>
                  <a:srgbClr val="000000"/>
                </a:solidFill>
              </a:rPr>
              <a:t>Use several different controls, layered defense</a:t>
            </a:r>
          </a:p>
          <a:p>
            <a:pPr>
              <a:spcBef>
                <a:spcPts val="700"/>
              </a:spcBef>
              <a:buFont typeface="Times New Roman" pitchFamily="16" charset="0"/>
              <a:buChar char="•"/>
            </a:pPr>
            <a:r>
              <a:rPr lang="en-US" altLang="en-US" sz="2800" dirty="0">
                <a:solidFill>
                  <a:srgbClr val="000000"/>
                </a:solidFill>
              </a:rPr>
              <a:t>Periodic reviews</a:t>
            </a:r>
          </a:p>
          <a:p>
            <a:pPr lvl="1">
              <a:spcBef>
                <a:spcPts val="600"/>
              </a:spcBef>
              <a:buFont typeface="Times New Roman" pitchFamily="16" charset="0"/>
              <a:buChar char="–"/>
            </a:pPr>
            <a:r>
              <a:rPr lang="en-US" altLang="en-US" dirty="0">
                <a:solidFill>
                  <a:srgbClr val="000000"/>
                </a:solidFill>
              </a:rPr>
              <a:t>Judging the effectiveness of control is an ongoing task</a:t>
            </a:r>
          </a:p>
        </p:txBody>
      </p:sp>
    </p:spTree>
    <p:extLst>
      <p:ext uri="{BB962C8B-B14F-4D97-AF65-F5344CB8AC3E}">
        <p14:creationId xmlns:p14="http://schemas.microsoft.com/office/powerpoint/2010/main" val="2146150394"/>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华文新魏"/>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华文新魏"/>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926</TotalTime>
  <Words>1773</Words>
  <Application>Microsoft Office PowerPoint</Application>
  <PresentationFormat>Custom</PresentationFormat>
  <Paragraphs>250</Paragraphs>
  <Slides>23</Slides>
  <Notes>21</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Clarity</vt:lpstr>
      <vt:lpstr>PowerPoint Presentation</vt:lpstr>
      <vt:lpstr>What Is Information Security?</vt:lpstr>
      <vt:lpstr>PowerPoint Presentation</vt:lpstr>
      <vt:lpstr>Threat &amp; Vulnerability</vt:lpstr>
      <vt:lpstr>The CIA Triad / Security Traid</vt:lpstr>
      <vt:lpstr>PowerPoint Presentation</vt:lpstr>
      <vt:lpstr>PowerPoint Presentation</vt:lpstr>
      <vt:lpstr>PowerPoint Presentation</vt:lpstr>
      <vt:lpstr>Access Control</vt:lpstr>
      <vt:lpstr>Types / Kinds of Threats</vt:lpstr>
      <vt:lpstr>Advanced Persistent Threat (APT)</vt:lpstr>
      <vt:lpstr>Types of Attackers</vt:lpstr>
      <vt:lpstr>Types of Harm</vt:lpstr>
      <vt:lpstr>PowerPoint Presentation</vt:lpstr>
      <vt:lpstr>Vulnerability</vt:lpstr>
      <vt:lpstr>Controls / Countermeasures</vt:lpstr>
      <vt:lpstr>Different Types of Controls</vt:lpstr>
      <vt:lpstr>PowerPoint Presentation</vt:lpstr>
      <vt:lpstr>PowerPoint Presentation</vt:lpstr>
      <vt:lpstr>PowerPoint Presentation</vt:lpstr>
      <vt:lpstr>PowerPoint Presentation</vt:lpstr>
      <vt:lpstr>PowerPoint Presentation</vt:lpstr>
      <vt:lpstr>PowerPoint Presentation</vt:lpstr>
    </vt:vector>
  </TitlesOfParts>
  <Company>Qmulos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Security in Computing, Fifth Edition</dc:title>
  <dc:creator>Jonathan Margulies</dc:creator>
  <cp:lastModifiedBy>Admin</cp:lastModifiedBy>
  <cp:revision>99</cp:revision>
  <dcterms:created xsi:type="dcterms:W3CDTF">2015-09-08T13:00:15Z</dcterms:created>
  <dcterms:modified xsi:type="dcterms:W3CDTF">2025-07-22T05:01:39Z</dcterms:modified>
</cp:coreProperties>
</file>