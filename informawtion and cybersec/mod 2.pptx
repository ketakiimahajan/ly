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80"/>
  </p:notesMasterIdLst>
  <p:handoutMasterIdLst>
    <p:handoutMasterId r:id="rId81"/>
  </p:handoutMasterIdLst>
  <p:sldIdLst>
    <p:sldId id="256" r:id="rId3"/>
    <p:sldId id="506" r:id="rId4"/>
    <p:sldId id="257" r:id="rId5"/>
    <p:sldId id="525" r:id="rId6"/>
    <p:sldId id="259" r:id="rId7"/>
    <p:sldId id="527" r:id="rId8"/>
    <p:sldId id="528" r:id="rId9"/>
    <p:sldId id="526" r:id="rId10"/>
    <p:sldId id="266" r:id="rId11"/>
    <p:sldId id="267" r:id="rId12"/>
    <p:sldId id="268" r:id="rId13"/>
    <p:sldId id="529" r:id="rId14"/>
    <p:sldId id="472" r:id="rId15"/>
    <p:sldId id="478" r:id="rId16"/>
    <p:sldId id="515" r:id="rId17"/>
    <p:sldId id="516" r:id="rId18"/>
    <p:sldId id="517" r:id="rId19"/>
    <p:sldId id="518" r:id="rId20"/>
    <p:sldId id="519" r:id="rId21"/>
    <p:sldId id="520" r:id="rId22"/>
    <p:sldId id="530" r:id="rId23"/>
    <p:sldId id="475" r:id="rId24"/>
    <p:sldId id="476" r:id="rId25"/>
    <p:sldId id="477" r:id="rId26"/>
    <p:sldId id="275" r:id="rId27"/>
    <p:sldId id="531" r:id="rId28"/>
    <p:sldId id="276" r:id="rId29"/>
    <p:sldId id="514" r:id="rId30"/>
    <p:sldId id="280" r:id="rId31"/>
    <p:sldId id="495" r:id="rId32"/>
    <p:sldId id="532" r:id="rId33"/>
    <p:sldId id="496" r:id="rId34"/>
    <p:sldId id="497" r:id="rId35"/>
    <p:sldId id="533" r:id="rId36"/>
    <p:sldId id="498" r:id="rId37"/>
    <p:sldId id="499" r:id="rId38"/>
    <p:sldId id="534" r:id="rId39"/>
    <p:sldId id="500" r:id="rId40"/>
    <p:sldId id="501" r:id="rId41"/>
    <p:sldId id="502" r:id="rId42"/>
    <p:sldId id="535" r:id="rId43"/>
    <p:sldId id="536" r:id="rId44"/>
    <p:sldId id="537" r:id="rId45"/>
    <p:sldId id="538" r:id="rId46"/>
    <p:sldId id="539" r:id="rId47"/>
    <p:sldId id="503" r:id="rId48"/>
    <p:sldId id="541" r:id="rId49"/>
    <p:sldId id="542" r:id="rId50"/>
    <p:sldId id="544" r:id="rId51"/>
    <p:sldId id="543" r:id="rId52"/>
    <p:sldId id="545" r:id="rId53"/>
    <p:sldId id="546" r:id="rId54"/>
    <p:sldId id="547" r:id="rId55"/>
    <p:sldId id="548" r:id="rId56"/>
    <p:sldId id="549" r:id="rId57"/>
    <p:sldId id="550" r:id="rId58"/>
    <p:sldId id="551" r:id="rId59"/>
    <p:sldId id="552" r:id="rId60"/>
    <p:sldId id="553" r:id="rId61"/>
    <p:sldId id="554" r:id="rId62"/>
    <p:sldId id="555" r:id="rId63"/>
    <p:sldId id="540" r:id="rId64"/>
    <p:sldId id="288" r:id="rId65"/>
    <p:sldId id="556" r:id="rId66"/>
    <p:sldId id="557" r:id="rId67"/>
    <p:sldId id="558" r:id="rId68"/>
    <p:sldId id="559" r:id="rId69"/>
    <p:sldId id="560" r:id="rId70"/>
    <p:sldId id="561" r:id="rId71"/>
    <p:sldId id="562" r:id="rId72"/>
    <p:sldId id="563" r:id="rId73"/>
    <p:sldId id="289" r:id="rId74"/>
    <p:sldId id="504" r:id="rId75"/>
    <p:sldId id="564" r:id="rId76"/>
    <p:sldId id="565" r:id="rId77"/>
    <p:sldId id="505" r:id="rId78"/>
    <p:sldId id="291" r:id="rId7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larity" initials="C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9826"/>
    <p:restoredTop sz="96084" autoAdjust="0"/>
  </p:normalViewPr>
  <p:slideViewPr>
    <p:cSldViewPr snapToGrid="0" snapToObjects="1">
      <p:cViewPr>
        <p:scale>
          <a:sx n="60" d="100"/>
          <a:sy n="60" d="100"/>
        </p:scale>
        <p:origin x="-304" y="-112"/>
      </p:cViewPr>
      <p:guideLst>
        <p:guide orient="horz" pos="2160"/>
        <p:guide pos="383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commentAuthors" Target="commentAuthor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handoutMaster" Target="handoutMasters/handoutMaster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B0C9C4-9409-BD49-811C-D48E24724D50}" type="datetimeFigureOut">
              <a:rPr lang="en-US" smtClean="0"/>
              <a:t>8/13/2025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A6E3024-8639-1645-A448-7F7EC0FAA7DD}" type="slidenum">
              <a:rPr lang="en-US" smtClean="0"/>
              <a:t>‹#›</a:t>
            </a:fld>
            <a:endParaRPr lang="en-US"/>
          </a:p>
        </p:txBody>
      </p:sp>
    </p:spTree>
    <p:extLst>
      <p:ext uri="{BB962C8B-B14F-4D97-AF65-F5344CB8AC3E}">
        <p14:creationId xmlns:p14="http://schemas.microsoft.com/office/powerpoint/2010/main" val="3787659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6238F5-CBCA-EA41-B798-8AF07EB5611C}" type="datetimeFigureOut">
              <a:rPr lang="en-US" smtClean="0"/>
              <a:t>8/13/2025</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C26E00-EEE8-124F-8524-3255E29AA7FA}" type="slidenum">
              <a:rPr lang="en-US" smtClean="0"/>
              <a:t>‹#›</a:t>
            </a:fld>
            <a:endParaRPr lang="en-US"/>
          </a:p>
        </p:txBody>
      </p:sp>
    </p:spTree>
    <p:extLst>
      <p:ext uri="{BB962C8B-B14F-4D97-AF65-F5344CB8AC3E}">
        <p14:creationId xmlns:p14="http://schemas.microsoft.com/office/powerpoint/2010/main" val="306373026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C26E00-EEE8-124F-8524-3255E29AA7FA}" type="slidenum">
              <a:rPr lang="en-US" smtClean="0"/>
              <a:t>3</a:t>
            </a:fld>
            <a:endParaRPr lang="en-US" dirty="0"/>
          </a:p>
        </p:txBody>
      </p:sp>
    </p:spTree>
    <p:extLst>
      <p:ext uri="{BB962C8B-B14F-4D97-AF65-F5344CB8AC3E}">
        <p14:creationId xmlns:p14="http://schemas.microsoft.com/office/powerpoint/2010/main" val="748541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C26E00-EEE8-124F-8524-3255E29AA7FA}" type="slidenum">
              <a:rPr lang="en-US" smtClean="0"/>
              <a:t>4</a:t>
            </a:fld>
            <a:endParaRPr lang="en-US"/>
          </a:p>
        </p:txBody>
      </p:sp>
    </p:spTree>
    <p:extLst>
      <p:ext uri="{BB962C8B-B14F-4D97-AF65-F5344CB8AC3E}">
        <p14:creationId xmlns:p14="http://schemas.microsoft.com/office/powerpoint/2010/main" val="1862242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C26E00-EEE8-124F-8524-3255E29AA7FA}" type="slidenum">
              <a:rPr lang="en-US" smtClean="0"/>
              <a:t>5</a:t>
            </a:fld>
            <a:endParaRPr lang="en-US"/>
          </a:p>
        </p:txBody>
      </p:sp>
    </p:spTree>
    <p:extLst>
      <p:ext uri="{BB962C8B-B14F-4D97-AF65-F5344CB8AC3E}">
        <p14:creationId xmlns:p14="http://schemas.microsoft.com/office/powerpoint/2010/main" val="1862242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C26E00-EEE8-124F-8524-3255E29AA7FA}" type="slidenum">
              <a:rPr lang="en-US" smtClean="0"/>
              <a:t>6</a:t>
            </a:fld>
            <a:endParaRPr lang="en-US"/>
          </a:p>
        </p:txBody>
      </p:sp>
    </p:spTree>
    <p:extLst>
      <p:ext uri="{BB962C8B-B14F-4D97-AF65-F5344CB8AC3E}">
        <p14:creationId xmlns:p14="http://schemas.microsoft.com/office/powerpoint/2010/main" val="1862242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C26E00-EEE8-124F-8524-3255E29AA7FA}" type="slidenum">
              <a:rPr lang="en-US" smtClean="0"/>
              <a:t>7</a:t>
            </a:fld>
            <a:endParaRPr lang="en-US"/>
          </a:p>
        </p:txBody>
      </p:sp>
    </p:spTree>
    <p:extLst>
      <p:ext uri="{BB962C8B-B14F-4D97-AF65-F5344CB8AC3E}">
        <p14:creationId xmlns:p14="http://schemas.microsoft.com/office/powerpoint/2010/main" val="18622426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C26E00-EEE8-124F-8524-3255E29AA7FA}" type="slidenum">
              <a:rPr lang="en-US" smtClean="0"/>
              <a:t>8</a:t>
            </a:fld>
            <a:endParaRPr lang="en-US"/>
          </a:p>
        </p:txBody>
      </p:sp>
    </p:spTree>
    <p:extLst>
      <p:ext uri="{BB962C8B-B14F-4D97-AF65-F5344CB8AC3E}">
        <p14:creationId xmlns:p14="http://schemas.microsoft.com/office/powerpoint/2010/main" val="1862242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8"/>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D651AE-1355-47FC-A588-D7A51588B72F}" type="datetime1">
              <a:rPr lang="en-US" smtClean="0"/>
              <a:t>8/13/2025</a:t>
            </a:fld>
            <a:endParaRPr lang="en-US"/>
          </a:p>
        </p:txBody>
      </p:sp>
      <p:sp>
        <p:nvSpPr>
          <p:cNvPr id="5" name="Footer Placeholder 4"/>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2330821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0824FB-93C2-4404-B477-31CC49AC6BF6}" type="datetime1">
              <a:rPr lang="en-US" smtClean="0"/>
              <a:t>8/13/2025</a:t>
            </a:fld>
            <a:endParaRPr lang="en-US"/>
          </a:p>
        </p:txBody>
      </p:sp>
      <p:sp>
        <p:nvSpPr>
          <p:cNvPr id="5" name="Footer Placeholder 4"/>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4004615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3"/>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46F207-51E4-42E5-9823-09DD6121B6D5}" type="datetime1">
              <a:rPr lang="en-US" smtClean="0"/>
              <a:t>8/13/2025</a:t>
            </a:fld>
            <a:endParaRPr lang="en-US"/>
          </a:p>
        </p:txBody>
      </p:sp>
      <p:sp>
        <p:nvSpPr>
          <p:cNvPr id="5" name="Footer Placeholder 4"/>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2339971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3"/>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3"/>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E63A8E9-B5FD-4DC4-BD59-38334A985DDB}" type="datetime1">
              <a:rPr lang="en-US" smtClean="0"/>
              <a:t>8/13/2025</a:t>
            </a:fld>
            <a:endParaRPr lang="en-US"/>
          </a:p>
        </p:txBody>
      </p:sp>
      <p:sp>
        <p:nvSpPr>
          <p:cNvPr id="6" name="Footer Placeholder 5"/>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7" name="Slide Number Placeholder 6"/>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1158137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73A748-EAB7-4F02-969E-A00663B7FA79}" type="datetime1">
              <a:rPr lang="en-US" smtClean="0"/>
              <a:t>8/13/2025</a:t>
            </a:fld>
            <a:endParaRPr lang="en-US"/>
          </a:p>
        </p:txBody>
      </p:sp>
      <p:sp>
        <p:nvSpPr>
          <p:cNvPr id="8" name="Footer Placeholder 7"/>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9" name="Slide Number Placeholder 8"/>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300717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771427-6C1D-45F1-A648-2CFD4FA1605D}" type="datetime1">
              <a:rPr lang="en-US" smtClean="0"/>
              <a:t>8/13/2025</a:t>
            </a:fld>
            <a:endParaRPr lang="en-US"/>
          </a:p>
        </p:txBody>
      </p:sp>
      <p:sp>
        <p:nvSpPr>
          <p:cNvPr id="4" name="Footer Placeholder 3"/>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5" name="Slide Number Placeholder 4"/>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218202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1B6414-AC29-4FD9-8F10-66E3A76C0C10}" type="datetime1">
              <a:rPr lang="en-US" smtClean="0"/>
              <a:t>8/13/2025</a:t>
            </a:fld>
            <a:endParaRPr lang="en-US"/>
          </a:p>
        </p:txBody>
      </p:sp>
      <p:sp>
        <p:nvSpPr>
          <p:cNvPr id="3" name="Footer Placeholder 2"/>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4" name="Slide Number Placeholder 3"/>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3543989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3"/>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3"/>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5B2EDB-F5A0-4690-A1DF-5499C01229C3}" type="datetime1">
              <a:rPr lang="en-US" smtClean="0"/>
              <a:t>8/13/2025</a:t>
            </a:fld>
            <a:endParaRPr lang="en-US"/>
          </a:p>
        </p:txBody>
      </p:sp>
      <p:sp>
        <p:nvSpPr>
          <p:cNvPr id="6" name="Footer Placeholder 5"/>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7" name="Slide Number Placeholder 6"/>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2360785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9F2EE2-6649-4EED-8392-76C1EC013F16}" type="datetime1">
              <a:rPr lang="en-US" smtClean="0"/>
              <a:t>8/13/2025</a:t>
            </a:fld>
            <a:endParaRPr lang="en-US"/>
          </a:p>
        </p:txBody>
      </p:sp>
      <p:sp>
        <p:nvSpPr>
          <p:cNvPr id="6" name="Footer Placeholder 5"/>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7" name="Slide Number Placeholder 6"/>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853690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A5A320-0B69-4EC1-AD85-38F28D30E03E}" type="datetime1">
              <a:rPr lang="en-US" smtClean="0"/>
              <a:t>8/13/2025</a:t>
            </a:fld>
            <a:endParaRPr lang="en-US"/>
          </a:p>
        </p:txBody>
      </p:sp>
      <p:sp>
        <p:nvSpPr>
          <p:cNvPr id="5" name="Footer Placeholder 4"/>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340173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41"/>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41"/>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A195E87-F3D9-4C09-B556-26D34F21FA59}" type="datetime1">
              <a:rPr lang="en-US" smtClean="0"/>
              <a:t>8/13/2025</a:t>
            </a:fld>
            <a:endParaRPr lang="en-US"/>
          </a:p>
        </p:txBody>
      </p:sp>
      <p:sp>
        <p:nvSpPr>
          <p:cNvPr id="5" name="Footer Placeholder 4"/>
          <p:cNvSpPr>
            <a:spLocks noGrp="1"/>
          </p:cNvSpPr>
          <p:nvPr>
            <p:ph type="ftr" sz="quarter" idx="11"/>
          </p:nvPr>
        </p:nvSpPr>
        <p:spPr/>
        <p:txBody>
          <a:bodyPr/>
          <a:lstStyle/>
          <a:p>
            <a:r>
              <a:rPr lang="en-US"/>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D94EC0BA-C369-6D48-9C90-49FF412FC96B}" type="slidenum">
              <a:rPr lang="en-US" smtClean="0"/>
              <a:t>‹#›</a:t>
            </a:fld>
            <a:endParaRPr lang="en-US"/>
          </a:p>
        </p:txBody>
      </p:sp>
    </p:spTree>
    <p:extLst>
      <p:ext uri="{BB962C8B-B14F-4D97-AF65-F5344CB8AC3E}">
        <p14:creationId xmlns:p14="http://schemas.microsoft.com/office/powerpoint/2010/main" val="2753941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3" y="1371603"/>
            <a:ext cx="10462075"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162" y="3505200"/>
            <a:ext cx="8532178"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685E03-FFF5-4515-A4AD-BC830D7D515E}" type="datetime1">
              <a:rPr lang="en-US" smtClean="0">
                <a:latin typeface="Arial"/>
              </a:rPr>
              <a:t>8/13/2025</a:t>
            </a:fld>
            <a:endParaRPr lang="en-US">
              <a:latin typeface="Arial"/>
            </a:endParaRPr>
          </a:p>
        </p:txBody>
      </p:sp>
      <p:sp>
        <p:nvSpPr>
          <p:cNvPr id="5" name="Footer Placeholder 4"/>
          <p:cNvSpPr>
            <a:spLocks noGrp="1"/>
          </p:cNvSpPr>
          <p:nvPr>
            <p:ph type="ftr" sz="quarter" idx="11"/>
          </p:nvPr>
        </p:nvSpPr>
        <p:spPr>
          <a:xfrm>
            <a:off x="0" y="6528816"/>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8" name="Straight Connector 7"/>
          <p:cNvCxnSpPr/>
          <p:nvPr/>
        </p:nvCxnSpPr>
        <p:spPr>
          <a:xfrm>
            <a:off x="914163" y="3398520"/>
            <a:ext cx="104620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63281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223C37-918A-4DF9-A9A7-1519F9CCA9F3}" type="datetime1">
              <a:rPr lang="en-US" smtClean="0">
                <a:latin typeface="Arial"/>
              </a:rPr>
              <a:t>8/13/2025</a:t>
            </a:fld>
            <a:endParaRPr lang="en-US">
              <a:latin typeface="Arial"/>
            </a:endParaRPr>
          </a:p>
        </p:txBody>
      </p:sp>
      <p:sp>
        <p:nvSpPr>
          <p:cNvPr id="5"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3278011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2833" y="2362201"/>
            <a:ext cx="10360501"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2833" y="4626867"/>
            <a:ext cx="10360501"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25D31E-A65E-43AF-AE3E-17F6DB6683C3}" type="datetime1">
              <a:rPr lang="en-US" smtClean="0">
                <a:latin typeface="Arial"/>
              </a:rPr>
              <a:t>8/13/2025</a:t>
            </a:fld>
            <a:endParaRPr lang="en-US">
              <a:latin typeface="Arial"/>
            </a:endParaRPr>
          </a:p>
        </p:txBody>
      </p:sp>
      <p:sp>
        <p:nvSpPr>
          <p:cNvPr id="5" name="Footer Placeholder 4"/>
          <p:cNvSpPr>
            <a:spLocks noGrp="1"/>
          </p:cNvSpPr>
          <p:nvPr>
            <p:ph type="ftr" sz="quarter" idx="11"/>
          </p:nvPr>
        </p:nvSpPr>
        <p:spPr>
          <a:xfrm>
            <a:off x="0" y="6560350"/>
            <a:ext cx="12188825" cy="297653"/>
          </a:xfrm>
        </p:spPr>
        <p:txBody>
          <a:bodyPr/>
          <a:lstStyle>
            <a:lvl1pPr>
              <a:defRPr sz="950"/>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7" name="Straight Connector 6"/>
          <p:cNvCxnSpPr/>
          <p:nvPr/>
        </p:nvCxnSpPr>
        <p:spPr>
          <a:xfrm>
            <a:off x="975106" y="4599432"/>
            <a:ext cx="104620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072716"/>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73352"/>
            <a:ext cx="5383398"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5986" y="1673352"/>
            <a:ext cx="5383398"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B26BC5-C58F-4308-843B-D75E8368E630}" type="datetime1">
              <a:rPr lang="en-US" smtClean="0">
                <a:latin typeface="Arial"/>
              </a:rPr>
              <a:t>8/13/2025</a:t>
            </a:fld>
            <a:endParaRPr lang="en-US">
              <a:latin typeface="Arial"/>
            </a:endParaRP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
        <p:nvSpPr>
          <p:cNvPr id="8"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1645232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441" y="1676400"/>
            <a:ext cx="5241195"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438400"/>
            <a:ext cx="524119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8189" y="1676400"/>
            <a:ext cx="5241195"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8189" y="2438400"/>
            <a:ext cx="524119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CC771C-A6AA-4737-AA05-762D598A6F5B}" type="datetime1">
              <a:rPr lang="en-US" smtClean="0">
                <a:latin typeface="Arial"/>
              </a:rPr>
              <a:t>8/13/2025</a:t>
            </a:fld>
            <a:endParaRPr lang="en-US">
              <a:latin typeface="Arial"/>
            </a:endParaRPr>
          </a:p>
        </p:txBody>
      </p:sp>
      <p:sp>
        <p:nvSpPr>
          <p:cNvPr id="9" name="Slide Number Placeholder 8"/>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11" name="Straight Connector 10"/>
          <p:cNvCxnSpPr/>
          <p:nvPr/>
        </p:nvCxnSpPr>
        <p:spPr>
          <a:xfrm rot="5400000">
            <a:off x="3740362" y="4045691"/>
            <a:ext cx="4709160" cy="105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30988002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8E1F71-5408-43B2-8BDB-7EBF5A3B4391}" type="datetime1">
              <a:rPr lang="en-US" smtClean="0">
                <a:latin typeface="Arial"/>
              </a:rPr>
              <a:t>8/13/2025</a:t>
            </a:fld>
            <a:endParaRPr lang="en-US">
              <a:latin typeface="Arial"/>
            </a:endParaRP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
        <p:nvSpPr>
          <p:cNvPr id="6"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37523325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1BD787-584B-431D-B710-EA5C55C7950D}" type="datetime1">
              <a:rPr lang="en-US" smtClean="0">
                <a:latin typeface="Arial"/>
              </a:rPr>
              <a:t>8/13/2025</a:t>
            </a:fld>
            <a:endParaRPr lang="en-US">
              <a:latin typeface="Arial"/>
            </a:endParaRPr>
          </a:p>
        </p:txBody>
      </p:sp>
      <p:sp>
        <p:nvSpPr>
          <p:cNvPr id="3" name="Footer Placeholder 2"/>
          <p:cNvSpPr>
            <a:spLocks noGrp="1"/>
          </p:cNvSpPr>
          <p:nvPr>
            <p:ph type="ftr" sz="quarter" idx="11"/>
          </p:nvPr>
        </p:nvSpPr>
        <p:spPr/>
        <p:txBody>
          <a:bodyPr/>
          <a:lstStyle/>
          <a:p>
            <a:r>
              <a:rPr lang="en-US">
                <a:latin typeface="Arial"/>
              </a:rPr>
              <a:t>From Security in Computing, Fifth Edition, by Charles P. Pfleeger, et al. (ISBN: 9780134085043). Copyright 2015 by Pearson Education, Inc. All rights reserved.</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25122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792080"/>
            <a:ext cx="2852185"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1368" y="792080"/>
            <a:ext cx="7618016"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444" y="2130555"/>
            <a:ext cx="2852185"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CAD0CF-29FB-49CE-ACB6-6AFC7829D12B}" type="datetime1">
              <a:rPr lang="en-US" smtClean="0">
                <a:latin typeface="Arial"/>
              </a:rPr>
              <a:t>8/13/2025</a:t>
            </a:fld>
            <a:endParaRPr lang="en-US">
              <a:latin typeface="Arial"/>
            </a:endParaRP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cxnSp>
        <p:nvCxnSpPr>
          <p:cNvPr id="9" name="Straight Connector 8"/>
          <p:cNvCxnSpPr/>
          <p:nvPr/>
        </p:nvCxnSpPr>
        <p:spPr>
          <a:xfrm rot="5400000">
            <a:off x="911188" y="3579943"/>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Footer Placeholder 4"/>
          <p:cNvSpPr txBox="1">
            <a:spLocks/>
          </p:cNvSpPr>
          <p:nvPr userDrawn="1"/>
        </p:nvSpPr>
        <p:spPr>
          <a:xfrm>
            <a:off x="0" y="6544582"/>
            <a:ext cx="12188825" cy="329184"/>
          </a:xfrm>
          <a:prstGeom prst="rect">
            <a:avLst/>
          </a:prstGeom>
        </p:spPr>
        <p:txBody>
          <a:bodyPr vert="horz" lIns="91440" tIns="45720" rIns="91440" bIns="45720" rtlCol="0" anchor="ctr"/>
          <a:lstStyle>
            <a:defPPr>
              <a:defRPr lang="en-US"/>
            </a:defPPr>
            <a:lvl1pPr marL="0" algn="ctr" defTabSz="457200" rtl="0" eaLnBrk="1" latinLnBrk="0" hangingPunct="1">
              <a:defRPr sz="95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t>From </a:t>
            </a:r>
            <a:r>
              <a:rPr lang="en-US" i="1"/>
              <a:t>Security in Computing, Fifth Edition</a:t>
            </a:r>
            <a:r>
              <a:rPr lang="en-US"/>
              <a:t>, by Charles P. Pfleeger, et al. (ISBN: 9780134085043). Copyright 2015 by Pearson Education, Inc. All rights reserved.</a:t>
            </a:r>
            <a:endParaRPr lang="en-US" dirty="0"/>
          </a:p>
        </p:txBody>
      </p:sp>
    </p:spTree>
    <p:extLst>
      <p:ext uri="{BB962C8B-B14F-4D97-AF65-F5344CB8AC3E}">
        <p14:creationId xmlns:p14="http://schemas.microsoft.com/office/powerpoint/2010/main" val="2912873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792480"/>
            <a:ext cx="2856163"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0487" y="838201"/>
            <a:ext cx="787047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09441" y="2133600"/>
            <a:ext cx="2852185"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C6DC4F-7F47-4267-896E-D8283A0DDB9F}" type="datetime1">
              <a:rPr lang="en-US" smtClean="0">
                <a:latin typeface="Arial"/>
              </a:rPr>
              <a:t>8/13/2025</a:t>
            </a:fld>
            <a:endParaRPr lang="en-US">
              <a:latin typeface="Arial"/>
            </a:endParaRP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
        <p:nvSpPr>
          <p:cNvPr id="8"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36383819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FBDB7-7A4A-45FC-A1C9-0876DA2A45E3}" type="datetime1">
              <a:rPr lang="en-US" smtClean="0">
                <a:latin typeface="Arial"/>
              </a:rPr>
              <a:t>8/13/2025</a:t>
            </a:fld>
            <a:endParaRPr lang="en-US">
              <a:latin typeface="Arial"/>
            </a:endParaRP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
        <p:nvSpPr>
          <p:cNvPr id="7"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29934805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600"/>
            <a:ext cx="2742486"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441" y="609600"/>
            <a:ext cx="802431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70CE1C-05B3-44E6-B6BD-9C722211B6F6}" type="datetime1">
              <a:rPr lang="en-US" smtClean="0">
                <a:latin typeface="Arial"/>
              </a:rPr>
              <a:t>8/13/2025</a:t>
            </a:fld>
            <a:endParaRPr lang="en-US">
              <a:latin typeface="Arial"/>
            </a:endParaRP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
        <p:nvSpPr>
          <p:cNvPr id="7"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35069817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B0B03-4470-42C2-9D9E-438D81831551}" type="datetime1">
              <a:rPr lang="en-US" smtClean="0">
                <a:latin typeface="Arial"/>
              </a:rPr>
              <a:t>8/13/2025</a:t>
            </a:fld>
            <a:endParaRPr lang="en-US">
              <a:latin typeface="Arial"/>
            </a:endParaRPr>
          </a:p>
        </p:txBody>
      </p:sp>
      <p:sp>
        <p:nvSpPr>
          <p:cNvPr id="6" name="Slide Number Placeholder 5"/>
          <p:cNvSpPr>
            <a:spLocks noGrp="1"/>
          </p:cNvSpPr>
          <p:nvPr>
            <p:ph type="sldNum" sz="quarter" idx="12"/>
          </p:nvPr>
        </p:nvSpPr>
        <p:spPr/>
        <p:txBody>
          <a:bodyPr/>
          <a:lstStyle/>
          <a:p>
            <a:fld id="{FD01F0F2-74A4-EF40-82B3-DFFDF0BA3880}" type="slidenum">
              <a:rPr lang="en-US" smtClean="0">
                <a:latin typeface="Arial"/>
              </a:rPr>
              <a:pPr/>
              <a:t>‹#›</a:t>
            </a:fld>
            <a:endParaRPr lang="en-US">
              <a:latin typeface="Arial"/>
            </a:endParaRPr>
          </a:p>
        </p:txBody>
      </p:sp>
      <p:sp>
        <p:nvSpPr>
          <p:cNvPr id="7" name="Footer Placeholder 4"/>
          <p:cNvSpPr>
            <a:spLocks noGrp="1"/>
          </p:cNvSpPr>
          <p:nvPr>
            <p:ph type="ftr" sz="quarter" idx="11"/>
          </p:nvPr>
        </p:nvSpPr>
        <p:spPr>
          <a:xfrm>
            <a:off x="0" y="6544582"/>
            <a:ext cx="12188825" cy="329184"/>
          </a:xfrm>
        </p:spPr>
        <p:txBody>
          <a:bodyPr/>
          <a:lstStyle>
            <a:lvl1pPr>
              <a:defRPr sz="950">
                <a:solidFill>
                  <a:schemeClr val="tx1"/>
                </a:solidFill>
              </a:defRPr>
            </a:lvl1pPr>
          </a:lstStyle>
          <a:p>
            <a:r>
              <a:rPr lang="en-US" dirty="0"/>
              <a:t>From </a:t>
            </a:r>
            <a:r>
              <a:rPr lang="en-US" i="1" dirty="0"/>
              <a:t>Security in Computing, Fifth Edition</a:t>
            </a:r>
            <a:r>
              <a:rPr lang="en-US" dirty="0"/>
              <a:t>, by Charles P. </a:t>
            </a:r>
            <a:r>
              <a:rPr lang="en-US" dirty="0" err="1"/>
              <a:t>Pfleeger</a:t>
            </a:r>
            <a:r>
              <a:rPr lang="en-US" dirty="0"/>
              <a:t>, et al. (ISBN: 9780134085043). Copyright 2015 by Pearson Education, Inc. All rights reserved.</a:t>
            </a:r>
          </a:p>
        </p:txBody>
      </p:sp>
    </p:spTree>
    <p:extLst>
      <p:ext uri="{BB962C8B-B14F-4D97-AF65-F5344CB8AC3E}">
        <p14:creationId xmlns:p14="http://schemas.microsoft.com/office/powerpoint/2010/main" val="656140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3"/>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3"/>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0FFAB-385F-4D15-B4DF-3D862B17728E}" type="datetime1">
              <a:rPr lang="en-US" smtClean="0"/>
              <a:t>8/13/2025</a:t>
            </a:fld>
            <a:endParaRPr lang="en-US"/>
          </a:p>
        </p:txBody>
      </p:sp>
      <p:sp>
        <p:nvSpPr>
          <p:cNvPr id="5" name="Footer Placeholder 4"/>
          <p:cNvSpPr>
            <a:spLocks noGrp="1"/>
          </p:cNvSpPr>
          <p:nvPr>
            <p:ph type="ftr" sz="quarter" idx="3"/>
          </p:nvPr>
        </p:nvSpPr>
        <p:spPr>
          <a:xfrm>
            <a:off x="4164515" y="6356353"/>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4"/>
          </p:nvPr>
        </p:nvSpPr>
        <p:spPr>
          <a:xfrm>
            <a:off x="8735326" y="6356353"/>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4EC0BA-C369-6D48-9C90-49FF412FC96B}" type="slidenum">
              <a:rPr lang="en-US" smtClean="0"/>
              <a:t>‹#›</a:t>
            </a:fld>
            <a:endParaRPr lang="en-US"/>
          </a:p>
        </p:txBody>
      </p:sp>
    </p:spTree>
    <p:extLst>
      <p:ext uri="{BB962C8B-B14F-4D97-AF65-F5344CB8AC3E}">
        <p14:creationId xmlns:p14="http://schemas.microsoft.com/office/powerpoint/2010/main" val="2043152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88825"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latin typeface="Arial"/>
            </a:endParaRPr>
          </a:p>
        </p:txBody>
      </p:sp>
      <p:sp>
        <p:nvSpPr>
          <p:cNvPr id="2" name="Title Placeholder 1"/>
          <p:cNvSpPr>
            <a:spLocks noGrp="1"/>
          </p:cNvSpPr>
          <p:nvPr>
            <p:ph type="title"/>
          </p:nvPr>
        </p:nvSpPr>
        <p:spPr>
          <a:xfrm>
            <a:off x="609441" y="533400"/>
            <a:ext cx="10969943"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441" y="1600200"/>
            <a:ext cx="10969943"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88825"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latin typeface="Arial"/>
            </a:endParaRPr>
          </a:p>
        </p:txBody>
      </p:sp>
      <p:sp>
        <p:nvSpPr>
          <p:cNvPr id="4" name="Date Placeholder 3"/>
          <p:cNvSpPr>
            <a:spLocks noGrp="1"/>
          </p:cNvSpPr>
          <p:nvPr>
            <p:ph type="dt" sz="half" idx="2"/>
          </p:nvPr>
        </p:nvSpPr>
        <p:spPr>
          <a:xfrm>
            <a:off x="609441" y="18288"/>
            <a:ext cx="3859795" cy="329184"/>
          </a:xfrm>
          <a:prstGeom prst="rect">
            <a:avLst/>
          </a:prstGeom>
        </p:spPr>
        <p:txBody>
          <a:bodyPr vert="horz" lIns="91440" tIns="45720" rIns="91440" bIns="45720" rtlCol="0" anchor="ctr"/>
          <a:lstStyle>
            <a:lvl1pPr algn="l">
              <a:defRPr sz="1200">
                <a:solidFill>
                  <a:srgbClr val="FFFFFF"/>
                </a:solidFill>
              </a:defRPr>
            </a:lvl1pPr>
          </a:lstStyle>
          <a:p>
            <a:fld id="{DA0242E9-308A-432A-9386-93C7227C44B3}" type="datetime1">
              <a:rPr lang="en-US" smtClean="0">
                <a:latin typeface="Arial"/>
              </a:rPr>
              <a:t>8/13/2025</a:t>
            </a:fld>
            <a:endParaRPr lang="en-US">
              <a:latin typeface="Arial"/>
            </a:endParaRPr>
          </a:p>
        </p:txBody>
      </p:sp>
      <p:sp>
        <p:nvSpPr>
          <p:cNvPr id="5" name="Footer Placeholder 4"/>
          <p:cNvSpPr>
            <a:spLocks noGrp="1"/>
          </p:cNvSpPr>
          <p:nvPr>
            <p:ph type="ftr" sz="quarter" idx="3"/>
          </p:nvPr>
        </p:nvSpPr>
        <p:spPr>
          <a:xfrm>
            <a:off x="4570811" y="18288"/>
            <a:ext cx="5484971" cy="329184"/>
          </a:xfrm>
          <a:prstGeom prst="rect">
            <a:avLst/>
          </a:prstGeom>
        </p:spPr>
        <p:txBody>
          <a:bodyPr vert="horz" lIns="91440" tIns="45720" rIns="91440" bIns="45720" rtlCol="0" anchor="ctr"/>
          <a:lstStyle>
            <a:lvl1pPr algn="ctr">
              <a:defRPr sz="1200">
                <a:solidFill>
                  <a:srgbClr val="FFFFFF"/>
                </a:solidFill>
              </a:defRPr>
            </a:lvl1pPr>
          </a:lstStyle>
          <a:p>
            <a:r>
              <a:rPr lang="en-US">
                <a:latin typeface="Arial"/>
              </a:rPr>
              <a:t>From Security in Computing, Fifth Edition, by Charles P. Pfleeger, et al. (ISBN: 9780134085043). Copyright 2015 by Pearson Education, Inc. All rights reserved.</a:t>
            </a:r>
          </a:p>
        </p:txBody>
      </p:sp>
      <p:sp>
        <p:nvSpPr>
          <p:cNvPr id="6" name="Slide Number Placeholder 5"/>
          <p:cNvSpPr>
            <a:spLocks noGrp="1"/>
          </p:cNvSpPr>
          <p:nvPr>
            <p:ph type="sldNum" sz="quarter" idx="4"/>
          </p:nvPr>
        </p:nvSpPr>
        <p:spPr>
          <a:xfrm>
            <a:off x="10157354" y="18288"/>
            <a:ext cx="1422030" cy="329184"/>
          </a:xfrm>
          <a:prstGeom prst="rect">
            <a:avLst/>
          </a:prstGeom>
        </p:spPr>
        <p:txBody>
          <a:bodyPr vert="horz" lIns="91440" tIns="45720" rIns="91440" bIns="45720" rtlCol="0" anchor="ctr"/>
          <a:lstStyle>
            <a:lvl1pPr algn="l">
              <a:defRPr sz="1400" b="1">
                <a:solidFill>
                  <a:srgbClr val="FFFFFF"/>
                </a:solidFill>
              </a:defRPr>
            </a:lvl1p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27383590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14162" y="2786008"/>
            <a:ext cx="8532178" cy="1752600"/>
          </a:xfrm>
        </p:spPr>
        <p:txBody>
          <a:bodyPr vert="horz" lIns="91440" tIns="45720" rIns="91440" bIns="45720" rtlCol="0" anchor="ctr">
            <a:normAutofit/>
          </a:bodyPr>
          <a:lstStyle/>
          <a:p>
            <a:pPr>
              <a:spcBef>
                <a:spcPct val="0"/>
              </a:spcBef>
            </a:pPr>
            <a:r>
              <a:rPr lang="en-US" sz="3400" spc="-100" dirty="0">
                <a:solidFill>
                  <a:schemeClr val="tx2"/>
                </a:solidFill>
                <a:latin typeface="+mj-lt"/>
                <a:ea typeface="+mj-ea"/>
                <a:cs typeface="+mj-cs"/>
              </a:rPr>
              <a:t>Software Security</a:t>
            </a:r>
          </a:p>
        </p:txBody>
      </p:sp>
      <p:sp>
        <p:nvSpPr>
          <p:cNvPr id="7" name="Slide Number Placeholder 6"/>
          <p:cNvSpPr>
            <a:spLocks noGrp="1"/>
          </p:cNvSpPr>
          <p:nvPr>
            <p:ph type="sldNum" sz="quarter" idx="12"/>
          </p:nvPr>
        </p:nvSpPr>
        <p:spPr/>
        <p:txBody>
          <a:bodyPr/>
          <a:lstStyle/>
          <a:p>
            <a:fld id="{5BFA158B-7C94-F543-87DB-41F59EA4FAFA}" type="slidenum">
              <a:rPr lang="en-US" smtClean="0">
                <a:latin typeface="Arial"/>
              </a:rPr>
              <a:pPr/>
              <a:t>1</a:t>
            </a:fld>
            <a:endParaRPr lang="en-US" dirty="0">
              <a:latin typeface="Arial"/>
            </a:endParaRPr>
          </a:p>
        </p:txBody>
      </p:sp>
    </p:spTree>
    <p:extLst>
      <p:ext uri="{BB962C8B-B14F-4D97-AF65-F5344CB8AC3E}">
        <p14:creationId xmlns:p14="http://schemas.microsoft.com/office/powerpoint/2010/main" val="17403045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a:t>
            </a:r>
            <a:r>
              <a:rPr lang="en-US" dirty="0"/>
              <a:t>problems in programs and </a:t>
            </a:r>
            <a:r>
              <a:rPr lang="en-US" dirty="0" smtClean="0"/>
              <a:t>programming</a:t>
            </a:r>
            <a:endParaRPr lang="en-IN" dirty="0"/>
          </a:p>
        </p:txBody>
      </p:sp>
      <p:sp>
        <p:nvSpPr>
          <p:cNvPr id="3" name="Content Placeholder 2"/>
          <p:cNvSpPr>
            <a:spLocks noGrp="1"/>
          </p:cNvSpPr>
          <p:nvPr>
            <p:ph idx="1"/>
          </p:nvPr>
        </p:nvSpPr>
        <p:spPr>
          <a:xfrm>
            <a:off x="609441" y="1376916"/>
            <a:ext cx="10969943" cy="5167666"/>
          </a:xfrm>
        </p:spPr>
        <p:txBody>
          <a:bodyPr>
            <a:normAutofit lnSpcReduction="10000"/>
          </a:bodyPr>
          <a:lstStyle/>
          <a:p>
            <a:r>
              <a:rPr lang="en-US" dirty="0"/>
              <a:t>Security failures can result from </a:t>
            </a:r>
            <a:r>
              <a:rPr lang="en-US" dirty="0">
                <a:solidFill>
                  <a:srgbClr val="FF0000"/>
                </a:solidFill>
              </a:rPr>
              <a:t>intentional or </a:t>
            </a:r>
            <a:r>
              <a:rPr lang="en-US" dirty="0" smtClean="0">
                <a:solidFill>
                  <a:srgbClr val="FF0000"/>
                </a:solidFill>
              </a:rPr>
              <a:t>non-malicious </a:t>
            </a:r>
            <a:r>
              <a:rPr lang="en-US" dirty="0">
                <a:solidFill>
                  <a:srgbClr val="FF0000"/>
                </a:solidFill>
              </a:rPr>
              <a:t>causes</a:t>
            </a:r>
            <a:r>
              <a:rPr lang="en-US" dirty="0"/>
              <a:t>; </a:t>
            </a:r>
            <a:r>
              <a:rPr lang="en-US" dirty="0" smtClean="0"/>
              <a:t>both can </a:t>
            </a:r>
            <a:r>
              <a:rPr lang="en-US" dirty="0"/>
              <a:t>cause </a:t>
            </a:r>
            <a:r>
              <a:rPr lang="en-US" dirty="0" smtClean="0"/>
              <a:t>harm</a:t>
            </a:r>
          </a:p>
          <a:p>
            <a:r>
              <a:rPr lang="en-US" dirty="0" smtClean="0"/>
              <a:t>An </a:t>
            </a:r>
            <a:r>
              <a:rPr lang="en-US" dirty="0"/>
              <a:t>error, in performing </a:t>
            </a:r>
            <a:r>
              <a:rPr lang="en-US" dirty="0" smtClean="0"/>
              <a:t>some software </a:t>
            </a:r>
            <a:r>
              <a:rPr lang="en-US" dirty="0"/>
              <a:t>activity, the error may lead to a fault, or an incorrect step, </a:t>
            </a:r>
            <a:r>
              <a:rPr lang="en-US" dirty="0" smtClean="0"/>
              <a:t>command, process</a:t>
            </a:r>
            <a:r>
              <a:rPr lang="en-US" dirty="0"/>
              <a:t>, or data definition in a </a:t>
            </a:r>
            <a:r>
              <a:rPr lang="en-US" dirty="0" smtClean="0"/>
              <a:t>computer program</a:t>
            </a:r>
            <a:r>
              <a:rPr lang="en-US" dirty="0"/>
              <a:t>, design, or documentation</a:t>
            </a:r>
            <a:r>
              <a:rPr lang="en-US" dirty="0" smtClean="0"/>
              <a:t>.</a:t>
            </a:r>
          </a:p>
          <a:p>
            <a:r>
              <a:rPr lang="en-US" dirty="0"/>
              <a:t>A </a:t>
            </a:r>
            <a:r>
              <a:rPr lang="en-US" b="1" dirty="0"/>
              <a:t>failure </a:t>
            </a:r>
            <a:r>
              <a:rPr lang="en-US" dirty="0"/>
              <a:t>is a departure from the system’s required behavior</a:t>
            </a:r>
            <a:r>
              <a:rPr lang="en-US" dirty="0" smtClean="0"/>
              <a:t>.</a:t>
            </a:r>
          </a:p>
          <a:p>
            <a:r>
              <a:rPr lang="en-US" dirty="0" smtClean="0"/>
              <a:t>Security Engineers </a:t>
            </a:r>
            <a:r>
              <a:rPr lang="en-US" dirty="0">
                <a:solidFill>
                  <a:srgbClr val="FF0000"/>
                </a:solidFill>
              </a:rPr>
              <a:t>use flaw </a:t>
            </a:r>
            <a:r>
              <a:rPr lang="en-US" dirty="0"/>
              <a:t>to describe both faults and failures</a:t>
            </a:r>
            <a:r>
              <a:rPr lang="en-US" dirty="0" smtClean="0"/>
              <a:t>.</a:t>
            </a:r>
          </a:p>
          <a:p>
            <a:r>
              <a:rPr lang="en-US" dirty="0"/>
              <a:t>Program flaws can have two kinds of security implications: </a:t>
            </a:r>
            <a:r>
              <a:rPr lang="en-US" dirty="0">
                <a:solidFill>
                  <a:srgbClr val="00B050"/>
                </a:solidFill>
              </a:rPr>
              <a:t>They can cause </a:t>
            </a:r>
            <a:r>
              <a:rPr lang="en-US" dirty="0" smtClean="0">
                <a:solidFill>
                  <a:srgbClr val="00B050"/>
                </a:solidFill>
              </a:rPr>
              <a:t>integrity problems </a:t>
            </a:r>
            <a:r>
              <a:rPr lang="en-US" dirty="0">
                <a:solidFill>
                  <a:srgbClr val="00B050"/>
                </a:solidFill>
              </a:rPr>
              <a:t>leading to harmful output or action</a:t>
            </a:r>
            <a:r>
              <a:rPr lang="en-US" dirty="0"/>
              <a:t>, </a:t>
            </a:r>
            <a:r>
              <a:rPr lang="en-US" dirty="0" smtClean="0">
                <a:solidFill>
                  <a:srgbClr val="0070C0"/>
                </a:solidFill>
              </a:rPr>
              <a:t>They </a:t>
            </a:r>
            <a:r>
              <a:rPr lang="en-US" dirty="0">
                <a:solidFill>
                  <a:srgbClr val="0070C0"/>
                </a:solidFill>
              </a:rPr>
              <a:t>offer an opportunity </a:t>
            </a:r>
            <a:r>
              <a:rPr lang="en-US" dirty="0" smtClean="0">
                <a:solidFill>
                  <a:srgbClr val="0070C0"/>
                </a:solidFill>
              </a:rPr>
              <a:t>for exploitation </a:t>
            </a:r>
            <a:r>
              <a:rPr lang="en-US" dirty="0">
                <a:solidFill>
                  <a:srgbClr val="0070C0"/>
                </a:solidFill>
              </a:rPr>
              <a:t>by a malicious actor.</a:t>
            </a:r>
            <a:endParaRPr lang="en-US" dirty="0" smtClean="0">
              <a:solidFill>
                <a:srgbClr val="0070C0"/>
              </a:solidFill>
            </a:endParaRPr>
          </a:p>
          <a:p>
            <a:r>
              <a:rPr lang="en-US" dirty="0" smtClean="0"/>
              <a:t>Program </a:t>
            </a:r>
            <a:r>
              <a:rPr lang="en-US" dirty="0"/>
              <a:t>correctness becomes a security issue as well as a </a:t>
            </a:r>
            <a:r>
              <a:rPr lang="en-US" dirty="0" smtClean="0"/>
              <a:t>general </a:t>
            </a:r>
            <a:r>
              <a:rPr lang="en-US" dirty="0"/>
              <a:t>quality </a:t>
            </a:r>
            <a:r>
              <a:rPr lang="en-US" dirty="0" smtClean="0"/>
              <a:t>problem</a:t>
            </a:r>
          </a:p>
          <a:p>
            <a:r>
              <a:rPr lang="en-US" dirty="0" smtClean="0"/>
              <a:t>Unintentional </a:t>
            </a:r>
            <a:r>
              <a:rPr lang="en-US" dirty="0"/>
              <a:t>(</a:t>
            </a:r>
            <a:r>
              <a:rPr lang="en-US" dirty="0" smtClean="0"/>
              <a:t>Non-malicious</a:t>
            </a:r>
            <a:r>
              <a:rPr lang="en-US" dirty="0"/>
              <a:t>) Programming Oversights</a:t>
            </a:r>
          </a:p>
          <a:p>
            <a:endParaRPr lang="en-US" dirty="0" smtClean="0"/>
          </a:p>
          <a:p>
            <a:endParaRPr lang="en-IN" dirty="0"/>
          </a:p>
        </p:txBody>
      </p:sp>
      <p:sp>
        <p:nvSpPr>
          <p:cNvPr id="4" name="Footer Placeholder 3"/>
          <p:cNvSpPr>
            <a:spLocks noGrp="1"/>
          </p:cNvSpPr>
          <p:nvPr>
            <p:ph type="ftr" sz="quarter" idx="11"/>
          </p:nvPr>
        </p:nvSpPr>
        <p:spPr/>
        <p:txBody>
          <a:bodyPr/>
          <a:lstStyle/>
          <a:p>
            <a:r>
              <a:rPr lang="en-US" smtClean="0"/>
              <a:t>From </a:t>
            </a:r>
            <a:r>
              <a:rPr lang="en-US" i="1" smtClean="0"/>
              <a:t>Security in Computing, Fifth Edition</a:t>
            </a:r>
            <a:r>
              <a:rPr lang="en-US" smtClean="0"/>
              <a:t>, by Charles P. Pfleeger, et al. (ISBN: 9780134085043). Copyright 2015 by Pearson Education, Inc. All rights reserved.</a:t>
            </a:r>
            <a:endParaRPr lang="en-US" dirty="0"/>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2</a:t>
            </a:fld>
            <a:endParaRPr lang="en-US">
              <a:latin typeface="Arial"/>
            </a:endParaRPr>
          </a:p>
        </p:txBody>
      </p:sp>
    </p:spTree>
    <p:extLst>
      <p:ext uri="{BB962C8B-B14F-4D97-AF65-F5344CB8AC3E}">
        <p14:creationId xmlns:p14="http://schemas.microsoft.com/office/powerpoint/2010/main" val="3114171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533400"/>
            <a:ext cx="10969943" cy="630382"/>
          </a:xfrm>
        </p:spPr>
        <p:txBody>
          <a:bodyPr>
            <a:normAutofit/>
          </a:bodyPr>
          <a:lstStyle/>
          <a:p>
            <a:r>
              <a:rPr lang="en-US" sz="3400" dirty="0"/>
              <a:t>Memory Allocation</a:t>
            </a:r>
          </a:p>
        </p:txBody>
      </p:sp>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3</a:t>
            </a:fld>
            <a:endParaRPr lang="en-US" dirty="0">
              <a:latin typeface="Arial"/>
            </a:endParaRPr>
          </a:p>
        </p:txBody>
      </p:sp>
      <p:pic>
        <p:nvPicPr>
          <p:cNvPr id="16" name="Picture 15" descr="fig03-01.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2770" y="1523171"/>
            <a:ext cx="3473900" cy="3298213"/>
          </a:xfrm>
          <a:prstGeom prst="rect">
            <a:avLst/>
          </a:prstGeom>
        </p:spPr>
      </p:pic>
      <p:sp>
        <p:nvSpPr>
          <p:cNvPr id="7" name="Title 1">
            <a:extLst>
              <a:ext uri="{FF2B5EF4-FFF2-40B4-BE49-F238E27FC236}">
                <a16:creationId xmlns="" xmlns:a16="http://schemas.microsoft.com/office/drawing/2014/main" id="{7FD2CB14-589D-4D2D-9082-EDCE91723B87}"/>
              </a:ext>
            </a:extLst>
          </p:cNvPr>
          <p:cNvSpPr txBox="1">
            <a:spLocks/>
          </p:cNvSpPr>
          <p:nvPr/>
        </p:nvSpPr>
        <p:spPr>
          <a:xfrm>
            <a:off x="6774722" y="536596"/>
            <a:ext cx="9609329" cy="627189"/>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r>
              <a:rPr lang="en-US" sz="3400" dirty="0"/>
              <a:t>Data vs. Instructions</a:t>
            </a:r>
          </a:p>
        </p:txBody>
      </p:sp>
      <p:pic>
        <p:nvPicPr>
          <p:cNvPr id="8" name="Content Placeholder 5" descr="fig03-02.eps">
            <a:extLst>
              <a:ext uri="{FF2B5EF4-FFF2-40B4-BE49-F238E27FC236}">
                <a16:creationId xmlns="" xmlns:a16="http://schemas.microsoft.com/office/drawing/2014/main" id="{1A1383AB-0F32-4BE4-A14E-1C2780D6C996}"/>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t="-221" b="-2269"/>
          <a:stretch/>
        </p:blipFill>
        <p:spPr>
          <a:xfrm>
            <a:off x="6774722" y="1523170"/>
            <a:ext cx="4561501" cy="3298213"/>
          </a:xfrm>
        </p:spPr>
      </p:pic>
      <p:sp>
        <p:nvSpPr>
          <p:cNvPr id="5" name="TextBox 4">
            <a:extLst>
              <a:ext uri="{FF2B5EF4-FFF2-40B4-BE49-F238E27FC236}">
                <a16:creationId xmlns="" xmlns:a16="http://schemas.microsoft.com/office/drawing/2014/main" id="{BA1D42E2-88BF-9C80-0BD5-F0E7F5D83C23}"/>
              </a:ext>
            </a:extLst>
          </p:cNvPr>
          <p:cNvSpPr txBox="1"/>
          <p:nvPr/>
        </p:nvSpPr>
        <p:spPr>
          <a:xfrm>
            <a:off x="609441" y="5206692"/>
            <a:ext cx="5484971" cy="861774"/>
          </a:xfrm>
          <a:prstGeom prst="rect">
            <a:avLst/>
          </a:prstGeom>
          <a:noFill/>
        </p:spPr>
        <p:txBody>
          <a:bodyPr wrap="square">
            <a:spAutoFit/>
          </a:bodyPr>
          <a:lstStyle/>
          <a:p>
            <a:pPr algn="just"/>
            <a:r>
              <a:rPr lang="en-US" sz="1600" dirty="0"/>
              <a:t>C</a:t>
            </a:r>
            <a:r>
              <a:rPr lang="en-US" sz="1600" baseline="0" dirty="0"/>
              <a:t>ode and data separated, with the heap growing up toward high addresses and the stack growing down from the high addresses</a:t>
            </a:r>
            <a:r>
              <a:rPr lang="en-US" baseline="0" dirty="0"/>
              <a:t>.</a:t>
            </a:r>
            <a:endParaRPr lang="en-US" dirty="0"/>
          </a:p>
        </p:txBody>
      </p:sp>
      <p:sp>
        <p:nvSpPr>
          <p:cNvPr id="9" name="TextBox 8">
            <a:extLst>
              <a:ext uri="{FF2B5EF4-FFF2-40B4-BE49-F238E27FC236}">
                <a16:creationId xmlns="" xmlns:a16="http://schemas.microsoft.com/office/drawing/2014/main" id="{601A576C-C622-23A6-8516-C61EA7110F39}"/>
              </a:ext>
            </a:extLst>
          </p:cNvPr>
          <p:cNvSpPr txBox="1"/>
          <p:nvPr/>
        </p:nvSpPr>
        <p:spPr>
          <a:xfrm>
            <a:off x="6482238" y="5179079"/>
            <a:ext cx="5484971" cy="107721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The same hex value in the same spot in memory can either be a meaningful data</a:t>
            </a:r>
            <a:r>
              <a:rPr lang="en-US" sz="1600" baseline="0" dirty="0"/>
              <a:t> value or a meaningful instruction depending on whether the computer treats it as code or data. </a:t>
            </a:r>
            <a:endParaRPr lang="en-US" sz="1600" dirty="0"/>
          </a:p>
        </p:txBody>
      </p:sp>
    </p:spTree>
    <p:extLst>
      <p:ext uri="{BB962C8B-B14F-4D97-AF65-F5344CB8AC3E}">
        <p14:creationId xmlns:p14="http://schemas.microsoft.com/office/powerpoint/2010/main" val="7648755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Buffer</a:t>
            </a:r>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a:t>
            </a:fld>
            <a:endParaRPr lang="en-US" dirty="0">
              <a:latin typeface="Arial"/>
            </a:endParaRPr>
          </a:p>
        </p:txBody>
      </p:sp>
      <p:sp>
        <p:nvSpPr>
          <p:cNvPr id="8" name="Content Placeholder 2"/>
          <p:cNvSpPr>
            <a:spLocks noGrp="1"/>
          </p:cNvSpPr>
          <p:nvPr>
            <p:ph idx="1"/>
          </p:nvPr>
        </p:nvSpPr>
        <p:spPr>
          <a:xfrm>
            <a:off x="609441" y="1600200"/>
            <a:ext cx="10969943" cy="3312042"/>
          </a:xfrm>
        </p:spPr>
        <p:txBody>
          <a:bodyPr>
            <a:normAutofit/>
          </a:bodyPr>
          <a:lstStyle/>
          <a:p>
            <a:r>
              <a:rPr lang="en-US" dirty="0" smtClean="0"/>
              <a:t>Buffer </a:t>
            </a:r>
            <a:r>
              <a:rPr lang="en-US" dirty="0"/>
              <a:t>is a temporary data storage area with Limited storage </a:t>
            </a:r>
            <a:r>
              <a:rPr lang="en-US" dirty="0" smtClean="0"/>
              <a:t>capacity.</a:t>
            </a:r>
          </a:p>
          <a:p>
            <a:r>
              <a:rPr lang="en-US" dirty="0"/>
              <a:t>Buffer i</a:t>
            </a:r>
            <a:r>
              <a:rPr lang="en-US" dirty="0" smtClean="0"/>
              <a:t>s </a:t>
            </a:r>
            <a:r>
              <a:rPr lang="en-US" dirty="0"/>
              <a:t>typically area in the memory that is used to transfer data from one location to another </a:t>
            </a:r>
            <a:r>
              <a:rPr lang="en-US" dirty="0" smtClean="0"/>
              <a:t>location. It offers RAM </a:t>
            </a:r>
            <a:r>
              <a:rPr lang="en-US" dirty="0"/>
              <a:t>to the processes</a:t>
            </a:r>
            <a:r>
              <a:rPr lang="en-US" dirty="0" smtClean="0"/>
              <a:t>.</a:t>
            </a:r>
          </a:p>
          <a:p>
            <a:r>
              <a:rPr lang="en-US" dirty="0"/>
              <a:t>When any program is executed it is located into Ram and some memory is temporarily allocated to the program called </a:t>
            </a:r>
            <a:r>
              <a:rPr lang="en-US" dirty="0" smtClean="0"/>
              <a:t>buffer.</a:t>
            </a:r>
          </a:p>
          <a:p>
            <a:endParaRPr lang="en-US" dirty="0"/>
          </a:p>
          <a:p>
            <a:endParaRPr lang="en-US" dirty="0"/>
          </a:p>
        </p:txBody>
      </p:sp>
    </p:spTree>
    <p:extLst>
      <p:ext uri="{BB962C8B-B14F-4D97-AF65-F5344CB8AC3E}">
        <p14:creationId xmlns:p14="http://schemas.microsoft.com/office/powerpoint/2010/main" val="4113014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p>
        </p:txBody>
      </p:sp>
      <p:sp>
        <p:nvSpPr>
          <p:cNvPr id="3" name="Content Placeholder 2"/>
          <p:cNvSpPr>
            <a:spLocks noGrp="1"/>
          </p:cNvSpPr>
          <p:nvPr>
            <p:ph idx="1"/>
          </p:nvPr>
        </p:nvSpPr>
        <p:spPr>
          <a:xfrm>
            <a:off x="609441" y="1600200"/>
            <a:ext cx="10969943" cy="3312042"/>
          </a:xfrm>
        </p:spPr>
        <p:txBody>
          <a:bodyPr>
            <a:normAutofit/>
          </a:bodyPr>
          <a:lstStyle/>
          <a:p>
            <a:r>
              <a:rPr lang="en-US" dirty="0" smtClean="0"/>
              <a:t>Buffer </a:t>
            </a:r>
            <a:r>
              <a:rPr lang="en-US" dirty="0"/>
              <a:t>overflow is an attack that occurs when the amount of data that is submitted his larger than the </a:t>
            </a:r>
            <a:r>
              <a:rPr lang="en-US" dirty="0" smtClean="0"/>
              <a:t>buffer.</a:t>
            </a:r>
          </a:p>
          <a:p>
            <a:r>
              <a:rPr lang="en-US" dirty="0"/>
              <a:t>Buffer are the container for data and in Buffer overflow we stuff too much information into the </a:t>
            </a:r>
            <a:r>
              <a:rPr lang="en-US" dirty="0" smtClean="0"/>
              <a:t>container.</a:t>
            </a:r>
          </a:p>
          <a:p>
            <a:r>
              <a:rPr lang="en-US" dirty="0"/>
              <a:t>Basically this type of attack is possible due to poor </a:t>
            </a:r>
            <a:r>
              <a:rPr lang="en-US" dirty="0" smtClean="0"/>
              <a:t>written application code </a:t>
            </a:r>
            <a:r>
              <a:rPr lang="en-US" dirty="0"/>
              <a:t>or operating system </a:t>
            </a:r>
            <a:r>
              <a:rPr lang="en-US" dirty="0" smtClean="0"/>
              <a:t>code.</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a:t>
            </a:fld>
            <a:endParaRPr lang="en-US" dirty="0">
              <a:latin typeface="Arial"/>
            </a:endParaRPr>
          </a:p>
        </p:txBody>
      </p:sp>
    </p:spTree>
    <p:extLst>
      <p:ext uri="{BB962C8B-B14F-4D97-AF65-F5344CB8AC3E}">
        <p14:creationId xmlns:p14="http://schemas.microsoft.com/office/powerpoint/2010/main" val="29757391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p>
        </p:txBody>
      </p:sp>
      <p:sp>
        <p:nvSpPr>
          <p:cNvPr id="3" name="Content Placeholder 2"/>
          <p:cNvSpPr>
            <a:spLocks noGrp="1"/>
          </p:cNvSpPr>
          <p:nvPr>
            <p:ph idx="1"/>
          </p:nvPr>
        </p:nvSpPr>
        <p:spPr>
          <a:xfrm>
            <a:off x="609441" y="1600200"/>
            <a:ext cx="10969943" cy="3312042"/>
          </a:xfrm>
        </p:spPr>
        <p:txBody>
          <a:bodyPr>
            <a:normAutofit/>
          </a:bodyPr>
          <a:lstStyle/>
          <a:p>
            <a:r>
              <a:rPr lang="en-US" dirty="0" smtClean="0"/>
              <a:t>To </a:t>
            </a:r>
            <a:r>
              <a:rPr lang="en-US" dirty="0"/>
              <a:t>protect against buffer overflow attacks program or as well as </a:t>
            </a:r>
            <a:r>
              <a:rPr lang="en-US" dirty="0" smtClean="0"/>
              <a:t>organization </a:t>
            </a:r>
            <a:r>
              <a:rPr lang="en-US" dirty="0"/>
              <a:t>needs to ensure following </a:t>
            </a:r>
            <a:r>
              <a:rPr lang="en-US" dirty="0" smtClean="0"/>
              <a:t>–</a:t>
            </a:r>
          </a:p>
          <a:p>
            <a:r>
              <a:rPr lang="en-US" dirty="0"/>
              <a:t>1. </a:t>
            </a:r>
            <a:r>
              <a:rPr lang="en-US" dirty="0" smtClean="0"/>
              <a:t>Programmer should </a:t>
            </a:r>
            <a:r>
              <a:rPr lang="en-US" dirty="0"/>
              <a:t>properly test or handle all the overflow </a:t>
            </a:r>
            <a:r>
              <a:rPr lang="en-US" dirty="0" smtClean="0"/>
              <a:t>conditions.</a:t>
            </a:r>
          </a:p>
          <a:p>
            <a:r>
              <a:rPr lang="en-US" dirty="0"/>
              <a:t>2. </a:t>
            </a:r>
            <a:r>
              <a:rPr lang="en-US" dirty="0" err="1" smtClean="0"/>
              <a:t>Organisations</a:t>
            </a:r>
            <a:r>
              <a:rPr lang="en-US" dirty="0" smtClean="0"/>
              <a:t> </a:t>
            </a:r>
            <a:r>
              <a:rPr lang="en-US" dirty="0"/>
              <a:t>should ensure all the operating systems and applications are updated </a:t>
            </a:r>
            <a:r>
              <a:rPr lang="en-US" dirty="0" smtClean="0"/>
              <a:t>with </a:t>
            </a:r>
            <a:r>
              <a:rPr lang="en-US" dirty="0"/>
              <a:t>latest updates, service packs and </a:t>
            </a:r>
            <a:r>
              <a:rPr lang="en-US" dirty="0" smtClean="0"/>
              <a:t>patches.</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6</a:t>
            </a:fld>
            <a:endParaRPr lang="en-US" dirty="0">
              <a:latin typeface="Arial"/>
            </a:endParaRPr>
          </a:p>
        </p:txBody>
      </p:sp>
    </p:spTree>
    <p:extLst>
      <p:ext uri="{BB962C8B-B14F-4D97-AF65-F5344CB8AC3E}">
        <p14:creationId xmlns:p14="http://schemas.microsoft.com/office/powerpoint/2010/main" val="20414908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p>
        </p:txBody>
      </p:sp>
      <p:sp>
        <p:nvSpPr>
          <p:cNvPr id="3" name="Content Placeholder 2"/>
          <p:cNvSpPr>
            <a:spLocks noGrp="1"/>
          </p:cNvSpPr>
          <p:nvPr>
            <p:ph idx="1"/>
          </p:nvPr>
        </p:nvSpPr>
        <p:spPr>
          <a:xfrm>
            <a:off x="609441" y="1318437"/>
            <a:ext cx="10969943" cy="5039833"/>
          </a:xfrm>
        </p:spPr>
        <p:txBody>
          <a:bodyPr>
            <a:normAutofit fontScale="92500" lnSpcReduction="10000"/>
          </a:bodyPr>
          <a:lstStyle/>
          <a:p>
            <a:pPr marL="0" indent="0">
              <a:buNone/>
            </a:pPr>
            <a:r>
              <a:rPr lang="en-US" dirty="0"/>
              <a:t>B</a:t>
            </a:r>
            <a:r>
              <a:rPr lang="en-US" dirty="0" smtClean="0"/>
              <a:t>uffer </a:t>
            </a:r>
            <a:r>
              <a:rPr lang="en-US" dirty="0"/>
              <a:t>overflow attacks </a:t>
            </a:r>
            <a:r>
              <a:rPr lang="en-US" dirty="0" smtClean="0"/>
              <a:t>results in–</a:t>
            </a:r>
          </a:p>
          <a:p>
            <a:r>
              <a:rPr lang="en-US" dirty="0"/>
              <a:t>1. </a:t>
            </a:r>
            <a:r>
              <a:rPr lang="en-US" dirty="0" smtClean="0"/>
              <a:t>Injection </a:t>
            </a:r>
            <a:r>
              <a:rPr lang="en-US" dirty="0"/>
              <a:t>of malicious </a:t>
            </a:r>
            <a:r>
              <a:rPr lang="en-US" dirty="0" smtClean="0"/>
              <a:t>code</a:t>
            </a:r>
          </a:p>
          <a:p>
            <a:r>
              <a:rPr lang="en-US" dirty="0" smtClean="0"/>
              <a:t>2.Denial </a:t>
            </a:r>
            <a:r>
              <a:rPr lang="en-US" dirty="0"/>
              <a:t>of service attack </a:t>
            </a:r>
            <a:r>
              <a:rPr lang="en-US" dirty="0" smtClean="0"/>
              <a:t>DOS</a:t>
            </a:r>
          </a:p>
          <a:p>
            <a:r>
              <a:rPr lang="en-US" dirty="0"/>
              <a:t>3. SQL (structured query language) injection: </a:t>
            </a:r>
            <a:r>
              <a:rPr lang="en-US" dirty="0" smtClean="0"/>
              <a:t>Inserting </a:t>
            </a:r>
            <a:r>
              <a:rPr lang="en-US" dirty="0"/>
              <a:t>malicious SQL code into a program or </a:t>
            </a:r>
            <a:r>
              <a:rPr lang="en-US" dirty="0" smtClean="0"/>
              <a:t>website.</a:t>
            </a:r>
          </a:p>
          <a:p>
            <a:endParaRPr lang="en-US" dirty="0"/>
          </a:p>
          <a:p>
            <a:r>
              <a:rPr lang="en-US" dirty="0"/>
              <a:t>Attackers can take the advantage of this phenomenon by submitting too much data which may cause errors and in some cases enables attackers to execute malicious code in the </a:t>
            </a:r>
            <a:r>
              <a:rPr lang="en-US" dirty="0" smtClean="0"/>
              <a:t>system.</a:t>
            </a:r>
          </a:p>
          <a:p>
            <a:endParaRPr lang="en-US" dirty="0" smtClean="0"/>
          </a:p>
          <a:p>
            <a:r>
              <a:rPr lang="en-US" dirty="0"/>
              <a:t>For example when a program ask for a phone number instead of entering 10 digits needed in the software attacker send 1000 digits followed by command to execute malicious code. Because the software program doesn't have proper error handling mechanism it execute the command</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7</a:t>
            </a:fld>
            <a:endParaRPr lang="en-US" dirty="0">
              <a:latin typeface="Arial"/>
            </a:endParaRPr>
          </a:p>
        </p:txBody>
      </p:sp>
    </p:spTree>
    <p:extLst>
      <p:ext uri="{BB962C8B-B14F-4D97-AF65-F5344CB8AC3E}">
        <p14:creationId xmlns:p14="http://schemas.microsoft.com/office/powerpoint/2010/main" val="23990485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p>
        </p:txBody>
      </p:sp>
      <p:sp>
        <p:nvSpPr>
          <p:cNvPr id="3" name="Content Placeholder 2"/>
          <p:cNvSpPr>
            <a:spLocks noGrp="1"/>
          </p:cNvSpPr>
          <p:nvPr>
            <p:ph idx="1"/>
          </p:nvPr>
        </p:nvSpPr>
        <p:spPr>
          <a:xfrm>
            <a:off x="609441" y="1600200"/>
            <a:ext cx="10969943" cy="3312042"/>
          </a:xfrm>
        </p:spPr>
        <p:txBody>
          <a:bodyPr>
            <a:normAutofit fontScale="92500" lnSpcReduction="10000"/>
          </a:bodyPr>
          <a:lstStyle/>
          <a:p>
            <a:r>
              <a:rPr lang="en-US" dirty="0"/>
              <a:t>Occur when data is written beyond the space allocated for it, such as a 10</a:t>
            </a:r>
            <a:r>
              <a:rPr lang="en-US" baseline="30000" dirty="0"/>
              <a:t>th</a:t>
            </a:r>
            <a:r>
              <a:rPr lang="en-US" dirty="0"/>
              <a:t> byte in a 9-byte array</a:t>
            </a:r>
          </a:p>
          <a:p>
            <a:endParaRPr lang="en-US" dirty="0"/>
          </a:p>
          <a:p>
            <a:r>
              <a:rPr lang="en-US" dirty="0"/>
              <a:t>In a typical exploitable buffer overflow, an attacker’s inputs are expected to go into regions of memory allocated for data, but those inputs are instead allowed to overwrite memory holding executable code</a:t>
            </a:r>
          </a:p>
          <a:p>
            <a:endParaRPr lang="en-US" dirty="0"/>
          </a:p>
          <a:p>
            <a:r>
              <a:rPr lang="en-US" dirty="0"/>
              <a:t>The trick for an attacker is finding buffer overflow opportunities that lead to overwritten memory being executed, and finding the right code to input</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8</a:t>
            </a:fld>
            <a:endParaRPr lang="en-US" dirty="0">
              <a:latin typeface="Arial"/>
            </a:endParaRPr>
          </a:p>
        </p:txBody>
      </p:sp>
      <p:sp>
        <p:nvSpPr>
          <p:cNvPr id="6" name="Content Placeholder 2">
            <a:extLst>
              <a:ext uri="{FF2B5EF4-FFF2-40B4-BE49-F238E27FC236}">
                <a16:creationId xmlns="" xmlns:a16="http://schemas.microsoft.com/office/drawing/2014/main" id="{4A26F5DC-0ABD-4207-8DCD-B16FD559EFFE}"/>
              </a:ext>
            </a:extLst>
          </p:cNvPr>
          <p:cNvSpPr txBox="1">
            <a:spLocks/>
          </p:cNvSpPr>
          <p:nvPr/>
        </p:nvSpPr>
        <p:spPr>
          <a:xfrm>
            <a:off x="3075553" y="4720856"/>
            <a:ext cx="10969943" cy="1927470"/>
          </a:xfrm>
          <a:prstGeom prst="rect">
            <a:avLst/>
          </a:prstGeom>
        </p:spPr>
        <p:txBody>
          <a:bodyPr vert="horz" lIns="91440" tIns="45720" rIns="91440" bIns="45720" rtlCol="0">
            <a:normAutofit fontScale="62500" lnSpcReduction="2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marL="0" indent="0">
              <a:buFont typeface="Arial" pitchFamily="34" charset="0"/>
              <a:buNone/>
            </a:pPr>
            <a:r>
              <a:rPr lang="en-US" dirty="0">
                <a:latin typeface="Courier New"/>
                <a:cs typeface="Courier New"/>
              </a:rPr>
              <a:t>char sample[10];</a:t>
            </a:r>
          </a:p>
          <a:p>
            <a:pPr marL="0" indent="0">
              <a:buFont typeface="Arial" pitchFamily="34" charset="0"/>
              <a:buNone/>
            </a:pPr>
            <a:endParaRPr lang="en-US" dirty="0">
              <a:latin typeface="Courier New"/>
              <a:cs typeface="Courier New"/>
            </a:endParaRPr>
          </a:p>
          <a:p>
            <a:pPr marL="0" indent="0">
              <a:buFont typeface="Arial" pitchFamily="34" charset="0"/>
              <a:buNone/>
            </a:pPr>
            <a:r>
              <a:rPr lang="en-US" dirty="0" err="1">
                <a:latin typeface="Courier New"/>
                <a:cs typeface="Courier New"/>
              </a:rPr>
              <a:t>int</a:t>
            </a:r>
            <a:r>
              <a:rPr lang="en-US" dirty="0">
                <a:latin typeface="Courier New"/>
                <a:cs typeface="Courier New"/>
              </a:rPr>
              <a:t> </a:t>
            </a:r>
            <a:r>
              <a:rPr lang="en-US" dirty="0" err="1">
                <a:latin typeface="Courier New"/>
                <a:cs typeface="Courier New"/>
              </a:rPr>
              <a:t>i</a:t>
            </a:r>
            <a:r>
              <a:rPr lang="en-US" dirty="0">
                <a:latin typeface="Courier New"/>
                <a:cs typeface="Courier New"/>
              </a:rPr>
              <a:t>;</a:t>
            </a:r>
          </a:p>
          <a:p>
            <a:pPr marL="0" indent="0">
              <a:buFont typeface="Arial" pitchFamily="34" charset="0"/>
              <a:buNone/>
            </a:pPr>
            <a:endParaRPr lang="en-US" dirty="0">
              <a:latin typeface="Courier New"/>
              <a:cs typeface="Courier New"/>
            </a:endParaRPr>
          </a:p>
          <a:p>
            <a:pPr marL="0" indent="0">
              <a:buFont typeface="Arial" pitchFamily="34" charset="0"/>
              <a:buNone/>
            </a:pPr>
            <a:r>
              <a:rPr lang="en-US" dirty="0">
                <a:latin typeface="Courier New"/>
                <a:cs typeface="Courier New"/>
              </a:rPr>
              <a:t>for (</a:t>
            </a:r>
            <a:r>
              <a:rPr lang="en-US" dirty="0" err="1">
                <a:latin typeface="Courier New"/>
                <a:cs typeface="Courier New"/>
              </a:rPr>
              <a:t>i</a:t>
            </a:r>
            <a:r>
              <a:rPr lang="en-US" dirty="0">
                <a:latin typeface="Courier New"/>
                <a:cs typeface="Courier New"/>
              </a:rPr>
              <a:t>=0; </a:t>
            </a:r>
            <a:r>
              <a:rPr lang="en-US" dirty="0" err="1">
                <a:latin typeface="Courier New"/>
                <a:cs typeface="Courier New"/>
              </a:rPr>
              <a:t>i</a:t>
            </a:r>
            <a:r>
              <a:rPr lang="en-US" dirty="0">
                <a:latin typeface="Courier New"/>
                <a:cs typeface="Courier New"/>
              </a:rPr>
              <a:t>&lt;=9; </a:t>
            </a:r>
            <a:r>
              <a:rPr lang="en-US" dirty="0" err="1">
                <a:latin typeface="Courier New"/>
                <a:cs typeface="Courier New"/>
              </a:rPr>
              <a:t>i</a:t>
            </a:r>
            <a:r>
              <a:rPr lang="en-US" dirty="0">
                <a:latin typeface="Courier New"/>
                <a:cs typeface="Courier New"/>
              </a:rPr>
              <a:t>++)</a:t>
            </a:r>
          </a:p>
          <a:p>
            <a:pPr marL="0" indent="0">
              <a:buFont typeface="Arial" pitchFamily="34" charset="0"/>
              <a:buNone/>
            </a:pPr>
            <a:r>
              <a:rPr lang="en-US" dirty="0">
                <a:latin typeface="Courier New"/>
                <a:cs typeface="Courier New"/>
              </a:rPr>
              <a:t>  sample[</a:t>
            </a:r>
            <a:r>
              <a:rPr lang="en-US" dirty="0" err="1">
                <a:latin typeface="Courier New"/>
                <a:cs typeface="Courier New"/>
              </a:rPr>
              <a:t>i</a:t>
            </a:r>
            <a:r>
              <a:rPr lang="en-US" dirty="0">
                <a:latin typeface="Courier New"/>
                <a:cs typeface="Courier New"/>
              </a:rPr>
              <a:t>] = ‘A’;</a:t>
            </a:r>
          </a:p>
          <a:p>
            <a:pPr marL="0" indent="0">
              <a:buFont typeface="Arial" pitchFamily="34" charset="0"/>
              <a:buNone/>
            </a:pPr>
            <a:endParaRPr lang="en-US" dirty="0">
              <a:latin typeface="Courier New"/>
              <a:cs typeface="Courier New"/>
            </a:endParaRPr>
          </a:p>
          <a:p>
            <a:pPr marL="0" indent="0">
              <a:buFont typeface="Arial" pitchFamily="34" charset="0"/>
              <a:buNone/>
            </a:pPr>
            <a:r>
              <a:rPr lang="en-US" dirty="0">
                <a:latin typeface="Courier New"/>
                <a:cs typeface="Courier New"/>
              </a:rPr>
              <a:t>sample[10] = ‘B’;</a:t>
            </a:r>
          </a:p>
        </p:txBody>
      </p:sp>
      <p:sp>
        <p:nvSpPr>
          <p:cNvPr id="7" name="TextBox 6">
            <a:extLst>
              <a:ext uri="{FF2B5EF4-FFF2-40B4-BE49-F238E27FC236}">
                <a16:creationId xmlns="" xmlns:a16="http://schemas.microsoft.com/office/drawing/2014/main" id="{73C8CE76-5A53-7949-304C-BC7196E0D0E2}"/>
              </a:ext>
            </a:extLst>
          </p:cNvPr>
          <p:cNvSpPr txBox="1"/>
          <p:nvPr/>
        </p:nvSpPr>
        <p:spPr>
          <a:xfrm>
            <a:off x="6731556" y="5257803"/>
            <a:ext cx="5214876"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rgbClr val="C00000"/>
                </a:solidFill>
              </a:rPr>
              <a:t>This is a</a:t>
            </a:r>
            <a:r>
              <a:rPr lang="en-US" sz="1600" baseline="0" dirty="0">
                <a:solidFill>
                  <a:srgbClr val="C00000"/>
                </a:solidFill>
              </a:rPr>
              <a:t> very simple buffer overflow. Character B is placed in memory that wasn’t allocated by or for this procedure.</a:t>
            </a:r>
            <a:endParaRPr lang="en-US" sz="1600" dirty="0">
              <a:solidFill>
                <a:srgbClr val="C00000"/>
              </a:solidFill>
            </a:endParaRPr>
          </a:p>
        </p:txBody>
      </p:sp>
    </p:spTree>
    <p:extLst>
      <p:ext uri="{BB962C8B-B14F-4D97-AF65-F5344CB8AC3E}">
        <p14:creationId xmlns:p14="http://schemas.microsoft.com/office/powerpoint/2010/main" val="26205064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533400"/>
            <a:ext cx="10969943" cy="568036"/>
          </a:xfrm>
        </p:spPr>
        <p:txBody>
          <a:bodyPr>
            <a:normAutofit fontScale="90000"/>
          </a:bodyPr>
          <a:lstStyle/>
          <a:p>
            <a:r>
              <a:rPr lang="en-US" dirty="0"/>
              <a:t>Overwriting Memory for Execution</a:t>
            </a:r>
          </a:p>
        </p:txBody>
      </p:sp>
      <p:sp>
        <p:nvSpPr>
          <p:cNvPr id="3" name="Content Placeholder 2"/>
          <p:cNvSpPr>
            <a:spLocks noGrp="1"/>
          </p:cNvSpPr>
          <p:nvPr>
            <p:ph idx="1"/>
          </p:nvPr>
        </p:nvSpPr>
        <p:spPr/>
        <p:txBody>
          <a:bodyPr>
            <a:normAutofit/>
          </a:bodyPr>
          <a:lstStyle/>
          <a:p>
            <a:r>
              <a:rPr lang="en-US" sz="3200" dirty="0"/>
              <a:t>Overwrite the program counter stored in the stack</a:t>
            </a:r>
          </a:p>
          <a:p>
            <a:r>
              <a:rPr lang="en-US" sz="3200" dirty="0"/>
              <a:t>Overwrite part of the code in low memory, substituting new instructions</a:t>
            </a:r>
          </a:p>
          <a:p>
            <a:r>
              <a:rPr lang="en-US" sz="3200" dirty="0"/>
              <a:t>Overwrite the program counter and data in the stack so that the program counter points to the stack</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9</a:t>
            </a:fld>
            <a:endParaRPr lang="en-US">
              <a:latin typeface="Arial"/>
            </a:endParaRPr>
          </a:p>
        </p:txBody>
      </p:sp>
    </p:spTree>
    <p:extLst>
      <p:ext uri="{BB962C8B-B14F-4D97-AF65-F5344CB8AC3E}">
        <p14:creationId xmlns:p14="http://schemas.microsoft.com/office/powerpoint/2010/main" val="11018454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Harm from Buffer Overflows</a:t>
            </a:r>
          </a:p>
        </p:txBody>
      </p:sp>
      <p:sp>
        <p:nvSpPr>
          <p:cNvPr id="3" name="Content Placeholder 2"/>
          <p:cNvSpPr>
            <a:spLocks noGrp="1"/>
          </p:cNvSpPr>
          <p:nvPr>
            <p:ph idx="1"/>
          </p:nvPr>
        </p:nvSpPr>
        <p:spPr/>
        <p:txBody>
          <a:bodyPr/>
          <a:lstStyle/>
          <a:p>
            <a:r>
              <a:rPr lang="en-US" dirty="0"/>
              <a:t>Overwrite:</a:t>
            </a:r>
          </a:p>
          <a:p>
            <a:pPr lvl="1"/>
            <a:r>
              <a:rPr lang="en-US" dirty="0"/>
              <a:t>Another piece of your program’s data</a:t>
            </a:r>
          </a:p>
          <a:p>
            <a:pPr lvl="1"/>
            <a:r>
              <a:rPr lang="en-US" dirty="0"/>
              <a:t>An instruction in your program</a:t>
            </a:r>
          </a:p>
          <a:p>
            <a:pPr lvl="1"/>
            <a:r>
              <a:rPr lang="en-US" dirty="0"/>
              <a:t>Data or code belonging to another program</a:t>
            </a:r>
          </a:p>
          <a:p>
            <a:pPr lvl="1"/>
            <a:r>
              <a:rPr lang="en-US" dirty="0"/>
              <a:t>Data or code belonging to the operating system</a:t>
            </a:r>
          </a:p>
          <a:p>
            <a:pPr lvl="1"/>
            <a:endParaRPr lang="en-US" dirty="0"/>
          </a:p>
          <a:p>
            <a:r>
              <a:rPr lang="en-US" dirty="0"/>
              <a:t>Overwriting a program’s instructions gives attackers that program’s execution privileges</a:t>
            </a:r>
          </a:p>
          <a:p>
            <a:endParaRPr lang="en-US" dirty="0"/>
          </a:p>
          <a:p>
            <a:r>
              <a:rPr lang="en-US" dirty="0"/>
              <a:t>Overwriting operating system instructions gives attackers the operating system’s execution privileges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10</a:t>
            </a:fld>
            <a:endParaRPr lang="en-US">
              <a:latin typeface="Arial"/>
            </a:endParaRPr>
          </a:p>
        </p:txBody>
      </p:sp>
    </p:spTree>
    <p:extLst>
      <p:ext uri="{BB962C8B-B14F-4D97-AF65-F5344CB8AC3E}">
        <p14:creationId xmlns:p14="http://schemas.microsoft.com/office/powerpoint/2010/main" val="3652097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533400"/>
            <a:ext cx="10425335" cy="663102"/>
          </a:xfrm>
        </p:spPr>
        <p:txBody>
          <a:bodyPr>
            <a:normAutofit fontScale="90000"/>
          </a:bodyPr>
          <a:lstStyle/>
          <a:p>
            <a:r>
              <a:rPr lang="en-US" dirty="0"/>
              <a:t>Overflow Countermeasures Summary</a:t>
            </a:r>
          </a:p>
        </p:txBody>
      </p:sp>
      <p:sp>
        <p:nvSpPr>
          <p:cNvPr id="3" name="Content Placeholder 2"/>
          <p:cNvSpPr>
            <a:spLocks noGrp="1"/>
          </p:cNvSpPr>
          <p:nvPr>
            <p:ph idx="1"/>
          </p:nvPr>
        </p:nvSpPr>
        <p:spPr/>
        <p:txBody>
          <a:bodyPr/>
          <a:lstStyle/>
          <a:p>
            <a:r>
              <a:rPr lang="en-US" dirty="0"/>
              <a:t>Staying within bounds</a:t>
            </a:r>
          </a:p>
          <a:p>
            <a:pPr lvl="1"/>
            <a:r>
              <a:rPr lang="en-US" dirty="0"/>
              <a:t>Check lengths before writing</a:t>
            </a:r>
          </a:p>
          <a:p>
            <a:pPr lvl="1"/>
            <a:r>
              <a:rPr lang="en-US" dirty="0"/>
              <a:t>Confirm that array subscripts are within limits</a:t>
            </a:r>
          </a:p>
          <a:p>
            <a:pPr lvl="1"/>
            <a:r>
              <a:rPr lang="en-US" dirty="0"/>
              <a:t>Double-check boundary condition code for off-by-one errors</a:t>
            </a:r>
          </a:p>
          <a:p>
            <a:pPr lvl="1"/>
            <a:r>
              <a:rPr lang="en-US" dirty="0"/>
              <a:t>Limit input to the number of acceptable characters</a:t>
            </a:r>
          </a:p>
          <a:p>
            <a:pPr lvl="1"/>
            <a:r>
              <a:rPr lang="en-US" dirty="0"/>
              <a:t>Limit programs’ privileges to reduce potential harm</a:t>
            </a:r>
          </a:p>
          <a:p>
            <a:r>
              <a:rPr lang="en-US" dirty="0"/>
              <a:t>Many languages have overflow protections</a:t>
            </a:r>
          </a:p>
          <a:p>
            <a:r>
              <a:rPr lang="en-US" dirty="0"/>
              <a:t>Code analyzers can identify many overflow vulnerabilities</a:t>
            </a:r>
          </a:p>
          <a:p>
            <a:r>
              <a:rPr lang="en-US" dirty="0"/>
              <a:t>Canary values in stack to signal modification</a:t>
            </a:r>
          </a:p>
        </p:txBody>
      </p:sp>
    </p:spTree>
    <p:extLst>
      <p:ext uri="{BB962C8B-B14F-4D97-AF65-F5344CB8AC3E}">
        <p14:creationId xmlns:p14="http://schemas.microsoft.com/office/powerpoint/2010/main" val="17174608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914162" y="533400"/>
            <a:ext cx="10360501" cy="1143000"/>
          </a:xfrm>
        </p:spPr>
        <p:txBody>
          <a:bodyPr/>
          <a:lstStyle/>
          <a:p>
            <a:pPr algn="ctr" eaLnBrk="1" hangingPunct="1"/>
            <a:r>
              <a:rPr lang="en-US" altLang="en-US" dirty="0" smtClean="0">
                <a:solidFill>
                  <a:srgbClr val="FF0000"/>
                </a:solidFill>
              </a:rPr>
              <a:t>Incomplete Mediation</a:t>
            </a:r>
          </a:p>
        </p:txBody>
      </p:sp>
      <p:sp>
        <p:nvSpPr>
          <p:cNvPr id="80899" name="Rectangle 3"/>
          <p:cNvSpPr>
            <a:spLocks noGrp="1" noChangeArrowheads="1"/>
          </p:cNvSpPr>
          <p:nvPr>
            <p:ph type="body" idx="1"/>
          </p:nvPr>
        </p:nvSpPr>
        <p:spPr>
          <a:xfrm>
            <a:off x="701511" y="1378688"/>
            <a:ext cx="11111261" cy="5181600"/>
          </a:xfrm>
        </p:spPr>
        <p:txBody>
          <a:bodyPr>
            <a:normAutofit fontScale="92500"/>
          </a:bodyPr>
          <a:lstStyle/>
          <a:p>
            <a:r>
              <a:rPr lang="en-US" dirty="0"/>
              <a:t>Mediation means checking: the process of intervening to confirm an </a:t>
            </a:r>
            <a:r>
              <a:rPr lang="en-US" dirty="0" smtClean="0"/>
              <a:t>actor’s authorization </a:t>
            </a:r>
            <a:r>
              <a:rPr lang="en-US" dirty="0"/>
              <a:t>before it takes an intended action</a:t>
            </a:r>
            <a:r>
              <a:rPr lang="en-US" dirty="0" smtClean="0"/>
              <a:t>.</a:t>
            </a:r>
          </a:p>
          <a:p>
            <a:r>
              <a:rPr lang="en-US" dirty="0"/>
              <a:t>Verifying that the subject is </a:t>
            </a:r>
            <a:r>
              <a:rPr lang="en-US" dirty="0" smtClean="0"/>
              <a:t>authorized to </a:t>
            </a:r>
            <a:r>
              <a:rPr lang="en-US" dirty="0"/>
              <a:t>perform the operation on an object is called </a:t>
            </a:r>
            <a:r>
              <a:rPr lang="en-US" b="1" dirty="0"/>
              <a:t>mediation</a:t>
            </a:r>
            <a:r>
              <a:rPr lang="en-US" dirty="0" smtClean="0"/>
              <a:t>.</a:t>
            </a:r>
          </a:p>
          <a:p>
            <a:r>
              <a:rPr lang="en-US" dirty="0"/>
              <a:t>Not properly checking or controlling data before allowing it to do something important</a:t>
            </a:r>
            <a:r>
              <a:rPr lang="en-US" dirty="0" smtClean="0"/>
              <a:t>.</a:t>
            </a:r>
          </a:p>
          <a:p>
            <a:r>
              <a:rPr lang="en-US" dirty="0"/>
              <a:t>It’s like letting someone into a building </a:t>
            </a:r>
            <a:r>
              <a:rPr lang="en-US" b="1" dirty="0"/>
              <a:t>without fully checking their ID</a:t>
            </a:r>
            <a:r>
              <a:rPr lang="en-US" dirty="0"/>
              <a:t>. You may check </a:t>
            </a:r>
            <a:r>
              <a:rPr lang="en-US" b="1" dirty="0"/>
              <a:t>some</a:t>
            </a:r>
            <a:r>
              <a:rPr lang="en-US" dirty="0"/>
              <a:t> things but </a:t>
            </a:r>
            <a:r>
              <a:rPr lang="en-US" b="1" dirty="0"/>
              <a:t>miss other important ones</a:t>
            </a:r>
            <a:r>
              <a:rPr lang="en-US" dirty="0" smtClean="0"/>
              <a:t>.</a:t>
            </a:r>
          </a:p>
          <a:p>
            <a:r>
              <a:rPr lang="en-US" altLang="en-US" sz="2400" dirty="0" smtClean="0"/>
              <a:t>It is </a:t>
            </a:r>
            <a:r>
              <a:rPr lang="en-US" altLang="en-US" dirty="0" smtClean="0"/>
              <a:t>f</a:t>
            </a:r>
            <a:r>
              <a:rPr lang="en-US" dirty="0" smtClean="0"/>
              <a:t>ailing </a:t>
            </a:r>
            <a:r>
              <a:rPr lang="en-US" dirty="0"/>
              <a:t>to fully check user input, requests, or access rights before taking action</a:t>
            </a:r>
            <a:r>
              <a:rPr lang="en-US" dirty="0" smtClean="0"/>
              <a:t>.</a:t>
            </a:r>
          </a:p>
          <a:p>
            <a:endParaRPr lang="en-US" dirty="0" smtClean="0"/>
          </a:p>
          <a:p>
            <a:r>
              <a:rPr lang="en-US" dirty="0"/>
              <a:t>This can lead to:</a:t>
            </a:r>
          </a:p>
          <a:p>
            <a:pPr marL="809625" indent="-182563"/>
            <a:r>
              <a:rPr lang="en-US" dirty="0"/>
              <a:t>Unauthorized access</a:t>
            </a:r>
          </a:p>
          <a:p>
            <a:pPr marL="809625" indent="-182563"/>
            <a:r>
              <a:rPr lang="en-US" dirty="0"/>
              <a:t>Data leakage</a:t>
            </a:r>
          </a:p>
          <a:p>
            <a:pPr marL="809625" indent="-182563"/>
            <a:r>
              <a:rPr lang="en-US" dirty="0"/>
              <a:t>System compromise</a:t>
            </a:r>
          </a:p>
          <a:p>
            <a:endParaRPr lang="en-US" altLang="en-US" sz="2400" dirty="0" smtClean="0"/>
          </a:p>
        </p:txBody>
      </p:sp>
    </p:spTree>
    <p:extLst>
      <p:ext uri="{BB962C8B-B14F-4D97-AF65-F5344CB8AC3E}">
        <p14:creationId xmlns:p14="http://schemas.microsoft.com/office/powerpoint/2010/main" val="39830860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914162" y="533400"/>
            <a:ext cx="10360501" cy="1143000"/>
          </a:xfrm>
        </p:spPr>
        <p:txBody>
          <a:bodyPr/>
          <a:lstStyle/>
          <a:p>
            <a:pPr algn="ctr" eaLnBrk="1" hangingPunct="1"/>
            <a:r>
              <a:rPr lang="en-US" altLang="en-US" dirty="0" smtClean="0">
                <a:solidFill>
                  <a:srgbClr val="FF0000"/>
                </a:solidFill>
              </a:rPr>
              <a:t>Incomplete Mediation</a:t>
            </a:r>
          </a:p>
        </p:txBody>
      </p:sp>
      <p:sp>
        <p:nvSpPr>
          <p:cNvPr id="80899" name="Rectangle 3"/>
          <p:cNvSpPr>
            <a:spLocks noGrp="1" noChangeArrowheads="1"/>
          </p:cNvSpPr>
          <p:nvPr>
            <p:ph type="body" idx="1"/>
          </p:nvPr>
        </p:nvSpPr>
        <p:spPr>
          <a:xfrm>
            <a:off x="914162" y="1676400"/>
            <a:ext cx="10360501" cy="4419600"/>
          </a:xfrm>
        </p:spPr>
        <p:txBody>
          <a:bodyPr/>
          <a:lstStyle/>
          <a:p>
            <a:pPr eaLnBrk="1" hangingPunct="1"/>
            <a:r>
              <a:rPr lang="en-US" altLang="en-US" sz="2800" dirty="0" smtClean="0"/>
              <a:t>Linux kernel</a:t>
            </a:r>
          </a:p>
          <a:p>
            <a:pPr lvl="1" eaLnBrk="1" hangingPunct="1"/>
            <a:r>
              <a:rPr lang="en-US" altLang="en-US" sz="2400" dirty="0" smtClean="0"/>
              <a:t>Research has revealed many buffer overflows</a:t>
            </a:r>
          </a:p>
          <a:p>
            <a:pPr lvl="1" eaLnBrk="1" hangingPunct="1"/>
            <a:r>
              <a:rPr lang="en-US" altLang="en-US" sz="2400" dirty="0" smtClean="0"/>
              <a:t>Many of these are due to incomplete mediation</a:t>
            </a:r>
          </a:p>
          <a:p>
            <a:pPr eaLnBrk="1" hangingPunct="1"/>
            <a:r>
              <a:rPr lang="en-US" altLang="en-US" sz="2800" dirty="0" smtClean="0"/>
              <a:t>Linux kernel is “good” software since</a:t>
            </a:r>
          </a:p>
          <a:p>
            <a:pPr lvl="1" eaLnBrk="1" hangingPunct="1"/>
            <a:r>
              <a:rPr lang="en-US" altLang="en-US" sz="2400" dirty="0" smtClean="0"/>
              <a:t>Open-source </a:t>
            </a:r>
          </a:p>
          <a:p>
            <a:pPr lvl="1" eaLnBrk="1" hangingPunct="1"/>
            <a:r>
              <a:rPr lang="en-US" altLang="en-US" sz="2400" dirty="0" smtClean="0"/>
              <a:t>Kernel </a:t>
            </a:r>
            <a:r>
              <a:rPr lang="en-US" altLang="en-US" sz="2400" dirty="0" smtClean="0">
                <a:sym typeface="Symbol" pitchFamily="18" charset="2"/>
              </a:rPr>
              <a:t></a:t>
            </a:r>
            <a:r>
              <a:rPr lang="en-US" altLang="en-US" sz="2400" dirty="0" smtClean="0"/>
              <a:t> written by coding gurus</a:t>
            </a:r>
          </a:p>
          <a:p>
            <a:pPr eaLnBrk="1" hangingPunct="1"/>
            <a:r>
              <a:rPr lang="en-US" altLang="en-US" sz="2800" dirty="0" smtClean="0"/>
              <a:t>Tools exist to help find such problems</a:t>
            </a:r>
          </a:p>
          <a:p>
            <a:pPr lvl="1" eaLnBrk="1" hangingPunct="1"/>
            <a:r>
              <a:rPr lang="en-US" altLang="en-US" sz="2400" dirty="0" smtClean="0"/>
              <a:t>But incomplete mediation errors can be subtle</a:t>
            </a:r>
          </a:p>
          <a:p>
            <a:pPr lvl="1" eaLnBrk="1" hangingPunct="1"/>
            <a:r>
              <a:rPr lang="en-US" altLang="en-US" sz="2400" dirty="0" smtClean="0"/>
              <a:t>And tools useful to attackers too!</a:t>
            </a:r>
          </a:p>
        </p:txBody>
      </p:sp>
      <p:sp>
        <p:nvSpPr>
          <p:cNvPr id="80900"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19816748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914162" y="533400"/>
            <a:ext cx="10360501" cy="1143000"/>
          </a:xfrm>
        </p:spPr>
        <p:txBody>
          <a:bodyPr/>
          <a:lstStyle/>
          <a:p>
            <a:pPr eaLnBrk="1" hangingPunct="1"/>
            <a:r>
              <a:rPr lang="en-US" altLang="en-US" smtClean="0"/>
              <a:t>Incomplete Mediation</a:t>
            </a:r>
          </a:p>
        </p:txBody>
      </p:sp>
      <p:sp>
        <p:nvSpPr>
          <p:cNvPr id="80899" name="Rectangle 3"/>
          <p:cNvSpPr>
            <a:spLocks noGrp="1" noChangeArrowheads="1"/>
          </p:cNvSpPr>
          <p:nvPr>
            <p:ph type="body" idx="1"/>
          </p:nvPr>
        </p:nvSpPr>
        <p:spPr>
          <a:xfrm>
            <a:off x="914162" y="1676400"/>
            <a:ext cx="10360501" cy="4419600"/>
          </a:xfrm>
        </p:spPr>
        <p:txBody>
          <a:bodyPr/>
          <a:lstStyle/>
          <a:p>
            <a:r>
              <a:rPr lang="en-IN" b="1" dirty="0"/>
              <a:t>Validate All </a:t>
            </a:r>
            <a:r>
              <a:rPr lang="en-IN" b="1" dirty="0" smtClean="0"/>
              <a:t>Input</a:t>
            </a:r>
          </a:p>
          <a:p>
            <a:r>
              <a:rPr lang="en-IN" b="1" dirty="0"/>
              <a:t>Guard Against Users’ </a:t>
            </a:r>
            <a:r>
              <a:rPr lang="en-IN" b="1" dirty="0" smtClean="0"/>
              <a:t>Fingers</a:t>
            </a:r>
          </a:p>
          <a:p>
            <a:pPr lvl="1"/>
            <a:r>
              <a:rPr lang="en-US" altLang="en-US" dirty="0" smtClean="0"/>
              <a:t>There </a:t>
            </a:r>
            <a:r>
              <a:rPr lang="en-US" altLang="en-US" dirty="0"/>
              <a:t>is no reason to leave sensitive data under control of an </a:t>
            </a:r>
            <a:r>
              <a:rPr lang="en-US" altLang="en-US" dirty="0" smtClean="0"/>
              <a:t>untrusted user.</a:t>
            </a:r>
          </a:p>
          <a:p>
            <a:endParaRPr lang="en-US" altLang="en-US" sz="2400" dirty="0" smtClean="0"/>
          </a:p>
        </p:txBody>
      </p:sp>
    </p:spTree>
    <p:extLst>
      <p:ext uri="{BB962C8B-B14F-4D97-AF65-F5344CB8AC3E}">
        <p14:creationId xmlns:p14="http://schemas.microsoft.com/office/powerpoint/2010/main" val="39324878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914162" y="457200"/>
            <a:ext cx="10360501" cy="1143000"/>
          </a:xfrm>
        </p:spPr>
        <p:txBody>
          <a:bodyPr/>
          <a:lstStyle/>
          <a:p>
            <a:pPr eaLnBrk="1" hangingPunct="1"/>
            <a:r>
              <a:rPr lang="en-US" altLang="en-US" smtClean="0"/>
              <a:t>Race Conditions</a:t>
            </a:r>
          </a:p>
        </p:txBody>
      </p:sp>
      <p:sp>
        <p:nvSpPr>
          <p:cNvPr id="86019" name="Rectangle 3"/>
          <p:cNvSpPr>
            <a:spLocks noGrp="1" noChangeArrowheads="1"/>
          </p:cNvSpPr>
          <p:nvPr>
            <p:ph type="body" idx="1"/>
          </p:nvPr>
        </p:nvSpPr>
        <p:spPr>
          <a:xfrm>
            <a:off x="914162" y="1345915"/>
            <a:ext cx="10360501" cy="5075433"/>
          </a:xfrm>
        </p:spPr>
        <p:txBody>
          <a:bodyPr>
            <a:normAutofit lnSpcReduction="10000"/>
          </a:bodyPr>
          <a:lstStyle/>
          <a:p>
            <a:pPr algn="just"/>
            <a:r>
              <a:rPr lang="en-US" altLang="en-US" dirty="0" smtClean="0"/>
              <a:t>A </a:t>
            </a:r>
            <a:r>
              <a:rPr lang="en-US" altLang="en-US" dirty="0"/>
              <a:t>race condition means that two processes are competing </a:t>
            </a:r>
            <a:r>
              <a:rPr lang="en-US" altLang="en-US" dirty="0" smtClean="0"/>
              <a:t>within the </a:t>
            </a:r>
            <a:r>
              <a:rPr lang="en-US" altLang="en-US" dirty="0"/>
              <a:t>same time </a:t>
            </a:r>
            <a:r>
              <a:rPr lang="en-US" altLang="en-US" dirty="0" smtClean="0"/>
              <a:t>interval.</a:t>
            </a:r>
          </a:p>
          <a:p>
            <a:pPr algn="just"/>
            <a:r>
              <a:rPr lang="en-US" altLang="en-US" dirty="0" smtClean="0"/>
              <a:t>The </a:t>
            </a:r>
            <a:r>
              <a:rPr lang="en-US" altLang="en-US" dirty="0"/>
              <a:t>race affects </a:t>
            </a:r>
            <a:r>
              <a:rPr lang="en-US" altLang="en-US" dirty="0">
                <a:solidFill>
                  <a:srgbClr val="FF0000"/>
                </a:solidFill>
              </a:rPr>
              <a:t>the integrity </a:t>
            </a:r>
            <a:r>
              <a:rPr lang="en-US" altLang="en-US" dirty="0"/>
              <a:t>or </a:t>
            </a:r>
            <a:r>
              <a:rPr lang="en-US" altLang="en-US" dirty="0" smtClean="0"/>
              <a:t>correctness </a:t>
            </a:r>
            <a:r>
              <a:rPr lang="en-US" altLang="en-US" dirty="0"/>
              <a:t>of the </a:t>
            </a:r>
            <a:r>
              <a:rPr lang="en-US" altLang="en-US" dirty="0" smtClean="0"/>
              <a:t>computing tasks.</a:t>
            </a:r>
          </a:p>
          <a:p>
            <a:pPr algn="just"/>
            <a:r>
              <a:rPr lang="en-US" dirty="0"/>
              <a:t>T</a:t>
            </a:r>
            <a:r>
              <a:rPr lang="en-US" dirty="0" smtClean="0"/>
              <a:t>wo </a:t>
            </a:r>
            <a:r>
              <a:rPr lang="en-US" dirty="0"/>
              <a:t>devices may submit competing requests to the operating </a:t>
            </a:r>
            <a:r>
              <a:rPr lang="en-US" dirty="0" smtClean="0"/>
              <a:t>system for </a:t>
            </a:r>
            <a:r>
              <a:rPr lang="en-US" dirty="0"/>
              <a:t>a given chunk of memory at the same time. </a:t>
            </a:r>
            <a:endParaRPr lang="en-US" dirty="0" smtClean="0"/>
          </a:p>
          <a:p>
            <a:pPr algn="just"/>
            <a:r>
              <a:rPr lang="en-US" dirty="0" smtClean="0"/>
              <a:t>In </a:t>
            </a:r>
            <a:r>
              <a:rPr lang="en-US" dirty="0"/>
              <a:t>the two-step request process, </a:t>
            </a:r>
            <a:r>
              <a:rPr lang="en-US" dirty="0" smtClean="0"/>
              <a:t>each device </a:t>
            </a:r>
            <a:r>
              <a:rPr lang="en-US" dirty="0"/>
              <a:t>first asks if the size chunk is available, </a:t>
            </a:r>
            <a:endParaRPr lang="en-US" dirty="0" smtClean="0"/>
          </a:p>
          <a:p>
            <a:pPr algn="just"/>
            <a:r>
              <a:rPr lang="en-US" dirty="0" smtClean="0"/>
              <a:t>if </a:t>
            </a:r>
            <a:r>
              <a:rPr lang="en-US" dirty="0"/>
              <a:t>the answer is </a:t>
            </a:r>
            <a:r>
              <a:rPr lang="en-US" b="1" dirty="0">
                <a:solidFill>
                  <a:srgbClr val="00B050"/>
                </a:solidFill>
              </a:rPr>
              <a:t>yes</a:t>
            </a:r>
            <a:r>
              <a:rPr lang="en-US" dirty="0"/>
              <a:t>, then reserves </a:t>
            </a:r>
            <a:r>
              <a:rPr lang="en-US" dirty="0" smtClean="0"/>
              <a:t>that chunk </a:t>
            </a:r>
            <a:r>
              <a:rPr lang="en-US" dirty="0"/>
              <a:t>for itself. </a:t>
            </a:r>
            <a:endParaRPr lang="en-US" dirty="0" smtClean="0"/>
          </a:p>
          <a:p>
            <a:pPr algn="just"/>
            <a:r>
              <a:rPr lang="en-US" dirty="0" smtClean="0"/>
              <a:t>Depending </a:t>
            </a:r>
            <a:r>
              <a:rPr lang="en-US" dirty="0"/>
              <a:t>on the timing of the steps, the first device could ask for </a:t>
            </a:r>
            <a:r>
              <a:rPr lang="en-US" dirty="0" smtClean="0"/>
              <a:t>the chunk</a:t>
            </a:r>
            <a:r>
              <a:rPr lang="en-US" dirty="0"/>
              <a:t>, get a “yes” answer, </a:t>
            </a:r>
            <a:endParaRPr lang="en-US" dirty="0" smtClean="0"/>
          </a:p>
          <a:p>
            <a:pPr algn="just"/>
            <a:r>
              <a:rPr lang="en-US" dirty="0" smtClean="0"/>
              <a:t>Do not </a:t>
            </a:r>
            <a:r>
              <a:rPr lang="en-US" dirty="0"/>
              <a:t>get the chunk because it has already been </a:t>
            </a:r>
            <a:r>
              <a:rPr lang="en-US" dirty="0" smtClean="0"/>
              <a:t>assigned to </a:t>
            </a:r>
            <a:r>
              <a:rPr lang="en-US" dirty="0"/>
              <a:t>the second device</a:t>
            </a:r>
            <a:r>
              <a:rPr lang="en-US" dirty="0" smtClean="0"/>
              <a:t>.</a:t>
            </a:r>
          </a:p>
          <a:p>
            <a:pPr algn="just"/>
            <a:r>
              <a:rPr lang="en-US" dirty="0" smtClean="0"/>
              <a:t>The </a:t>
            </a:r>
            <a:r>
              <a:rPr lang="en-US" dirty="0"/>
              <a:t>two requesters </a:t>
            </a:r>
            <a:r>
              <a:rPr lang="en-US" b="1" u="sng" dirty="0">
                <a:solidFill>
                  <a:srgbClr val="C00000"/>
                </a:solidFill>
              </a:rPr>
              <a:t>“race” </a:t>
            </a:r>
            <a:r>
              <a:rPr lang="en-US" dirty="0"/>
              <a:t>to obtain a resource.</a:t>
            </a:r>
            <a:endParaRPr lang="en-US" altLang="en-US" dirty="0" smtClean="0"/>
          </a:p>
        </p:txBody>
      </p:sp>
    </p:spTree>
    <p:extLst>
      <p:ext uri="{BB962C8B-B14F-4D97-AF65-F5344CB8AC3E}">
        <p14:creationId xmlns:p14="http://schemas.microsoft.com/office/powerpoint/2010/main" val="7675404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914162" y="457200"/>
            <a:ext cx="10360501" cy="1143000"/>
          </a:xfrm>
        </p:spPr>
        <p:txBody>
          <a:bodyPr/>
          <a:lstStyle/>
          <a:p>
            <a:pPr eaLnBrk="1" hangingPunct="1"/>
            <a:r>
              <a:rPr lang="en-US" altLang="en-US" smtClean="0"/>
              <a:t>Race Conditions</a:t>
            </a:r>
          </a:p>
        </p:txBody>
      </p:sp>
      <p:sp>
        <p:nvSpPr>
          <p:cNvPr id="86019" name="Rectangle 3"/>
          <p:cNvSpPr>
            <a:spLocks noGrp="1" noChangeArrowheads="1"/>
          </p:cNvSpPr>
          <p:nvPr>
            <p:ph type="body" idx="1"/>
          </p:nvPr>
        </p:nvSpPr>
        <p:spPr>
          <a:xfrm>
            <a:off x="914162" y="1752600"/>
            <a:ext cx="10360501" cy="4419600"/>
          </a:xfrm>
        </p:spPr>
        <p:txBody>
          <a:bodyPr>
            <a:normAutofit/>
          </a:bodyPr>
          <a:lstStyle/>
          <a:p>
            <a:pPr algn="just"/>
            <a:r>
              <a:rPr lang="en-US" dirty="0" smtClean="0"/>
              <a:t>A race </a:t>
            </a:r>
            <a:r>
              <a:rPr lang="en-US" dirty="0"/>
              <a:t>condition occurs most often in an operating system, </a:t>
            </a:r>
            <a:endParaRPr lang="en-US" dirty="0" smtClean="0"/>
          </a:p>
          <a:p>
            <a:pPr algn="just"/>
            <a:r>
              <a:rPr lang="en-US" dirty="0" smtClean="0"/>
              <a:t>It </a:t>
            </a:r>
            <a:r>
              <a:rPr lang="en-US" dirty="0"/>
              <a:t>can also occur </a:t>
            </a:r>
            <a:r>
              <a:rPr lang="en-US" dirty="0" smtClean="0"/>
              <a:t>in multithreaded </a:t>
            </a:r>
            <a:r>
              <a:rPr lang="en-US" dirty="0"/>
              <a:t>or cooperating processes</a:t>
            </a:r>
            <a:r>
              <a:rPr lang="en-US" dirty="0" smtClean="0"/>
              <a:t>.</a:t>
            </a:r>
          </a:p>
          <a:p>
            <a:pPr algn="just"/>
            <a:r>
              <a:rPr lang="en-US" altLang="en-US" dirty="0"/>
              <a:t>In a race condition or serialization flaw two processes execute concurrently, </a:t>
            </a:r>
            <a:endParaRPr lang="en-US" altLang="en-US" dirty="0" smtClean="0"/>
          </a:p>
          <a:p>
            <a:pPr algn="just"/>
            <a:r>
              <a:rPr lang="en-US" altLang="en-US" dirty="0" smtClean="0"/>
              <a:t>The outcome </a:t>
            </a:r>
            <a:r>
              <a:rPr lang="en-US" altLang="en-US" dirty="0"/>
              <a:t>of the computation depends on the order in which instructions of the </a:t>
            </a:r>
            <a:r>
              <a:rPr lang="en-US" altLang="en-US" dirty="0" smtClean="0"/>
              <a:t>processes execute</a:t>
            </a:r>
          </a:p>
          <a:p>
            <a:pPr marL="0" indent="0" algn="just">
              <a:buNone/>
            </a:pPr>
            <a:endParaRPr lang="en-US" altLang="en-US" dirty="0" smtClean="0"/>
          </a:p>
        </p:txBody>
      </p:sp>
    </p:spTree>
    <p:extLst>
      <p:ext uri="{BB962C8B-B14F-4D97-AF65-F5344CB8AC3E}">
        <p14:creationId xmlns:p14="http://schemas.microsoft.com/office/powerpoint/2010/main" val="6982993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99870" y="457200"/>
            <a:ext cx="10360501" cy="1143000"/>
          </a:xfrm>
        </p:spPr>
        <p:txBody>
          <a:bodyPr/>
          <a:lstStyle/>
          <a:p>
            <a:pPr eaLnBrk="1" hangingPunct="1"/>
            <a:r>
              <a:rPr lang="en-US" altLang="en-US" smtClean="0"/>
              <a:t>Race Conditions</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4613" y="1734603"/>
            <a:ext cx="8866391" cy="4655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5653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99870" y="457200"/>
            <a:ext cx="10360501" cy="1143000"/>
          </a:xfrm>
        </p:spPr>
        <p:txBody>
          <a:bodyPr/>
          <a:lstStyle/>
          <a:p>
            <a:pPr eaLnBrk="1" hangingPunct="1"/>
            <a:r>
              <a:rPr lang="en-US" altLang="en-US" smtClean="0"/>
              <a:t>Race Conditions</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4180" y="1600200"/>
            <a:ext cx="7675200" cy="4813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26147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99870" y="457200"/>
            <a:ext cx="10360501" cy="1143000"/>
          </a:xfrm>
        </p:spPr>
        <p:txBody>
          <a:bodyPr/>
          <a:lstStyle/>
          <a:p>
            <a:pPr eaLnBrk="1" hangingPunct="1"/>
            <a:r>
              <a:rPr lang="en-US" altLang="en-US" smtClean="0"/>
              <a:t>Race Conditions</a:t>
            </a:r>
          </a:p>
        </p:txBody>
      </p:sp>
      <p:sp>
        <p:nvSpPr>
          <p:cNvPr id="2" name="Rectangle 1"/>
          <p:cNvSpPr/>
          <p:nvPr/>
        </p:nvSpPr>
        <p:spPr>
          <a:xfrm>
            <a:off x="799870" y="1452906"/>
            <a:ext cx="10635267" cy="5262979"/>
          </a:xfrm>
          <a:prstGeom prst="rect">
            <a:avLst/>
          </a:prstGeom>
        </p:spPr>
        <p:txBody>
          <a:bodyPr wrap="square">
            <a:spAutoFit/>
          </a:bodyPr>
          <a:lstStyle/>
          <a:p>
            <a:pPr algn="just"/>
            <a:r>
              <a:rPr lang="en-IN" sz="2400" dirty="0"/>
              <a:t>Because A has </a:t>
            </a:r>
            <a:r>
              <a:rPr lang="en-IN" sz="2400" dirty="0" smtClean="0"/>
              <a:t>not </a:t>
            </a:r>
            <a:r>
              <a:rPr lang="en-US" sz="2400" dirty="0" smtClean="0"/>
              <a:t>completed </a:t>
            </a:r>
            <a:r>
              <a:rPr lang="en-US" sz="2400" dirty="0"/>
              <a:t>the transaction before the system gets a request from B, the system tells B </a:t>
            </a:r>
            <a:r>
              <a:rPr lang="en-US" sz="2400" dirty="0" smtClean="0"/>
              <a:t>that the </a:t>
            </a:r>
            <a:r>
              <a:rPr lang="en-US" sz="2400" dirty="0"/>
              <a:t>seat is available. </a:t>
            </a:r>
            <a:endParaRPr lang="en-US" sz="2400" dirty="0" smtClean="0"/>
          </a:p>
          <a:p>
            <a:pPr algn="just"/>
            <a:r>
              <a:rPr lang="en-US" sz="2400" dirty="0" smtClean="0"/>
              <a:t>If </a:t>
            </a:r>
            <a:r>
              <a:rPr lang="en-US" sz="2400" dirty="0"/>
              <a:t>the system is not designed properly, both agents can complete </a:t>
            </a:r>
            <a:r>
              <a:rPr lang="en-US" sz="2400" dirty="0" smtClean="0"/>
              <a:t>their transactions</a:t>
            </a:r>
            <a:r>
              <a:rPr lang="en-US" sz="2400" dirty="0"/>
              <a:t>, and two passengers will be confirmed for that one seat </a:t>
            </a:r>
            <a:r>
              <a:rPr lang="en-US" sz="2400" dirty="0" smtClean="0"/>
              <a:t>which </a:t>
            </a:r>
            <a:r>
              <a:rPr lang="en-US" sz="2400" dirty="0"/>
              <a:t>will </a:t>
            </a:r>
            <a:r>
              <a:rPr lang="en-US" sz="2400" dirty="0" smtClean="0"/>
              <a:t>be </a:t>
            </a:r>
            <a:r>
              <a:rPr lang="en-IN" sz="2400" dirty="0" smtClean="0"/>
              <a:t>uncomfortable</a:t>
            </a:r>
          </a:p>
          <a:p>
            <a:pPr algn="just"/>
            <a:r>
              <a:rPr lang="en-US" sz="2400" dirty="0" smtClean="0"/>
              <a:t>A </a:t>
            </a:r>
            <a:r>
              <a:rPr lang="en-US" sz="2400" dirty="0"/>
              <a:t>race condition is difficult to detect because it depends on the order in which </a:t>
            </a:r>
            <a:r>
              <a:rPr lang="en-US" sz="2400" dirty="0" smtClean="0"/>
              <a:t>two processes </a:t>
            </a:r>
            <a:r>
              <a:rPr lang="en-US" sz="2400" dirty="0"/>
              <a:t>execute. </a:t>
            </a:r>
            <a:endParaRPr lang="en-US" sz="2400" dirty="0" smtClean="0"/>
          </a:p>
          <a:p>
            <a:pPr algn="just"/>
            <a:r>
              <a:rPr lang="en-US" sz="2400" dirty="0" smtClean="0"/>
              <a:t>The </a:t>
            </a:r>
            <a:r>
              <a:rPr lang="en-US" sz="2400" dirty="0"/>
              <a:t>execution order of the processes can depend on many </a:t>
            </a:r>
            <a:r>
              <a:rPr lang="en-US" sz="2400" dirty="0" smtClean="0"/>
              <a:t>other things</a:t>
            </a:r>
            <a:r>
              <a:rPr lang="en-US" sz="2400" dirty="0"/>
              <a:t>, such as the total load on the system, </a:t>
            </a:r>
            <a:endParaRPr lang="en-US" sz="2400" dirty="0" smtClean="0"/>
          </a:p>
          <a:p>
            <a:pPr algn="just"/>
            <a:r>
              <a:rPr lang="en-US" sz="2400" dirty="0" smtClean="0"/>
              <a:t>the </a:t>
            </a:r>
            <a:r>
              <a:rPr lang="en-US" sz="2400" dirty="0"/>
              <a:t>amount of available memory space, </a:t>
            </a:r>
            <a:endParaRPr lang="en-US" sz="2400" dirty="0" smtClean="0"/>
          </a:p>
          <a:p>
            <a:pPr algn="just"/>
            <a:r>
              <a:rPr lang="en-US" sz="2400" dirty="0" smtClean="0"/>
              <a:t>the priority </a:t>
            </a:r>
            <a:r>
              <a:rPr lang="en-US" sz="2400" dirty="0"/>
              <a:t>of each process, or </a:t>
            </a:r>
            <a:endParaRPr lang="en-US" sz="2400" dirty="0" smtClean="0"/>
          </a:p>
          <a:p>
            <a:pPr algn="just"/>
            <a:r>
              <a:rPr lang="en-US" sz="2400" dirty="0" smtClean="0"/>
              <a:t>the </a:t>
            </a:r>
            <a:r>
              <a:rPr lang="en-US" sz="2400" dirty="0"/>
              <a:t>number and timing of system interrupts to the processes.</a:t>
            </a:r>
          </a:p>
          <a:p>
            <a:pPr algn="just"/>
            <a:r>
              <a:rPr lang="en-US" sz="2400" dirty="0"/>
              <a:t>During testing, and even for a long period of execution, conditions may never cause </a:t>
            </a:r>
            <a:r>
              <a:rPr lang="en-US" sz="2400" dirty="0" smtClean="0"/>
              <a:t>this particular </a:t>
            </a:r>
            <a:r>
              <a:rPr lang="en-US" sz="2400" dirty="0"/>
              <a:t>overload condition to occur.</a:t>
            </a:r>
            <a:endParaRPr lang="en-IN" sz="2400" dirty="0"/>
          </a:p>
        </p:txBody>
      </p:sp>
    </p:spTree>
    <p:extLst>
      <p:ext uri="{BB962C8B-B14F-4D97-AF65-F5344CB8AC3E}">
        <p14:creationId xmlns:p14="http://schemas.microsoft.com/office/powerpoint/2010/main" val="27142988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99870" y="457200"/>
            <a:ext cx="10360501" cy="1143000"/>
          </a:xfrm>
        </p:spPr>
        <p:txBody>
          <a:bodyPr/>
          <a:lstStyle/>
          <a:p>
            <a:r>
              <a:rPr lang="en-US" altLang="en-US" dirty="0" smtClean="0"/>
              <a:t>Race Conditions: </a:t>
            </a:r>
            <a:r>
              <a:rPr lang="en-IN" dirty="0"/>
              <a:t>File Name Race Condition</a:t>
            </a:r>
            <a:endParaRPr lang="en-US" altLang="en-US" dirty="0" smtClean="0"/>
          </a:p>
        </p:txBody>
      </p:sp>
      <p:sp>
        <p:nvSpPr>
          <p:cNvPr id="2" name="Rectangle 1"/>
          <p:cNvSpPr/>
          <p:nvPr/>
        </p:nvSpPr>
        <p:spPr>
          <a:xfrm>
            <a:off x="799870" y="1452906"/>
            <a:ext cx="10635267" cy="830997"/>
          </a:xfrm>
          <a:prstGeom prst="rect">
            <a:avLst/>
          </a:prstGeom>
        </p:spPr>
        <p:txBody>
          <a:bodyPr wrap="square">
            <a:spAutoFit/>
          </a:bodyPr>
          <a:lstStyle/>
          <a:p>
            <a:pPr algn="just"/>
            <a:r>
              <a:rPr lang="en-US" sz="2400" dirty="0"/>
              <a:t>A race condition between two processes can cause inconsistent, undesired </a:t>
            </a:r>
            <a:r>
              <a:rPr lang="en-US" sz="2400" dirty="0" smtClean="0"/>
              <a:t>and therefore </a:t>
            </a:r>
            <a:r>
              <a:rPr lang="en-US" sz="2400" dirty="0"/>
              <a:t>wrong, outcomes—a failure of integrity</a:t>
            </a:r>
            <a:r>
              <a:rPr lang="en-US" sz="2400" dirty="0" smtClean="0"/>
              <a:t>.</a:t>
            </a:r>
            <a:endParaRPr lang="en-IN"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613" y="2410039"/>
            <a:ext cx="975360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88395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99870" y="457200"/>
            <a:ext cx="10360501" cy="1143000"/>
          </a:xfrm>
        </p:spPr>
        <p:txBody>
          <a:bodyPr/>
          <a:lstStyle/>
          <a:p>
            <a:r>
              <a:rPr lang="en-US" altLang="en-US" dirty="0" smtClean="0"/>
              <a:t>Race Conditions : </a:t>
            </a:r>
            <a:r>
              <a:rPr lang="en-IN" dirty="0"/>
              <a:t>File Name Race Condition</a:t>
            </a:r>
            <a:endParaRPr lang="en-US" altLang="en-US" dirty="0" smtClean="0"/>
          </a:p>
        </p:txBody>
      </p:sp>
      <p:sp>
        <p:nvSpPr>
          <p:cNvPr id="2" name="Rectangle 1"/>
          <p:cNvSpPr/>
          <p:nvPr/>
        </p:nvSpPr>
        <p:spPr>
          <a:xfrm>
            <a:off x="693545" y="1293417"/>
            <a:ext cx="11388955" cy="6001643"/>
          </a:xfrm>
          <a:prstGeom prst="rect">
            <a:avLst/>
          </a:prstGeom>
        </p:spPr>
        <p:txBody>
          <a:bodyPr wrap="square">
            <a:spAutoFit/>
          </a:bodyPr>
          <a:lstStyle/>
          <a:p>
            <a:r>
              <a:rPr lang="en-US" sz="2400" b="1" dirty="0" smtClean="0"/>
              <a:t>Normal </a:t>
            </a:r>
            <a:r>
              <a:rPr lang="en-US" sz="2400" b="1" dirty="0"/>
              <a:t>Operation (Safe</a:t>
            </a:r>
            <a:r>
              <a:rPr lang="en-US" sz="2400" b="1" dirty="0" smtClean="0"/>
              <a:t>):</a:t>
            </a:r>
            <a:endParaRPr lang="en-US" sz="2400" b="1" dirty="0"/>
          </a:p>
          <a:p>
            <a:pPr marL="342900" indent="-342900">
              <a:buFont typeface="Arial" panose="020B0604020202020204" pitchFamily="34" charset="0"/>
              <a:buChar char="•"/>
            </a:pPr>
            <a:r>
              <a:rPr lang="en-US" sz="2400" b="1" dirty="0"/>
              <a:t>Choose file name F1</a:t>
            </a:r>
            <a:r>
              <a:rPr lang="en-US" sz="2400" dirty="0"/>
              <a:t> – The user wants to create or write to a file called F1.</a:t>
            </a:r>
          </a:p>
          <a:p>
            <a:pPr marL="342900" indent="-342900">
              <a:buFont typeface="Arial" panose="020B0604020202020204" pitchFamily="34" charset="0"/>
              <a:buChar char="•"/>
            </a:pPr>
            <a:r>
              <a:rPr lang="en-US" sz="2400" b="1" dirty="0"/>
              <a:t>Name free?</a:t>
            </a:r>
            <a:r>
              <a:rPr lang="en-US" sz="2400" dirty="0"/>
              <a:t> – The system checks: “Is this file name already used?”</a:t>
            </a:r>
          </a:p>
          <a:p>
            <a:pPr marL="342900" indent="-342900">
              <a:buFont typeface="Arial" panose="020B0604020202020204" pitchFamily="34" charset="0"/>
              <a:buChar char="•"/>
            </a:pPr>
            <a:r>
              <a:rPr lang="en-US" sz="2400" b="1" dirty="0"/>
              <a:t>Create file F1</a:t>
            </a:r>
            <a:r>
              <a:rPr lang="en-US" sz="2400" dirty="0"/>
              <a:t> – If the name is free, it creates the file.</a:t>
            </a:r>
          </a:p>
          <a:p>
            <a:pPr marL="342900" indent="-342900">
              <a:buFont typeface="Arial" panose="020B0604020202020204" pitchFamily="34" charset="0"/>
              <a:buChar char="•"/>
            </a:pPr>
            <a:r>
              <a:rPr lang="en-US" sz="2400" b="1" dirty="0"/>
              <a:t>Write to file</a:t>
            </a:r>
            <a:r>
              <a:rPr lang="en-US" sz="2400" dirty="0"/>
              <a:t> – Now, it writes data into this file.</a:t>
            </a:r>
          </a:p>
          <a:p>
            <a:pPr algn="just"/>
            <a:endParaRPr lang="en-IN" sz="2400" dirty="0" smtClean="0"/>
          </a:p>
          <a:p>
            <a:pPr algn="just"/>
            <a:r>
              <a:rPr lang="en-US" sz="2400" b="1" dirty="0" smtClean="0">
                <a:solidFill>
                  <a:srgbClr val="FF0000"/>
                </a:solidFill>
              </a:rPr>
              <a:t>Abnormal </a:t>
            </a:r>
            <a:r>
              <a:rPr lang="en-US" sz="2400" b="1" dirty="0">
                <a:solidFill>
                  <a:srgbClr val="FF0000"/>
                </a:solidFill>
              </a:rPr>
              <a:t>Operation </a:t>
            </a:r>
            <a:r>
              <a:rPr lang="en-US" sz="2400" b="1" dirty="0" smtClean="0">
                <a:solidFill>
                  <a:srgbClr val="FF0000"/>
                </a:solidFill>
              </a:rPr>
              <a:t>(Unsafe):</a:t>
            </a:r>
            <a:endParaRPr lang="en-IN" sz="2400" dirty="0" smtClean="0">
              <a:solidFill>
                <a:srgbClr val="FF0000"/>
              </a:solidFill>
            </a:endParaRPr>
          </a:p>
          <a:p>
            <a:pPr marL="342900" indent="-342900">
              <a:buFont typeface="Arial" panose="020B0604020202020204" pitchFamily="34" charset="0"/>
              <a:buChar char="•"/>
            </a:pPr>
            <a:r>
              <a:rPr lang="en-US" sz="2400" b="1" dirty="0"/>
              <a:t>Choose file name F1</a:t>
            </a:r>
            <a:r>
              <a:rPr lang="en-US" sz="2400" dirty="0"/>
              <a:t> – Same as before.</a:t>
            </a:r>
          </a:p>
          <a:p>
            <a:pPr marL="342900" indent="-342900">
              <a:buFont typeface="Arial" panose="020B0604020202020204" pitchFamily="34" charset="0"/>
              <a:buChar char="•"/>
            </a:pPr>
            <a:r>
              <a:rPr lang="en-US" sz="2400" b="1" dirty="0"/>
              <a:t>Name free?</a:t>
            </a:r>
            <a:r>
              <a:rPr lang="en-US" sz="2400" dirty="0"/>
              <a:t> – The system checks if F1 is available.</a:t>
            </a:r>
          </a:p>
          <a:p>
            <a:pPr marL="342900" indent="-342900">
              <a:buFont typeface="Arial" panose="020B0604020202020204" pitchFamily="34" charset="0"/>
              <a:buChar char="•"/>
            </a:pPr>
            <a:r>
              <a:rPr lang="en-US" sz="2400" b="1" dirty="0"/>
              <a:t>Create file F1</a:t>
            </a:r>
            <a:r>
              <a:rPr lang="en-US" sz="2400" dirty="0"/>
              <a:t> – System creates file F1.</a:t>
            </a:r>
          </a:p>
          <a:p>
            <a:pPr marL="342900" indent="-342900">
              <a:buFont typeface="Arial" panose="020B0604020202020204" pitchFamily="34" charset="0"/>
              <a:buChar char="•"/>
            </a:pPr>
            <a:r>
              <a:rPr lang="en-US" sz="2400" dirty="0"/>
              <a:t>❗</a:t>
            </a:r>
            <a:r>
              <a:rPr lang="en-US" sz="2400" b="1" dirty="0"/>
              <a:t>Problem</a:t>
            </a:r>
            <a:r>
              <a:rPr lang="en-US" sz="2400" dirty="0"/>
              <a:t> – Before writing data, the attacker changes the file name from F1 to </a:t>
            </a:r>
            <a:r>
              <a:rPr lang="en-US" sz="2400" b="1" dirty="0"/>
              <a:t>F2</a:t>
            </a:r>
            <a:r>
              <a:rPr lang="en-US" sz="2400" dirty="0"/>
              <a:t> (a different file).</a:t>
            </a:r>
          </a:p>
          <a:p>
            <a:pPr marL="342900" indent="-342900">
              <a:buFont typeface="Arial" panose="020B0604020202020204" pitchFamily="34" charset="0"/>
              <a:buChar char="•"/>
            </a:pPr>
            <a:r>
              <a:rPr lang="en-US" sz="2400" b="1" dirty="0"/>
              <a:t>Overwrite file F2</a:t>
            </a:r>
            <a:r>
              <a:rPr lang="en-US" sz="2400" dirty="0"/>
              <a:t> – Now the program writes data into file F2 (which might be important or sensitive), even though the system never checked if F2 was safe to write to!</a:t>
            </a:r>
          </a:p>
          <a:p>
            <a:pPr algn="just"/>
            <a:endParaRPr lang="en-IN" sz="2400" dirty="0"/>
          </a:p>
        </p:txBody>
      </p:sp>
    </p:spTree>
    <p:extLst>
      <p:ext uri="{BB962C8B-B14F-4D97-AF65-F5344CB8AC3E}">
        <p14:creationId xmlns:p14="http://schemas.microsoft.com/office/powerpoint/2010/main" val="41367641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812588" y="762000"/>
            <a:ext cx="10462075" cy="838200"/>
          </a:xfrm>
        </p:spPr>
        <p:txBody>
          <a:bodyPr/>
          <a:lstStyle/>
          <a:p>
            <a:pPr eaLnBrk="1" hangingPunct="1"/>
            <a:r>
              <a:rPr lang="en-US" altLang="en-US" dirty="0" smtClean="0">
                <a:latin typeface="Times-Roman" charset="0"/>
              </a:rPr>
              <a:t>mkdir</a:t>
            </a:r>
            <a:r>
              <a:rPr lang="en-US" altLang="en-US" dirty="0" smtClean="0"/>
              <a:t> Race Condition</a:t>
            </a:r>
          </a:p>
        </p:txBody>
      </p:sp>
      <p:grpSp>
        <p:nvGrpSpPr>
          <p:cNvPr id="2" name="Group 1"/>
          <p:cNvGrpSpPr/>
          <p:nvPr/>
        </p:nvGrpSpPr>
        <p:grpSpPr>
          <a:xfrm>
            <a:off x="3055581" y="1380641"/>
            <a:ext cx="6399133" cy="1722297"/>
            <a:chOff x="2640912" y="3581403"/>
            <a:chExt cx="6399133" cy="1722297"/>
          </a:xfrm>
        </p:grpSpPr>
        <p:sp>
          <p:nvSpPr>
            <p:cNvPr id="196613" name="Rectangle 5"/>
            <p:cNvSpPr>
              <a:spLocks noChangeArrowheads="1"/>
            </p:cNvSpPr>
            <p:nvPr/>
          </p:nvSpPr>
          <p:spPr bwMode="auto">
            <a:xfrm>
              <a:off x="7008574" y="3973514"/>
              <a:ext cx="14285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a:t>1. Allocate</a:t>
              </a:r>
            </a:p>
            <a:p>
              <a:pPr eaLnBrk="1" hangingPunct="1">
                <a:spcBef>
                  <a:spcPct val="0"/>
                </a:spcBef>
                <a:buClrTx/>
                <a:buSzTx/>
                <a:buFontTx/>
                <a:buNone/>
              </a:pPr>
              <a:r>
                <a:rPr lang="en-US" altLang="en-US" sz="2000"/>
                <a:t>   space</a:t>
              </a:r>
            </a:p>
          </p:txBody>
        </p:sp>
        <p:sp>
          <p:nvSpPr>
            <p:cNvPr id="196615" name="Rectangle 7"/>
            <p:cNvSpPr>
              <a:spLocks noChangeArrowheads="1"/>
            </p:cNvSpPr>
            <p:nvPr/>
          </p:nvSpPr>
          <p:spPr bwMode="auto">
            <a:xfrm>
              <a:off x="6907001" y="3910013"/>
              <a:ext cx="2133044" cy="914400"/>
            </a:xfrm>
            <a:prstGeom prst="rect">
              <a:avLst/>
            </a:prstGeom>
            <a:solidFill>
              <a:schemeClr val="bg1">
                <a:alpha val="0"/>
              </a:schemeClr>
            </a:solidFill>
            <a:ln w="9525">
              <a:solidFill>
                <a:schemeClr val="tx1"/>
              </a:solidFill>
              <a:miter lim="800000"/>
              <a:headEnd/>
              <a:tailEnd/>
            </a:ln>
          </p:spPr>
          <p:txBody>
            <a:bodyPr wrap="none" anchor="ct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endParaRPr lang="en-US" altLang="en-US" sz="2400"/>
            </a:p>
          </p:txBody>
        </p:sp>
        <p:sp>
          <p:nvSpPr>
            <p:cNvPr id="196616" name="Line 8"/>
            <p:cNvSpPr>
              <a:spLocks noChangeShapeType="1"/>
            </p:cNvSpPr>
            <p:nvPr/>
          </p:nvSpPr>
          <p:spPr bwMode="auto">
            <a:xfrm>
              <a:off x="3859795" y="4164013"/>
              <a:ext cx="3047206"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96617" name="Rectangle 9"/>
            <p:cNvSpPr>
              <a:spLocks noChangeArrowheads="1"/>
            </p:cNvSpPr>
            <p:nvPr/>
          </p:nvSpPr>
          <p:spPr bwMode="auto">
            <a:xfrm>
              <a:off x="4716824" y="3757614"/>
              <a:ext cx="8114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dirty="0">
                  <a:latin typeface="Times-Roman" charset="0"/>
                </a:rPr>
                <a:t>mkdir</a:t>
              </a:r>
            </a:p>
          </p:txBody>
        </p:sp>
        <p:sp>
          <p:nvSpPr>
            <p:cNvPr id="196618" name="Line 10"/>
            <p:cNvSpPr>
              <a:spLocks noChangeShapeType="1"/>
            </p:cNvSpPr>
            <p:nvPr/>
          </p:nvSpPr>
          <p:spPr bwMode="auto">
            <a:xfrm flipH="1">
              <a:off x="3859795" y="4595813"/>
              <a:ext cx="3047206"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96619" name="Rectangle 11"/>
            <p:cNvSpPr>
              <a:spLocks noChangeArrowheads="1"/>
            </p:cNvSpPr>
            <p:nvPr/>
          </p:nvSpPr>
          <p:spPr bwMode="auto">
            <a:xfrm>
              <a:off x="4266089" y="4595814"/>
              <a:ext cx="168347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a:t>2. Transfer</a:t>
              </a:r>
            </a:p>
            <a:p>
              <a:pPr eaLnBrk="1" hangingPunct="1">
                <a:spcBef>
                  <a:spcPct val="0"/>
                </a:spcBef>
                <a:buClrTx/>
                <a:buSzTx/>
                <a:buFontTx/>
                <a:buNone/>
              </a:pPr>
              <a:r>
                <a:rPr lang="en-US" altLang="en-US" sz="2000"/>
                <a:t>    ownership</a:t>
              </a:r>
            </a:p>
          </p:txBody>
        </p:sp>
        <p:pic>
          <p:nvPicPr>
            <p:cNvPr id="83978"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912" y="3581403"/>
              <a:ext cx="1261205" cy="162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3979"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
        <p:nvSpPr>
          <p:cNvPr id="3" name="Rectangle 1"/>
          <p:cNvSpPr>
            <a:spLocks noChangeArrowheads="1"/>
          </p:cNvSpPr>
          <p:nvPr/>
        </p:nvSpPr>
        <p:spPr bwMode="auto">
          <a:xfrm>
            <a:off x="2525785" y="3379937"/>
            <a:ext cx="7128578" cy="2862322"/>
          </a:xfrm>
          <a:prstGeom prst="rect">
            <a:avLst/>
          </a:prstGeo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altLang="en-US" dirty="0">
                <a:latin typeface="Arial" pitchFamily="34" charset="0"/>
                <a:cs typeface="Arial" pitchFamily="34" charset="0"/>
              </a:rPr>
              <a:t>A </a:t>
            </a:r>
            <a:r>
              <a:rPr lang="en-US" altLang="en-US" dirty="0" smtClean="0">
                <a:latin typeface="Arial" pitchFamily="34" charset="0"/>
                <a:cs typeface="Arial" pitchFamily="34" charset="0"/>
              </a:rPr>
              <a:t>girl wants </a:t>
            </a:r>
            <a:r>
              <a:rPr lang="en-US" altLang="en-US" dirty="0">
                <a:latin typeface="Arial" pitchFamily="34" charset="0"/>
                <a:cs typeface="Arial" pitchFamily="34" charset="0"/>
              </a:rPr>
              <a:t>to create a folder using </a:t>
            </a:r>
            <a:r>
              <a:rPr lang="en-US" altLang="en-US" i="1" dirty="0">
                <a:solidFill>
                  <a:srgbClr val="FF0000"/>
                </a:solidFill>
                <a:latin typeface="Arial" pitchFamily="34" charset="0"/>
                <a:cs typeface="Arial" pitchFamily="34" charset="0"/>
              </a:rPr>
              <a:t>mkdir</a:t>
            </a:r>
            <a:r>
              <a:rPr lang="en-US" altLang="en-US" dirty="0" smtClean="0">
                <a:latin typeface="Arial" pitchFamily="34" charset="0"/>
                <a:cs typeface="Arial"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lang="en-US" altLang="en-US" dirty="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smtClean="0">
                <a:latin typeface="Arial" pitchFamily="34" charset="0"/>
                <a:cs typeface="Arial" pitchFamily="34" charset="0"/>
              </a:rPr>
              <a:t>Two </a:t>
            </a:r>
            <a:r>
              <a:rPr lang="en-US" altLang="en-US" dirty="0">
                <a:latin typeface="Arial" pitchFamily="34" charset="0"/>
                <a:cs typeface="Arial" pitchFamily="34" charset="0"/>
              </a:rPr>
              <a:t>Steps Involved</a:t>
            </a:r>
            <a:r>
              <a:rPr lang="en-US" altLang="en-US" dirty="0" smtClean="0">
                <a:latin typeface="Arial"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b="1" dirty="0" smtClean="0">
                <a:solidFill>
                  <a:srgbClr val="FF0000"/>
                </a:solidFill>
                <a:latin typeface="Arial" pitchFamily="34" charset="0"/>
                <a:cs typeface="Arial" pitchFamily="34" charset="0"/>
              </a:rPr>
              <a:t> Allocate space</a:t>
            </a:r>
            <a:r>
              <a:rPr lang="en-US" altLang="en-US" dirty="0" smtClean="0">
                <a:solidFill>
                  <a:srgbClr val="FF0000"/>
                </a:solidFill>
                <a:latin typeface="Arial" pitchFamily="34" charset="0"/>
                <a:cs typeface="Arial" pitchFamily="34" charset="0"/>
              </a:rPr>
              <a:t>: </a:t>
            </a:r>
            <a:r>
              <a:rPr lang="en-US" altLang="en-US" dirty="0" smtClean="0">
                <a:latin typeface="Arial" pitchFamily="34" charset="0"/>
                <a:cs typeface="Arial" pitchFamily="34" charset="0"/>
              </a:rPr>
              <a:t>The </a:t>
            </a:r>
            <a:r>
              <a:rPr lang="en-US" altLang="en-US" dirty="0">
                <a:latin typeface="Arial" pitchFamily="34" charset="0"/>
                <a:cs typeface="Arial" pitchFamily="34" charset="0"/>
              </a:rPr>
              <a:t>system receives the request and sets aside space on the disk to make a new folder</a:t>
            </a:r>
            <a:r>
              <a:rPr lang="en-US" altLang="en-US" dirty="0" smtClean="0">
                <a:latin typeface="Arial" pitchFamily="34" charset="0"/>
                <a:cs typeface="Arial" pitchFamily="34"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smtClean="0">
                <a:ln>
                  <a:noFill/>
                </a:ln>
                <a:solidFill>
                  <a:srgbClr val="FF0000"/>
                </a:solidFill>
                <a:effectLst/>
                <a:latin typeface="Arial" pitchFamily="34" charset="0"/>
                <a:cs typeface="Arial" pitchFamily="34" charset="0"/>
              </a:rPr>
              <a:t> Transfer ownership</a:t>
            </a:r>
            <a:r>
              <a:rPr lang="en-US" altLang="en-US" dirty="0" smtClean="0">
                <a:solidFill>
                  <a:srgbClr val="FF0000"/>
                </a:solidFill>
                <a:latin typeface="Arial" pitchFamily="34" charset="0"/>
                <a:cs typeface="Arial" pitchFamily="34" charset="0"/>
              </a:rPr>
              <a:t>: </a:t>
            </a:r>
            <a:r>
              <a:rPr kumimoji="0" lang="en-US" altLang="en-US" sz="1800" b="0" i="0" u="none" strike="noStrike" cap="none" normalizeH="0" baseline="0" dirty="0" smtClean="0">
                <a:ln>
                  <a:noFill/>
                </a:ln>
                <a:solidFill>
                  <a:schemeClr val="tx1"/>
                </a:solidFill>
                <a:effectLst/>
                <a:latin typeface="Arial" pitchFamily="34" charset="0"/>
                <a:cs typeface="Arial" pitchFamily="34" charset="0"/>
              </a:rPr>
              <a:t>After the folder is created, the system gives control (ownership) of that folder back to the user.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432837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2"/>
          <p:cNvSpPr>
            <a:spLocks noGrp="1" noChangeArrowheads="1"/>
          </p:cNvSpPr>
          <p:nvPr>
            <p:ph type="title"/>
          </p:nvPr>
        </p:nvSpPr>
        <p:spPr>
          <a:xfrm>
            <a:off x="914162" y="304800"/>
            <a:ext cx="10360501" cy="914400"/>
          </a:xfrm>
        </p:spPr>
        <p:txBody>
          <a:bodyPr/>
          <a:lstStyle/>
          <a:p>
            <a:pPr eaLnBrk="1" hangingPunct="1"/>
            <a:r>
              <a:rPr lang="en-US" altLang="en-US" dirty="0" smtClean="0">
                <a:latin typeface="Times-Roman" charset="0"/>
              </a:rPr>
              <a:t>mkdir</a:t>
            </a:r>
            <a:r>
              <a:rPr lang="en-US" altLang="en-US" dirty="0" smtClean="0"/>
              <a:t> Attack</a:t>
            </a:r>
          </a:p>
        </p:txBody>
      </p:sp>
      <p:grpSp>
        <p:nvGrpSpPr>
          <p:cNvPr id="2" name="Group 1"/>
          <p:cNvGrpSpPr/>
          <p:nvPr/>
        </p:nvGrpSpPr>
        <p:grpSpPr>
          <a:xfrm>
            <a:off x="2640912" y="1099749"/>
            <a:ext cx="5833237" cy="2164025"/>
            <a:chOff x="2640912" y="1981203"/>
            <a:chExt cx="6907001" cy="2971797"/>
          </a:xfrm>
        </p:grpSpPr>
        <p:sp>
          <p:nvSpPr>
            <p:cNvPr id="197645" name="Rectangle 13"/>
            <p:cNvSpPr>
              <a:spLocks noChangeArrowheads="1"/>
            </p:cNvSpPr>
            <p:nvPr/>
          </p:nvSpPr>
          <p:spPr bwMode="auto">
            <a:xfrm>
              <a:off x="6500707" y="3962400"/>
              <a:ext cx="3047206" cy="990600"/>
            </a:xfrm>
            <a:prstGeom prst="rect">
              <a:avLst/>
            </a:prstGeom>
            <a:solidFill>
              <a:srgbClr val="FF180C"/>
            </a:solidFill>
            <a:ln w="9525">
              <a:solidFill>
                <a:srgbClr val="FF0000"/>
              </a:solidFill>
              <a:miter lim="800000"/>
              <a:headEnd/>
              <a:tailEnd/>
            </a:ln>
          </p:spPr>
          <p:txBody>
            <a:bodyPr wrap="none" anchor="ct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endParaRPr lang="en-US" altLang="en-US" sz="2400"/>
            </a:p>
          </p:txBody>
        </p:sp>
        <p:sp>
          <p:nvSpPr>
            <p:cNvPr id="197637" name="Rectangle 5"/>
            <p:cNvSpPr>
              <a:spLocks noChangeArrowheads="1"/>
            </p:cNvSpPr>
            <p:nvPr/>
          </p:nvSpPr>
          <p:spPr bwMode="auto">
            <a:xfrm>
              <a:off x="7008574" y="2349500"/>
              <a:ext cx="14285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a:t>1. Allocate</a:t>
              </a:r>
            </a:p>
            <a:p>
              <a:pPr eaLnBrk="1" hangingPunct="1">
                <a:spcBef>
                  <a:spcPct val="0"/>
                </a:spcBef>
                <a:buClrTx/>
                <a:buSzTx/>
                <a:buFontTx/>
                <a:buNone/>
              </a:pPr>
              <a:r>
                <a:rPr lang="en-US" altLang="en-US" sz="2000"/>
                <a:t>   space</a:t>
              </a:r>
            </a:p>
          </p:txBody>
        </p:sp>
        <p:sp>
          <p:nvSpPr>
            <p:cNvPr id="197639" name="Rectangle 7"/>
            <p:cNvSpPr>
              <a:spLocks noChangeArrowheads="1"/>
            </p:cNvSpPr>
            <p:nvPr/>
          </p:nvSpPr>
          <p:spPr bwMode="auto">
            <a:xfrm>
              <a:off x="6907001" y="2286000"/>
              <a:ext cx="2133044" cy="914400"/>
            </a:xfrm>
            <a:prstGeom prst="rect">
              <a:avLst/>
            </a:prstGeom>
            <a:solidFill>
              <a:schemeClr val="bg1">
                <a:alpha val="0"/>
              </a:schemeClr>
            </a:solidFill>
            <a:ln w="9525">
              <a:solidFill>
                <a:schemeClr val="tx1"/>
              </a:solidFill>
              <a:miter lim="800000"/>
              <a:headEnd/>
              <a:tailEnd/>
            </a:ln>
          </p:spPr>
          <p:txBody>
            <a:bodyPr wrap="none" anchor="ct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endParaRPr lang="en-US" altLang="en-US" sz="2400"/>
            </a:p>
          </p:txBody>
        </p:sp>
        <p:sp>
          <p:nvSpPr>
            <p:cNvPr id="197640" name="Line 8"/>
            <p:cNvSpPr>
              <a:spLocks noChangeShapeType="1"/>
            </p:cNvSpPr>
            <p:nvPr/>
          </p:nvSpPr>
          <p:spPr bwMode="auto">
            <a:xfrm flipV="1">
              <a:off x="3859795" y="2540000"/>
              <a:ext cx="3047206"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97641" name="Rectangle 9"/>
            <p:cNvSpPr>
              <a:spLocks noChangeArrowheads="1"/>
            </p:cNvSpPr>
            <p:nvPr/>
          </p:nvSpPr>
          <p:spPr bwMode="auto">
            <a:xfrm>
              <a:off x="4773958" y="2133601"/>
              <a:ext cx="8114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dirty="0">
                  <a:latin typeface="Times-Roman" charset="0"/>
                </a:rPr>
                <a:t>mkdir</a:t>
              </a:r>
            </a:p>
          </p:txBody>
        </p:sp>
        <p:sp>
          <p:nvSpPr>
            <p:cNvPr id="197642" name="Line 10"/>
            <p:cNvSpPr>
              <a:spLocks noChangeShapeType="1"/>
            </p:cNvSpPr>
            <p:nvPr/>
          </p:nvSpPr>
          <p:spPr bwMode="auto">
            <a:xfrm flipH="1">
              <a:off x="3859795" y="2971800"/>
              <a:ext cx="3047206" cy="0"/>
            </a:xfrm>
            <a:prstGeom prst="line">
              <a:avLst/>
            </a:prstGeom>
            <a:noFill/>
            <a:ln w="508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97643" name="Rectangle 11"/>
            <p:cNvSpPr>
              <a:spLocks noChangeArrowheads="1"/>
            </p:cNvSpPr>
            <p:nvPr/>
          </p:nvSpPr>
          <p:spPr bwMode="auto">
            <a:xfrm>
              <a:off x="4266090" y="2971800"/>
              <a:ext cx="168347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a:t>3. Transfer</a:t>
              </a:r>
            </a:p>
            <a:p>
              <a:pPr eaLnBrk="1" hangingPunct="1">
                <a:spcBef>
                  <a:spcPct val="0"/>
                </a:spcBef>
                <a:buClrTx/>
                <a:buSzTx/>
                <a:buFontTx/>
                <a:buNone/>
              </a:pPr>
              <a:r>
                <a:rPr lang="en-US" altLang="en-US" sz="2000"/>
                <a:t>    ownership</a:t>
              </a:r>
            </a:p>
          </p:txBody>
        </p:sp>
        <p:sp>
          <p:nvSpPr>
            <p:cNvPr id="197644" name="Rectangle 12"/>
            <p:cNvSpPr>
              <a:spLocks noChangeArrowheads="1"/>
            </p:cNvSpPr>
            <p:nvPr/>
          </p:nvSpPr>
          <p:spPr bwMode="auto">
            <a:xfrm>
              <a:off x="6602281" y="4038600"/>
              <a:ext cx="21178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r>
                <a:rPr lang="en-US" altLang="en-US" sz="2000"/>
                <a:t>2. Create link to</a:t>
              </a:r>
            </a:p>
            <a:p>
              <a:pPr eaLnBrk="1" hangingPunct="1">
                <a:spcBef>
                  <a:spcPct val="0"/>
                </a:spcBef>
                <a:buClrTx/>
                <a:buSzTx/>
                <a:buFontTx/>
                <a:buNone/>
              </a:pPr>
              <a:r>
                <a:rPr lang="en-US" altLang="en-US" sz="2000"/>
                <a:t>    password file</a:t>
              </a:r>
              <a:endParaRPr lang="en-US" altLang="en-US" sz="2400"/>
            </a:p>
          </p:txBody>
        </p:sp>
        <p:sp>
          <p:nvSpPr>
            <p:cNvPr id="197646" name="Line 14"/>
            <p:cNvSpPr>
              <a:spLocks noChangeShapeType="1"/>
            </p:cNvSpPr>
            <p:nvPr/>
          </p:nvSpPr>
          <p:spPr bwMode="auto">
            <a:xfrm flipV="1">
              <a:off x="8024310" y="3200400"/>
              <a:ext cx="0" cy="762000"/>
            </a:xfrm>
            <a:prstGeom prst="line">
              <a:avLst/>
            </a:prstGeom>
            <a:noFill/>
            <a:ln w="508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97650" name="Rectangle 18"/>
            <p:cNvSpPr>
              <a:spLocks noChangeArrowheads="1"/>
            </p:cNvSpPr>
            <p:nvPr/>
          </p:nvSpPr>
          <p:spPr bwMode="auto">
            <a:xfrm>
              <a:off x="6500707" y="3962400"/>
              <a:ext cx="3047206" cy="990600"/>
            </a:xfrm>
            <a:prstGeom prst="rect">
              <a:avLst/>
            </a:prstGeom>
            <a:solidFill>
              <a:schemeClr val="bg1">
                <a:alpha val="0"/>
              </a:schemeClr>
            </a:solidFill>
            <a:ln w="31750">
              <a:solidFill>
                <a:schemeClr val="tx1"/>
              </a:solidFill>
              <a:miter lim="800000"/>
              <a:headEnd/>
              <a:tailEnd/>
            </a:ln>
          </p:spPr>
          <p:txBody>
            <a:bodyPr wrap="none" anchor="ctr"/>
            <a:lstStyle>
              <a:lvl1pPr eaLnBrk="0" hangingPunct="0">
                <a:spcBef>
                  <a:spcPct val="20000"/>
                </a:spcBef>
                <a:buClr>
                  <a:schemeClr val="accent2"/>
                </a:buClr>
                <a:buSzPct val="75000"/>
                <a:buFont typeface="Wingdings" pitchFamily="2" charset="2"/>
                <a:buChar char="q"/>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defRPr sz="2000">
                  <a:solidFill>
                    <a:schemeClr val="tx1"/>
                  </a:solidFill>
                  <a:latin typeface="Comic Sans MS" pitchFamily="66" charset="0"/>
                </a:defRPr>
              </a:lvl9pPr>
            </a:lstStyle>
            <a:p>
              <a:pPr eaLnBrk="1" hangingPunct="1">
                <a:spcBef>
                  <a:spcPct val="0"/>
                </a:spcBef>
                <a:buClrTx/>
                <a:buSzTx/>
                <a:buFontTx/>
                <a:buNone/>
              </a:pPr>
              <a:endParaRPr lang="en-US" altLang="en-US" sz="2400"/>
            </a:p>
          </p:txBody>
        </p:sp>
        <p:pic>
          <p:nvPicPr>
            <p:cNvPr id="85007"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912" y="1981203"/>
              <a:ext cx="1261205" cy="162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5008"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
        <p:nvSpPr>
          <p:cNvPr id="3" name="Rectangle 2"/>
          <p:cNvSpPr/>
          <p:nvPr/>
        </p:nvSpPr>
        <p:spPr>
          <a:xfrm>
            <a:off x="307567" y="2588537"/>
            <a:ext cx="5593095" cy="923330"/>
          </a:xfrm>
          <a:prstGeom prst="rect">
            <a:avLst/>
          </a:prstGeom>
        </p:spPr>
        <p:txBody>
          <a:bodyPr wrap="square">
            <a:spAutoFit/>
          </a:bodyPr>
          <a:lstStyle/>
          <a:p>
            <a:r>
              <a:rPr lang="en-US" b="1" dirty="0">
                <a:solidFill>
                  <a:srgbClr val="00B050"/>
                </a:solidFill>
              </a:rPr>
              <a:t>What should happen:</a:t>
            </a:r>
          </a:p>
          <a:p>
            <a:pPr marL="342900" indent="-342900">
              <a:buFont typeface="+mj-lt"/>
              <a:buAutoNum type="arabicPeriod"/>
            </a:pPr>
            <a:r>
              <a:rPr lang="en-US" b="1" dirty="0"/>
              <a:t>System allocates space</a:t>
            </a:r>
            <a:r>
              <a:rPr lang="en-US" dirty="0"/>
              <a:t> to create a new folder.</a:t>
            </a:r>
          </a:p>
          <a:p>
            <a:pPr marL="342900" indent="-342900">
              <a:buFont typeface="+mj-lt"/>
              <a:buAutoNum type="arabicPeriod"/>
            </a:pPr>
            <a:r>
              <a:rPr lang="en-US" b="1" dirty="0"/>
              <a:t>System gives the user ownership</a:t>
            </a:r>
            <a:r>
              <a:rPr lang="en-US" dirty="0"/>
              <a:t> of that folder.</a:t>
            </a:r>
          </a:p>
        </p:txBody>
      </p:sp>
      <p:sp>
        <p:nvSpPr>
          <p:cNvPr id="4" name="Rectangle 3"/>
          <p:cNvSpPr/>
          <p:nvPr/>
        </p:nvSpPr>
        <p:spPr>
          <a:xfrm>
            <a:off x="91359" y="3511867"/>
            <a:ext cx="6791370" cy="147732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dirty="0"/>
              <a:t>While the system is still working (after step 1 but </a:t>
            </a:r>
            <a:r>
              <a:rPr lang="en-US" b="1" dirty="0"/>
              <a:t>before step 3</a:t>
            </a:r>
            <a:r>
              <a:rPr lang="en-US" dirty="0" smtClean="0"/>
              <a:t>):</a:t>
            </a:r>
          </a:p>
          <a:p>
            <a:r>
              <a:rPr lang="en-US" b="1" dirty="0"/>
              <a:t>Step 2: An attacker quickly jumps in</a:t>
            </a:r>
          </a:p>
          <a:p>
            <a:r>
              <a:rPr lang="en-US" dirty="0"/>
              <a:t>They </a:t>
            </a:r>
            <a:r>
              <a:rPr lang="en-US" b="1" dirty="0"/>
              <a:t>replace the folder</a:t>
            </a:r>
            <a:r>
              <a:rPr lang="en-US" dirty="0"/>
              <a:t> with a </a:t>
            </a:r>
            <a:r>
              <a:rPr lang="en-US" b="1" dirty="0"/>
              <a:t>link to a sensitive file</a:t>
            </a:r>
            <a:r>
              <a:rPr lang="en-US" dirty="0"/>
              <a:t> (like the </a:t>
            </a:r>
            <a:r>
              <a:rPr lang="en-US" b="1" dirty="0"/>
              <a:t>password file</a:t>
            </a:r>
            <a:r>
              <a:rPr lang="en-US" dirty="0"/>
              <a:t>).</a:t>
            </a:r>
          </a:p>
          <a:p>
            <a:r>
              <a:rPr lang="en-US" dirty="0"/>
              <a:t>This is called a </a:t>
            </a:r>
            <a:r>
              <a:rPr lang="en-US" b="1" dirty="0" err="1">
                <a:solidFill>
                  <a:srgbClr val="C00000"/>
                </a:solidFill>
              </a:rPr>
              <a:t>symlink</a:t>
            </a:r>
            <a:r>
              <a:rPr lang="en-US" b="1" dirty="0">
                <a:solidFill>
                  <a:srgbClr val="C00000"/>
                </a:solidFill>
              </a:rPr>
              <a:t> attack</a:t>
            </a:r>
            <a:r>
              <a:rPr lang="en-US" dirty="0">
                <a:solidFill>
                  <a:srgbClr val="C00000"/>
                </a:solidFill>
              </a:rPr>
              <a:t> </a:t>
            </a:r>
            <a:r>
              <a:rPr lang="en-US" dirty="0"/>
              <a:t>or </a:t>
            </a:r>
            <a:r>
              <a:rPr lang="en-US" b="1" dirty="0">
                <a:solidFill>
                  <a:srgbClr val="C00000"/>
                </a:solidFill>
              </a:rPr>
              <a:t>race condition exploit</a:t>
            </a:r>
            <a:r>
              <a:rPr lang="en-US" dirty="0" smtClean="0"/>
              <a:t>.</a:t>
            </a:r>
            <a:endParaRPr lang="en-US" dirty="0"/>
          </a:p>
        </p:txBody>
      </p:sp>
      <p:sp>
        <p:nvSpPr>
          <p:cNvPr id="5" name="Rectangle 4"/>
          <p:cNvSpPr/>
          <p:nvPr/>
        </p:nvSpPr>
        <p:spPr>
          <a:xfrm>
            <a:off x="2426409" y="5285531"/>
            <a:ext cx="7206689"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b="1" dirty="0"/>
              <a:t>What happens next:</a:t>
            </a:r>
          </a:p>
          <a:p>
            <a:r>
              <a:rPr lang="en-US" b="1" dirty="0" smtClean="0"/>
              <a:t>Step 3: </a:t>
            </a:r>
            <a:r>
              <a:rPr lang="en-US" dirty="0" smtClean="0"/>
              <a:t>The </a:t>
            </a:r>
            <a:r>
              <a:rPr lang="en-US" dirty="0"/>
              <a:t>system </a:t>
            </a:r>
            <a:r>
              <a:rPr lang="en-US" b="1" dirty="0"/>
              <a:t>unknowingly gives ownership</a:t>
            </a:r>
            <a:r>
              <a:rPr lang="en-US" dirty="0"/>
              <a:t> to the user — but now it’s </a:t>
            </a:r>
            <a:r>
              <a:rPr lang="en-US" b="1" dirty="0"/>
              <a:t>not the folder</a:t>
            </a:r>
            <a:r>
              <a:rPr lang="en-US" dirty="0"/>
              <a:t>, it’s the </a:t>
            </a:r>
            <a:r>
              <a:rPr lang="en-US" b="1" dirty="0"/>
              <a:t>linked password file!</a:t>
            </a:r>
            <a:endParaRPr lang="en-US" dirty="0"/>
          </a:p>
        </p:txBody>
      </p:sp>
    </p:spTree>
    <p:extLst>
      <p:ext uri="{BB962C8B-B14F-4D97-AF65-F5344CB8AC3E}">
        <p14:creationId xmlns:p14="http://schemas.microsoft.com/office/powerpoint/2010/main" val="5824532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914162" y="457200"/>
            <a:ext cx="10360501" cy="1143000"/>
          </a:xfrm>
        </p:spPr>
        <p:txBody>
          <a:bodyPr/>
          <a:lstStyle/>
          <a:p>
            <a:pPr eaLnBrk="1" hangingPunct="1"/>
            <a:r>
              <a:rPr lang="en-US" altLang="en-US" smtClean="0"/>
              <a:t>Race Conditions</a:t>
            </a:r>
          </a:p>
        </p:txBody>
      </p:sp>
      <p:sp>
        <p:nvSpPr>
          <p:cNvPr id="86019" name="Rectangle 3"/>
          <p:cNvSpPr>
            <a:spLocks noGrp="1" noChangeArrowheads="1"/>
          </p:cNvSpPr>
          <p:nvPr>
            <p:ph type="body" idx="1"/>
          </p:nvPr>
        </p:nvSpPr>
        <p:spPr>
          <a:xfrm>
            <a:off x="914162" y="1752600"/>
            <a:ext cx="10360501" cy="4419600"/>
          </a:xfrm>
        </p:spPr>
        <p:txBody>
          <a:bodyPr/>
          <a:lstStyle/>
          <a:p>
            <a:pPr eaLnBrk="1" hangingPunct="1"/>
            <a:r>
              <a:rPr lang="en-US" altLang="en-US" sz="2800" dirty="0" smtClean="0"/>
              <a:t>Race conditions are common</a:t>
            </a:r>
          </a:p>
          <a:p>
            <a:pPr eaLnBrk="1" hangingPunct="1"/>
            <a:r>
              <a:rPr lang="en-US" altLang="en-US" sz="2800" dirty="0" smtClean="0"/>
              <a:t>But race conditions harder to exploit</a:t>
            </a:r>
          </a:p>
          <a:p>
            <a:pPr lvl="1" eaLnBrk="1" hangingPunct="1"/>
            <a:r>
              <a:rPr lang="en-US" altLang="en-US" sz="2400" dirty="0" smtClean="0"/>
              <a:t>Buffer overflow is “low hanging fruit” today</a:t>
            </a:r>
          </a:p>
          <a:p>
            <a:pPr eaLnBrk="1" hangingPunct="1"/>
            <a:r>
              <a:rPr lang="en-US" altLang="en-US" sz="2800" dirty="0" smtClean="0"/>
              <a:t>To prevent race conditions, make security-critical processes atomic</a:t>
            </a:r>
          </a:p>
          <a:p>
            <a:pPr lvl="1" eaLnBrk="1" hangingPunct="1"/>
            <a:r>
              <a:rPr lang="en-US" altLang="en-US" sz="2400" dirty="0" smtClean="0"/>
              <a:t>Occur all at once, not in stages</a:t>
            </a:r>
          </a:p>
          <a:p>
            <a:pPr lvl="1" eaLnBrk="1" hangingPunct="1"/>
            <a:r>
              <a:rPr lang="en-US" altLang="en-US" sz="2400" dirty="0" smtClean="0"/>
              <a:t>Not always easy to accomplish in practice</a:t>
            </a:r>
          </a:p>
        </p:txBody>
      </p:sp>
      <p:sp>
        <p:nvSpPr>
          <p:cNvPr id="86020"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29771359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a:t>
            </a:r>
          </a:p>
        </p:txBody>
      </p:sp>
      <p:sp>
        <p:nvSpPr>
          <p:cNvPr id="3" name="Content Placeholder 2"/>
          <p:cNvSpPr>
            <a:spLocks noGrp="1"/>
          </p:cNvSpPr>
          <p:nvPr>
            <p:ph idx="1"/>
          </p:nvPr>
        </p:nvSpPr>
        <p:spPr/>
        <p:txBody>
          <a:bodyPr/>
          <a:lstStyle/>
          <a:p>
            <a:r>
              <a:rPr lang="en-US" dirty="0"/>
              <a:t>Programs planted by an agent with malicious intent to cause unanticipated or undesired effects</a:t>
            </a:r>
          </a:p>
          <a:p>
            <a:r>
              <a:rPr lang="en-US" dirty="0">
                <a:solidFill>
                  <a:srgbClr val="FF0000"/>
                </a:solidFill>
              </a:rPr>
              <a:t>Virus</a:t>
            </a:r>
          </a:p>
          <a:p>
            <a:pPr lvl="1"/>
            <a:r>
              <a:rPr lang="en-US" dirty="0"/>
              <a:t>A program that can replicate itself and pass on malicious code to other </a:t>
            </a:r>
            <a:r>
              <a:rPr lang="en-US" dirty="0" err="1"/>
              <a:t>nonmalicious</a:t>
            </a:r>
            <a:r>
              <a:rPr lang="en-US" dirty="0"/>
              <a:t> programs by modifying </a:t>
            </a:r>
            <a:r>
              <a:rPr lang="en-US" dirty="0" smtClean="0"/>
              <a:t>them.</a:t>
            </a:r>
          </a:p>
          <a:p>
            <a:pPr lvl="1"/>
            <a:r>
              <a:rPr lang="en-US" b="1" dirty="0"/>
              <a:t>C</a:t>
            </a:r>
            <a:r>
              <a:rPr lang="en-US" b="1" dirty="0" smtClean="0"/>
              <a:t>ode </a:t>
            </a:r>
            <a:r>
              <a:rPr lang="en-US" b="1" dirty="0"/>
              <a:t>with malicious purpose; intended to </a:t>
            </a:r>
            <a:r>
              <a:rPr lang="en-US" b="1" dirty="0" smtClean="0"/>
              <a:t>spread.</a:t>
            </a:r>
            <a:endParaRPr lang="en-US" dirty="0"/>
          </a:p>
          <a:p>
            <a:r>
              <a:rPr lang="en-US" dirty="0">
                <a:solidFill>
                  <a:srgbClr val="FF0000"/>
                </a:solidFill>
              </a:rPr>
              <a:t>Worm</a:t>
            </a:r>
          </a:p>
          <a:p>
            <a:pPr lvl="1"/>
            <a:r>
              <a:rPr lang="en-US" dirty="0"/>
              <a:t>A program that spreads copies of itself through a network</a:t>
            </a:r>
          </a:p>
          <a:p>
            <a:r>
              <a:rPr lang="en-US" dirty="0">
                <a:solidFill>
                  <a:srgbClr val="FF0000"/>
                </a:solidFill>
              </a:rPr>
              <a:t>Trojan horse</a:t>
            </a:r>
          </a:p>
          <a:p>
            <a:pPr lvl="1"/>
            <a:r>
              <a:rPr lang="en-US" dirty="0"/>
              <a:t>program with benign apparent effect but second, </a:t>
            </a:r>
            <a:r>
              <a:rPr lang="en-US" dirty="0" smtClean="0"/>
              <a:t>hidden, malicious </a:t>
            </a:r>
            <a:r>
              <a:rPr lang="en-US" dirty="0"/>
              <a:t>effect</a:t>
            </a:r>
          </a:p>
          <a:p>
            <a:pPr lvl="1"/>
            <a:r>
              <a:rPr lang="en-US" dirty="0" smtClean="0"/>
              <a:t>Code/software that appear to do one thing but has some unexpected functionality</a:t>
            </a:r>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25</a:t>
            </a:fld>
            <a:endParaRPr lang="en-US">
              <a:latin typeface="Arial"/>
            </a:endParaRPr>
          </a:p>
        </p:txBody>
      </p:sp>
    </p:spTree>
    <p:extLst>
      <p:ext uri="{BB962C8B-B14F-4D97-AF65-F5344CB8AC3E}">
        <p14:creationId xmlns:p14="http://schemas.microsoft.com/office/powerpoint/2010/main" val="5706954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578" y="533400"/>
            <a:ext cx="10969943" cy="329184"/>
          </a:xfrm>
        </p:spPr>
        <p:txBody>
          <a:bodyPr>
            <a:noAutofit/>
          </a:bodyPr>
          <a:lstStyle/>
          <a:p>
            <a:r>
              <a:rPr lang="en-US" sz="3400" dirty="0" smtClean="0"/>
              <a:t>Malwares</a:t>
            </a:r>
            <a:endParaRPr lang="en-US" sz="3400" dirty="0"/>
          </a:p>
        </p:txBody>
      </p:sp>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26</a:t>
            </a:fld>
            <a:endParaRPr lang="en-US">
              <a:latin typeface="Arial"/>
            </a:endParaRPr>
          </a:p>
        </p:txBody>
      </p:sp>
      <p:sp>
        <p:nvSpPr>
          <p:cNvPr id="4" name="Rectangle 3"/>
          <p:cNvSpPr/>
          <p:nvPr/>
        </p:nvSpPr>
        <p:spPr>
          <a:xfrm>
            <a:off x="170121" y="1028343"/>
            <a:ext cx="11865935" cy="4893647"/>
          </a:xfrm>
          <a:prstGeom prst="rect">
            <a:avLst/>
          </a:prstGeom>
        </p:spPr>
        <p:txBody>
          <a:bodyPr wrap="square">
            <a:spAutoFit/>
          </a:bodyPr>
          <a:lstStyle/>
          <a:p>
            <a:pPr marL="285750" indent="-285750" algn="just">
              <a:buFont typeface="Arial" panose="020B0604020202020204" pitchFamily="34" charset="0"/>
              <a:buChar char="•"/>
            </a:pPr>
            <a:r>
              <a:rPr lang="en-US" sz="2400" dirty="0"/>
              <a:t>To remember the differences among these three types of </a:t>
            </a:r>
            <a:r>
              <a:rPr lang="en-US" sz="2400" dirty="0" smtClean="0"/>
              <a:t>malware:</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b="1" dirty="0">
                <a:solidFill>
                  <a:srgbClr val="FF0000"/>
                </a:solidFill>
              </a:rPr>
              <a:t>Trojan horse </a:t>
            </a:r>
            <a:r>
              <a:rPr lang="en-US" sz="2400" dirty="0"/>
              <a:t>is on the </a:t>
            </a:r>
            <a:r>
              <a:rPr lang="en-US" sz="2400" u="sng" dirty="0"/>
              <a:t>surface</a:t>
            </a:r>
            <a:r>
              <a:rPr lang="en-US" sz="2400" dirty="0"/>
              <a:t> a useful program with extra, undocumented (</a:t>
            </a:r>
            <a:r>
              <a:rPr lang="en-US" sz="2400" dirty="0" smtClean="0"/>
              <a:t>malicious) features</a:t>
            </a:r>
            <a:r>
              <a:rPr lang="en-US" sz="2400" dirty="0"/>
              <a:t>. It does not necessarily try to propagate. </a:t>
            </a:r>
            <a:endParaRPr lang="en-US" sz="2400" dirty="0" smtClean="0"/>
          </a:p>
          <a:p>
            <a:pPr algn="just"/>
            <a:endParaRPr lang="en-US" sz="2400" dirty="0" smtClean="0"/>
          </a:p>
          <a:p>
            <a:pPr marL="285750" indent="-285750" algn="just">
              <a:buFont typeface="Arial" panose="020B0604020202020204" pitchFamily="34" charset="0"/>
              <a:buChar char="•"/>
            </a:pPr>
            <a:r>
              <a:rPr lang="en-US" sz="2400" dirty="0" smtClean="0"/>
              <a:t>By </a:t>
            </a:r>
            <a:r>
              <a:rPr lang="en-US" sz="2400" dirty="0"/>
              <a:t>contrast, a</a:t>
            </a:r>
            <a:r>
              <a:rPr lang="en-US" sz="2400" dirty="0">
                <a:solidFill>
                  <a:srgbClr val="FF0000"/>
                </a:solidFill>
              </a:rPr>
              <a:t> </a:t>
            </a:r>
            <a:r>
              <a:rPr lang="en-US" sz="2400" b="1" dirty="0">
                <a:solidFill>
                  <a:srgbClr val="FF0000"/>
                </a:solidFill>
              </a:rPr>
              <a:t>virus</a:t>
            </a:r>
            <a:r>
              <a:rPr lang="en-US" sz="2400" dirty="0">
                <a:solidFill>
                  <a:srgbClr val="FF0000"/>
                </a:solidFill>
              </a:rPr>
              <a:t> </a:t>
            </a:r>
            <a:r>
              <a:rPr lang="en-US" sz="2400" dirty="0"/>
              <a:t>is a </a:t>
            </a:r>
            <a:r>
              <a:rPr lang="en-US" sz="2400" dirty="0" smtClean="0"/>
              <a:t>malicious program </a:t>
            </a:r>
            <a:r>
              <a:rPr lang="en-US" sz="2400" dirty="0"/>
              <a:t>that attempts to spread to other computers, as well as perhaps </a:t>
            </a:r>
            <a:r>
              <a:rPr lang="en-US" sz="2400" dirty="0" smtClean="0"/>
              <a:t>performing unpleasant </a:t>
            </a:r>
            <a:r>
              <a:rPr lang="en-US" sz="2400" dirty="0"/>
              <a:t>action on its current host. The virus does not necessarily spread by using </a:t>
            </a:r>
            <a:r>
              <a:rPr lang="en-US" sz="2400" dirty="0" smtClean="0"/>
              <a:t>a network’s </a:t>
            </a:r>
            <a:r>
              <a:rPr lang="en-US" sz="2400" dirty="0"/>
              <a:t>properties; it can be spread instead by traveling on a document transferred by </a:t>
            </a:r>
            <a:r>
              <a:rPr lang="en-US" sz="2400" dirty="0" smtClean="0"/>
              <a:t>a portable </a:t>
            </a:r>
            <a:r>
              <a:rPr lang="en-US" sz="2400" dirty="0"/>
              <a:t>device (that memory stick you just inserted in your laptop!) or triggered to </a:t>
            </a:r>
            <a:r>
              <a:rPr lang="en-US" sz="2400" dirty="0" smtClean="0"/>
              <a:t>spread to </a:t>
            </a:r>
            <a:r>
              <a:rPr lang="en-US" sz="2400" dirty="0"/>
              <a:t>other, similar file types when a file is opened. </a:t>
            </a:r>
            <a:endParaRPr lang="en-US" sz="2400" dirty="0" smtClean="0"/>
          </a:p>
          <a:p>
            <a:pPr algn="just"/>
            <a:endParaRPr lang="en-US" sz="2400" dirty="0" smtClean="0"/>
          </a:p>
          <a:p>
            <a:pPr marL="285750" indent="-285750" algn="just">
              <a:buFont typeface="Arial" panose="020B0604020202020204" pitchFamily="34" charset="0"/>
              <a:buChar char="•"/>
            </a:pPr>
            <a:r>
              <a:rPr lang="en-US" sz="2400" dirty="0" smtClean="0"/>
              <a:t>However</a:t>
            </a:r>
            <a:r>
              <a:rPr lang="en-US" sz="2400" dirty="0"/>
              <a:t>, a</a:t>
            </a:r>
            <a:r>
              <a:rPr lang="en-US" sz="2400" b="1" dirty="0">
                <a:solidFill>
                  <a:srgbClr val="FF0000"/>
                </a:solidFill>
              </a:rPr>
              <a:t> worm </a:t>
            </a:r>
            <a:r>
              <a:rPr lang="en-US" sz="2400" dirty="0"/>
              <a:t>requires a network </a:t>
            </a:r>
            <a:r>
              <a:rPr lang="en-US" sz="2400" dirty="0" smtClean="0"/>
              <a:t>for its </a:t>
            </a:r>
            <a:r>
              <a:rPr lang="en-US" sz="2400" dirty="0"/>
              <a:t>attempts to spread itself elsewhere.</a:t>
            </a:r>
            <a:endParaRPr lang="en-IN" sz="2400" dirty="0"/>
          </a:p>
        </p:txBody>
      </p:sp>
    </p:spTree>
    <p:extLst>
      <p:ext uri="{BB962C8B-B14F-4D97-AF65-F5344CB8AC3E}">
        <p14:creationId xmlns:p14="http://schemas.microsoft.com/office/powerpoint/2010/main" val="32209595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578" y="533400"/>
            <a:ext cx="10969943" cy="329184"/>
          </a:xfrm>
        </p:spPr>
        <p:txBody>
          <a:bodyPr>
            <a:noAutofit/>
          </a:bodyPr>
          <a:lstStyle/>
          <a:p>
            <a:r>
              <a:rPr lang="en-US" sz="3400" dirty="0"/>
              <a:t>Types of Malware</a:t>
            </a:r>
          </a:p>
        </p:txBody>
      </p:sp>
      <p:sp>
        <p:nvSpPr>
          <p:cNvPr id="3" name="Slide Number Placeholder 2"/>
          <p:cNvSpPr>
            <a:spLocks noGrp="1"/>
          </p:cNvSpPr>
          <p:nvPr>
            <p:ph type="sldNum" sz="quarter" idx="12"/>
          </p:nvPr>
        </p:nvSpPr>
        <p:spPr/>
        <p:txBody>
          <a:bodyPr/>
          <a:lstStyle/>
          <a:p>
            <a:fld id="{5BFA158B-7C94-F543-87DB-41F59EA4FAFA}" type="slidenum">
              <a:rPr lang="en-US" smtClean="0">
                <a:latin typeface="Arial"/>
              </a:rPr>
              <a:pPr/>
              <a:t>27</a:t>
            </a:fld>
            <a:endParaRPr lang="en-US">
              <a:latin typeface="Arial"/>
            </a:endParaRPr>
          </a:p>
        </p:txBody>
      </p:sp>
      <p:pic>
        <p:nvPicPr>
          <p:cNvPr id="1119" name="Picture 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59" y="1342223"/>
            <a:ext cx="11239766" cy="5130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15844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Malware</a:t>
            </a:r>
            <a:endParaRPr lang="en-IN" dirty="0"/>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28</a:t>
            </a:fld>
            <a:endParaRPr lang="en-US">
              <a:latin typeface="Arial"/>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409" y="1550218"/>
            <a:ext cx="10467975"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65157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Harm from Malicious Code</a:t>
            </a:r>
          </a:p>
        </p:txBody>
      </p:sp>
      <p:sp>
        <p:nvSpPr>
          <p:cNvPr id="3" name="Content Placeholder 2"/>
          <p:cNvSpPr>
            <a:spLocks noGrp="1"/>
          </p:cNvSpPr>
          <p:nvPr>
            <p:ph idx="1"/>
          </p:nvPr>
        </p:nvSpPr>
        <p:spPr/>
        <p:txBody>
          <a:bodyPr/>
          <a:lstStyle/>
          <a:p>
            <a:r>
              <a:rPr lang="en-US" dirty="0"/>
              <a:t>Harm to users and systems:</a:t>
            </a:r>
          </a:p>
          <a:p>
            <a:pPr lvl="1"/>
            <a:r>
              <a:rPr lang="en-US" dirty="0"/>
              <a:t>Sending email to user contacts</a:t>
            </a:r>
          </a:p>
          <a:p>
            <a:pPr lvl="1"/>
            <a:r>
              <a:rPr lang="en-US" dirty="0"/>
              <a:t>Deleting or encrypting files</a:t>
            </a:r>
          </a:p>
          <a:p>
            <a:pPr lvl="1"/>
            <a:r>
              <a:rPr lang="en-US" dirty="0"/>
              <a:t>Modifying system information, such as the Windows registry</a:t>
            </a:r>
          </a:p>
          <a:p>
            <a:pPr lvl="1"/>
            <a:r>
              <a:rPr lang="en-US" dirty="0"/>
              <a:t>Stealing sensitive information, such as passwords</a:t>
            </a:r>
          </a:p>
          <a:p>
            <a:pPr lvl="1"/>
            <a:r>
              <a:rPr lang="en-US" dirty="0"/>
              <a:t>Attaching to critical system files</a:t>
            </a:r>
          </a:p>
          <a:p>
            <a:pPr lvl="1"/>
            <a:r>
              <a:rPr lang="en-US" dirty="0"/>
              <a:t>Hide copies of malware in multiple complementary locations</a:t>
            </a:r>
          </a:p>
          <a:p>
            <a:r>
              <a:rPr lang="en-US" dirty="0"/>
              <a:t>Harm to the world:</a:t>
            </a:r>
          </a:p>
          <a:p>
            <a:pPr lvl="1"/>
            <a:r>
              <a:rPr lang="en-US" dirty="0"/>
              <a:t>Some malware has been known to infect millions of systems, growing at a geometric rate</a:t>
            </a:r>
          </a:p>
          <a:p>
            <a:pPr lvl="1"/>
            <a:r>
              <a:rPr lang="en-US" dirty="0"/>
              <a:t>Infected systems often become staging areas for new infections</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29</a:t>
            </a:fld>
            <a:endParaRPr lang="en-US">
              <a:latin typeface="Arial"/>
            </a:endParaRPr>
          </a:p>
        </p:txBody>
      </p:sp>
    </p:spTree>
    <p:extLst>
      <p:ext uri="{BB962C8B-B14F-4D97-AF65-F5344CB8AC3E}">
        <p14:creationId xmlns:p14="http://schemas.microsoft.com/office/powerpoint/2010/main" val="111381097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altLang="en-US" smtClean="0"/>
              <a:t>Malware Detection</a:t>
            </a:r>
          </a:p>
        </p:txBody>
      </p:sp>
      <p:sp>
        <p:nvSpPr>
          <p:cNvPr id="118787" name="Rectangle 3"/>
          <p:cNvSpPr>
            <a:spLocks noGrp="1" noChangeArrowheads="1"/>
          </p:cNvSpPr>
          <p:nvPr>
            <p:ph type="body" idx="1"/>
          </p:nvPr>
        </p:nvSpPr>
        <p:spPr/>
        <p:txBody>
          <a:bodyPr/>
          <a:lstStyle/>
          <a:p>
            <a:pPr eaLnBrk="1" hangingPunct="1"/>
            <a:r>
              <a:rPr lang="en-US" altLang="en-US" dirty="0" smtClean="0"/>
              <a:t>Three common methods</a:t>
            </a:r>
          </a:p>
          <a:p>
            <a:pPr lvl="1" eaLnBrk="1" hangingPunct="1"/>
            <a:r>
              <a:rPr lang="en-US" altLang="en-US" dirty="0" smtClean="0"/>
              <a:t>Signature detection</a:t>
            </a:r>
          </a:p>
          <a:p>
            <a:pPr lvl="1" eaLnBrk="1" hangingPunct="1"/>
            <a:r>
              <a:rPr lang="en-US" altLang="en-US" dirty="0" smtClean="0"/>
              <a:t>Change detection</a:t>
            </a:r>
          </a:p>
          <a:p>
            <a:pPr lvl="1" eaLnBrk="1" hangingPunct="1"/>
            <a:r>
              <a:rPr lang="en-US" altLang="en-US" dirty="0" smtClean="0"/>
              <a:t>Anomaly detection</a:t>
            </a:r>
          </a:p>
          <a:p>
            <a:pPr eaLnBrk="1" hangingPunct="1"/>
            <a:r>
              <a:rPr lang="en-US" altLang="en-US" dirty="0" smtClean="0"/>
              <a:t>We’ll briefly discuss each of these</a:t>
            </a:r>
          </a:p>
          <a:p>
            <a:pPr lvl="1" eaLnBrk="1" hangingPunct="1"/>
            <a:r>
              <a:rPr lang="en-US" altLang="en-US" dirty="0" smtClean="0"/>
              <a:t>And consider advantages and disadvantages of each</a:t>
            </a:r>
          </a:p>
        </p:txBody>
      </p:sp>
      <p:sp>
        <p:nvSpPr>
          <p:cNvPr id="118788"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21646152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914162" y="533400"/>
            <a:ext cx="10360501" cy="685800"/>
          </a:xfrm>
        </p:spPr>
        <p:txBody>
          <a:bodyPr>
            <a:normAutofit fontScale="90000"/>
          </a:bodyPr>
          <a:lstStyle/>
          <a:p>
            <a:pPr eaLnBrk="1" hangingPunct="1"/>
            <a:r>
              <a:rPr lang="en-US" altLang="en-US" smtClean="0"/>
              <a:t>Signature Detection</a:t>
            </a:r>
          </a:p>
        </p:txBody>
      </p:sp>
      <p:sp>
        <p:nvSpPr>
          <p:cNvPr id="530435" name="Rectangle 3"/>
          <p:cNvSpPr>
            <a:spLocks noGrp="1" noChangeArrowheads="1"/>
          </p:cNvSpPr>
          <p:nvPr>
            <p:ph type="body" idx="1"/>
          </p:nvPr>
        </p:nvSpPr>
        <p:spPr>
          <a:xfrm>
            <a:off x="761801" y="1274134"/>
            <a:ext cx="10912748" cy="5126665"/>
          </a:xfrm>
        </p:spPr>
        <p:txBody>
          <a:bodyPr>
            <a:normAutofit fontScale="92500" lnSpcReduction="10000"/>
          </a:bodyPr>
          <a:lstStyle/>
          <a:p>
            <a:pPr marL="0" indent="0">
              <a:buNone/>
            </a:pPr>
            <a:r>
              <a:rPr lang="en-IN" dirty="0" smtClean="0"/>
              <a:t>This </a:t>
            </a:r>
            <a:r>
              <a:rPr lang="en-IN" dirty="0"/>
              <a:t>method looks for known patterns (signatures) of malware. Each virus or malware has a unique code pattern, like a fingerprint.</a:t>
            </a:r>
          </a:p>
          <a:p>
            <a:pPr marL="0" indent="0">
              <a:buNone/>
            </a:pPr>
            <a:r>
              <a:rPr lang="en-IN" dirty="0"/>
              <a:t/>
            </a:r>
            <a:br>
              <a:rPr lang="en-IN" dirty="0"/>
            </a:br>
            <a:r>
              <a:rPr lang="en-IN" dirty="0"/>
              <a:t>Antivirus software compares files and programs to a database of known malware signatures. If it finds a match, it flags it as malware</a:t>
            </a:r>
            <a:r>
              <a:rPr lang="en-IN" dirty="0" smtClean="0"/>
              <a:t>.</a:t>
            </a:r>
          </a:p>
          <a:p>
            <a:pPr marL="0" indent="0">
              <a:buNone/>
            </a:pPr>
            <a:endParaRPr lang="en-IN" dirty="0"/>
          </a:p>
          <a:p>
            <a:r>
              <a:rPr lang="en-IN" b="1" dirty="0" smtClean="0"/>
              <a:t>Example:</a:t>
            </a:r>
            <a:r>
              <a:rPr lang="en-IN" dirty="0"/>
              <a:t/>
            </a:r>
            <a:br>
              <a:rPr lang="en-IN" dirty="0"/>
            </a:br>
            <a:r>
              <a:rPr lang="en-IN" dirty="0"/>
              <a:t>Detecting a virus that has already been seen and recorded, like a famous Trojan.</a:t>
            </a:r>
          </a:p>
          <a:p>
            <a:r>
              <a:rPr lang="en-IN" b="1" dirty="0"/>
              <a:t>Pros:</a:t>
            </a:r>
            <a:endParaRPr lang="en-IN" dirty="0"/>
          </a:p>
          <a:p>
            <a:pPr lvl="0"/>
            <a:r>
              <a:rPr lang="en-IN" dirty="0"/>
              <a:t>Fast and accurate for </a:t>
            </a:r>
            <a:r>
              <a:rPr lang="en-IN" b="1" dirty="0"/>
              <a:t>known threats</a:t>
            </a:r>
            <a:endParaRPr lang="en-IN" dirty="0"/>
          </a:p>
          <a:p>
            <a:pPr lvl="0"/>
            <a:r>
              <a:rPr lang="en-IN" dirty="0"/>
              <a:t>Widely used in antivirus tools</a:t>
            </a:r>
          </a:p>
          <a:p>
            <a:r>
              <a:rPr lang="en-IN" b="1" dirty="0"/>
              <a:t>Cons:</a:t>
            </a:r>
            <a:endParaRPr lang="en-IN" dirty="0"/>
          </a:p>
          <a:p>
            <a:pPr lvl="0"/>
            <a:r>
              <a:rPr lang="en-IN" dirty="0"/>
              <a:t>Can’t detect </a:t>
            </a:r>
            <a:r>
              <a:rPr lang="en-IN" b="1" dirty="0"/>
              <a:t>new or unknown malware</a:t>
            </a:r>
            <a:endParaRPr lang="en-IN" dirty="0"/>
          </a:p>
          <a:p>
            <a:pPr lvl="0"/>
            <a:r>
              <a:rPr lang="en-IN" dirty="0"/>
              <a:t>Needs regular updates of the signature database</a:t>
            </a:r>
          </a:p>
          <a:p>
            <a:pPr marL="0" indent="0" eaLnBrk="1" hangingPunct="1">
              <a:buNone/>
            </a:pPr>
            <a:endParaRPr lang="en-US" altLang="en-US" sz="2400" dirty="0" smtClean="0"/>
          </a:p>
        </p:txBody>
      </p:sp>
    </p:spTree>
    <p:extLst>
      <p:ext uri="{BB962C8B-B14F-4D97-AF65-F5344CB8AC3E}">
        <p14:creationId xmlns:p14="http://schemas.microsoft.com/office/powerpoint/2010/main" val="40129525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30435">
                                            <p:txEl>
                                              <p:pRg st="0" end="0"/>
                                            </p:txEl>
                                          </p:spTgt>
                                        </p:tgtEl>
                                        <p:attrNameLst>
                                          <p:attrName>style.visibility</p:attrName>
                                        </p:attrNameLst>
                                      </p:cBhvr>
                                      <p:to>
                                        <p:strVal val="visible"/>
                                      </p:to>
                                    </p:set>
                                    <p:animEffect transition="in" filter="box(out)">
                                      <p:cBhvr>
                                        <p:cTn id="7" dur="500"/>
                                        <p:tgtEl>
                                          <p:spTgt spid="530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30435">
                                            <p:txEl>
                                              <p:pRg st="1" end="1"/>
                                            </p:txEl>
                                          </p:spTgt>
                                        </p:tgtEl>
                                        <p:attrNameLst>
                                          <p:attrName>style.visibility</p:attrName>
                                        </p:attrNameLst>
                                      </p:cBhvr>
                                      <p:to>
                                        <p:strVal val="visible"/>
                                      </p:to>
                                    </p:set>
                                    <p:animEffect transition="in" filter="box(out)">
                                      <p:cBhvr>
                                        <p:cTn id="12" dur="500"/>
                                        <p:tgtEl>
                                          <p:spTgt spid="530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30435">
                                            <p:txEl>
                                              <p:pRg st="3" end="3"/>
                                            </p:txEl>
                                          </p:spTgt>
                                        </p:tgtEl>
                                        <p:attrNameLst>
                                          <p:attrName>style.visibility</p:attrName>
                                        </p:attrNameLst>
                                      </p:cBhvr>
                                      <p:to>
                                        <p:strVal val="visible"/>
                                      </p:to>
                                    </p:set>
                                    <p:animEffect transition="in" filter="box(out)">
                                      <p:cBhvr>
                                        <p:cTn id="17" dur="500"/>
                                        <p:tgtEl>
                                          <p:spTgt spid="53043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30435">
                                            <p:txEl>
                                              <p:pRg st="4" end="4"/>
                                            </p:txEl>
                                          </p:spTgt>
                                        </p:tgtEl>
                                        <p:attrNameLst>
                                          <p:attrName>style.visibility</p:attrName>
                                        </p:attrNameLst>
                                      </p:cBhvr>
                                      <p:to>
                                        <p:strVal val="visible"/>
                                      </p:to>
                                    </p:set>
                                    <p:animEffect transition="in" filter="box(out)">
                                      <p:cBhvr>
                                        <p:cTn id="22" dur="500"/>
                                        <p:tgtEl>
                                          <p:spTgt spid="53043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30435">
                                            <p:txEl>
                                              <p:pRg st="5" end="5"/>
                                            </p:txEl>
                                          </p:spTgt>
                                        </p:tgtEl>
                                        <p:attrNameLst>
                                          <p:attrName>style.visibility</p:attrName>
                                        </p:attrNameLst>
                                      </p:cBhvr>
                                      <p:to>
                                        <p:strVal val="visible"/>
                                      </p:to>
                                    </p:set>
                                    <p:animEffect transition="in" filter="box(out)">
                                      <p:cBhvr>
                                        <p:cTn id="27" dur="500"/>
                                        <p:tgtEl>
                                          <p:spTgt spid="53043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30435">
                                            <p:txEl>
                                              <p:pRg st="6" end="6"/>
                                            </p:txEl>
                                          </p:spTgt>
                                        </p:tgtEl>
                                        <p:attrNameLst>
                                          <p:attrName>style.visibility</p:attrName>
                                        </p:attrNameLst>
                                      </p:cBhvr>
                                      <p:to>
                                        <p:strVal val="visible"/>
                                      </p:to>
                                    </p:set>
                                    <p:animEffect transition="in" filter="box(out)">
                                      <p:cBhvr>
                                        <p:cTn id="32" dur="500"/>
                                        <p:tgtEl>
                                          <p:spTgt spid="53043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30435">
                                            <p:txEl>
                                              <p:pRg st="7" end="7"/>
                                            </p:txEl>
                                          </p:spTgt>
                                        </p:tgtEl>
                                        <p:attrNameLst>
                                          <p:attrName>style.visibility</p:attrName>
                                        </p:attrNameLst>
                                      </p:cBhvr>
                                      <p:to>
                                        <p:strVal val="visible"/>
                                      </p:to>
                                    </p:set>
                                    <p:animEffect transition="in" filter="box(out)">
                                      <p:cBhvr>
                                        <p:cTn id="37" dur="500"/>
                                        <p:tgtEl>
                                          <p:spTgt spid="53043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30435">
                                            <p:txEl>
                                              <p:pRg st="8" end="8"/>
                                            </p:txEl>
                                          </p:spTgt>
                                        </p:tgtEl>
                                        <p:attrNameLst>
                                          <p:attrName>style.visibility</p:attrName>
                                        </p:attrNameLst>
                                      </p:cBhvr>
                                      <p:to>
                                        <p:strVal val="visible"/>
                                      </p:to>
                                    </p:set>
                                    <p:animEffect transition="in" filter="box(out)">
                                      <p:cBhvr>
                                        <p:cTn id="42" dur="500"/>
                                        <p:tgtEl>
                                          <p:spTgt spid="53043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30435">
                                            <p:txEl>
                                              <p:pRg st="9" end="9"/>
                                            </p:txEl>
                                          </p:spTgt>
                                        </p:tgtEl>
                                        <p:attrNameLst>
                                          <p:attrName>style.visibility</p:attrName>
                                        </p:attrNameLst>
                                      </p:cBhvr>
                                      <p:to>
                                        <p:strVal val="visible"/>
                                      </p:to>
                                    </p:set>
                                    <p:animEffect transition="in" filter="box(out)">
                                      <p:cBhvr>
                                        <p:cTn id="47" dur="500"/>
                                        <p:tgtEl>
                                          <p:spTgt spid="5304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914162" y="533400"/>
            <a:ext cx="10360501" cy="685800"/>
          </a:xfrm>
        </p:spPr>
        <p:txBody>
          <a:bodyPr>
            <a:normAutofit fontScale="90000"/>
          </a:bodyPr>
          <a:lstStyle/>
          <a:p>
            <a:pPr eaLnBrk="1" hangingPunct="1"/>
            <a:r>
              <a:rPr lang="en-US" altLang="en-US" smtClean="0"/>
              <a:t>Signature Detection</a:t>
            </a:r>
          </a:p>
        </p:txBody>
      </p:sp>
      <p:sp>
        <p:nvSpPr>
          <p:cNvPr id="530435" name="Rectangle 3"/>
          <p:cNvSpPr>
            <a:spLocks noGrp="1" noChangeArrowheads="1"/>
          </p:cNvSpPr>
          <p:nvPr>
            <p:ph type="body" idx="1"/>
          </p:nvPr>
        </p:nvSpPr>
        <p:spPr>
          <a:xfrm>
            <a:off x="914162" y="1447800"/>
            <a:ext cx="10665222" cy="4572000"/>
          </a:xfrm>
        </p:spPr>
        <p:txBody>
          <a:bodyPr/>
          <a:lstStyle/>
          <a:p>
            <a:pPr eaLnBrk="1" hangingPunct="1"/>
            <a:r>
              <a:rPr lang="en-US" altLang="en-US" sz="2800" smtClean="0"/>
              <a:t>A </a:t>
            </a:r>
            <a:r>
              <a:rPr lang="en-US" altLang="en-US" sz="2800" b="1" smtClean="0">
                <a:solidFill>
                  <a:schemeClr val="accent2"/>
                </a:solidFill>
              </a:rPr>
              <a:t>signature</a:t>
            </a:r>
            <a:r>
              <a:rPr lang="en-US" altLang="en-US" sz="2800" smtClean="0"/>
              <a:t> is a string of bits found in software (or could be a hash value)</a:t>
            </a:r>
          </a:p>
          <a:p>
            <a:pPr eaLnBrk="1" hangingPunct="1"/>
            <a:r>
              <a:rPr lang="en-US" altLang="en-US" sz="2800" smtClean="0"/>
              <a:t>Suppose that a virus has signature </a:t>
            </a:r>
            <a:r>
              <a:rPr lang="en-US" altLang="en-US" sz="2800" smtClean="0">
                <a:latin typeface="Times-Roman" charset="0"/>
              </a:rPr>
              <a:t>0x23956a58bd910345</a:t>
            </a:r>
            <a:endParaRPr lang="en-US" altLang="en-US" sz="2800" smtClean="0"/>
          </a:p>
          <a:p>
            <a:pPr eaLnBrk="1" hangingPunct="1"/>
            <a:r>
              <a:rPr lang="en-US" altLang="en-US" sz="2800" smtClean="0"/>
              <a:t>We can search for this signature in all files</a:t>
            </a:r>
          </a:p>
          <a:p>
            <a:pPr eaLnBrk="1" hangingPunct="1"/>
            <a:r>
              <a:rPr lang="en-US" altLang="en-US" sz="2800" smtClean="0"/>
              <a:t>If we find the signature are we sure we’ve found the virus?</a:t>
            </a:r>
          </a:p>
          <a:p>
            <a:pPr lvl="1" eaLnBrk="1" hangingPunct="1"/>
            <a:r>
              <a:rPr lang="en-US" altLang="en-US" sz="2400" smtClean="0"/>
              <a:t>No, same signature could appear in other files</a:t>
            </a:r>
          </a:p>
          <a:p>
            <a:pPr lvl="1" eaLnBrk="1" hangingPunct="1"/>
            <a:r>
              <a:rPr lang="en-US" altLang="en-US" sz="2400" smtClean="0"/>
              <a:t>But at random, chance is very small: </a:t>
            </a:r>
            <a:r>
              <a:rPr lang="en-US" altLang="en-US" sz="2400" smtClean="0">
                <a:latin typeface="Times-Roman" charset="0"/>
              </a:rPr>
              <a:t>1/2</a:t>
            </a:r>
            <a:r>
              <a:rPr lang="en-US" altLang="en-US" sz="2400" baseline="30000" smtClean="0">
                <a:latin typeface="Times-Roman" charset="0"/>
              </a:rPr>
              <a:t>64</a:t>
            </a:r>
            <a:endParaRPr lang="en-US" altLang="en-US" sz="2400" smtClean="0"/>
          </a:p>
          <a:p>
            <a:pPr lvl="1" eaLnBrk="1" hangingPunct="1"/>
            <a:r>
              <a:rPr lang="en-US" altLang="en-US" sz="2400" smtClean="0"/>
              <a:t>Software is not random, so probability is higher</a:t>
            </a:r>
          </a:p>
        </p:txBody>
      </p:sp>
      <p:sp>
        <p:nvSpPr>
          <p:cNvPr id="119812"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25118263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30435">
                                            <p:txEl>
                                              <p:pRg st="0" end="0"/>
                                            </p:txEl>
                                          </p:spTgt>
                                        </p:tgtEl>
                                        <p:attrNameLst>
                                          <p:attrName>style.visibility</p:attrName>
                                        </p:attrNameLst>
                                      </p:cBhvr>
                                      <p:to>
                                        <p:strVal val="visible"/>
                                      </p:to>
                                    </p:set>
                                    <p:animEffect transition="in" filter="box(out)">
                                      <p:cBhvr>
                                        <p:cTn id="7" dur="500"/>
                                        <p:tgtEl>
                                          <p:spTgt spid="530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30435">
                                            <p:txEl>
                                              <p:pRg st="1" end="1"/>
                                            </p:txEl>
                                          </p:spTgt>
                                        </p:tgtEl>
                                        <p:attrNameLst>
                                          <p:attrName>style.visibility</p:attrName>
                                        </p:attrNameLst>
                                      </p:cBhvr>
                                      <p:to>
                                        <p:strVal val="visible"/>
                                      </p:to>
                                    </p:set>
                                    <p:animEffect transition="in" filter="box(out)">
                                      <p:cBhvr>
                                        <p:cTn id="12" dur="500"/>
                                        <p:tgtEl>
                                          <p:spTgt spid="530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30435">
                                            <p:txEl>
                                              <p:pRg st="2" end="2"/>
                                            </p:txEl>
                                          </p:spTgt>
                                        </p:tgtEl>
                                        <p:attrNameLst>
                                          <p:attrName>style.visibility</p:attrName>
                                        </p:attrNameLst>
                                      </p:cBhvr>
                                      <p:to>
                                        <p:strVal val="visible"/>
                                      </p:to>
                                    </p:set>
                                    <p:animEffect transition="in" filter="box(out)">
                                      <p:cBhvr>
                                        <p:cTn id="17" dur="500"/>
                                        <p:tgtEl>
                                          <p:spTgt spid="530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30435">
                                            <p:txEl>
                                              <p:pRg st="3" end="3"/>
                                            </p:txEl>
                                          </p:spTgt>
                                        </p:tgtEl>
                                        <p:attrNameLst>
                                          <p:attrName>style.visibility</p:attrName>
                                        </p:attrNameLst>
                                      </p:cBhvr>
                                      <p:to>
                                        <p:strVal val="visible"/>
                                      </p:to>
                                    </p:set>
                                    <p:animEffect transition="in" filter="box(out)">
                                      <p:cBhvr>
                                        <p:cTn id="22" dur="500"/>
                                        <p:tgtEl>
                                          <p:spTgt spid="530435">
                                            <p:txEl>
                                              <p:pRg st="3" end="3"/>
                                            </p:txEl>
                                          </p:spTgt>
                                        </p:tgtEl>
                                      </p:cBhvr>
                                    </p:animEffect>
                                  </p:childTnLst>
                                </p:cTn>
                              </p:par>
                              <p:par>
                                <p:cTn id="23" presetID="4" presetClass="entr" presetSubtype="32" fill="hold" grpId="0" nodeType="withEffect">
                                  <p:stCondLst>
                                    <p:cond delay="0"/>
                                  </p:stCondLst>
                                  <p:childTnLst>
                                    <p:set>
                                      <p:cBhvr>
                                        <p:cTn id="24" dur="1" fill="hold">
                                          <p:stCondLst>
                                            <p:cond delay="0"/>
                                          </p:stCondLst>
                                        </p:cTn>
                                        <p:tgtEl>
                                          <p:spTgt spid="530435">
                                            <p:txEl>
                                              <p:pRg st="4" end="4"/>
                                            </p:txEl>
                                          </p:spTgt>
                                        </p:tgtEl>
                                        <p:attrNameLst>
                                          <p:attrName>style.visibility</p:attrName>
                                        </p:attrNameLst>
                                      </p:cBhvr>
                                      <p:to>
                                        <p:strVal val="visible"/>
                                      </p:to>
                                    </p:set>
                                    <p:animEffect transition="in" filter="box(out)">
                                      <p:cBhvr>
                                        <p:cTn id="25" dur="500"/>
                                        <p:tgtEl>
                                          <p:spTgt spid="530435">
                                            <p:txEl>
                                              <p:pRg st="4" end="4"/>
                                            </p:txEl>
                                          </p:spTgt>
                                        </p:tgtEl>
                                      </p:cBhvr>
                                    </p:animEffect>
                                  </p:childTnLst>
                                </p:cTn>
                              </p:par>
                              <p:par>
                                <p:cTn id="26" presetID="4" presetClass="entr" presetSubtype="32" fill="hold" grpId="0" nodeType="withEffect">
                                  <p:stCondLst>
                                    <p:cond delay="0"/>
                                  </p:stCondLst>
                                  <p:childTnLst>
                                    <p:set>
                                      <p:cBhvr>
                                        <p:cTn id="27" dur="1" fill="hold">
                                          <p:stCondLst>
                                            <p:cond delay="0"/>
                                          </p:stCondLst>
                                        </p:cTn>
                                        <p:tgtEl>
                                          <p:spTgt spid="530435">
                                            <p:txEl>
                                              <p:pRg st="5" end="5"/>
                                            </p:txEl>
                                          </p:spTgt>
                                        </p:tgtEl>
                                        <p:attrNameLst>
                                          <p:attrName>style.visibility</p:attrName>
                                        </p:attrNameLst>
                                      </p:cBhvr>
                                      <p:to>
                                        <p:strVal val="visible"/>
                                      </p:to>
                                    </p:set>
                                    <p:animEffect transition="in" filter="box(out)">
                                      <p:cBhvr>
                                        <p:cTn id="28" dur="500"/>
                                        <p:tgtEl>
                                          <p:spTgt spid="530435">
                                            <p:txEl>
                                              <p:pRg st="5" end="5"/>
                                            </p:txEl>
                                          </p:spTgt>
                                        </p:tgtEl>
                                      </p:cBhvr>
                                    </p:animEffect>
                                  </p:childTnLst>
                                </p:cTn>
                              </p:par>
                              <p:par>
                                <p:cTn id="29" presetID="4" presetClass="entr" presetSubtype="32" fill="hold" grpId="0" nodeType="withEffect">
                                  <p:stCondLst>
                                    <p:cond delay="0"/>
                                  </p:stCondLst>
                                  <p:childTnLst>
                                    <p:set>
                                      <p:cBhvr>
                                        <p:cTn id="30" dur="1" fill="hold">
                                          <p:stCondLst>
                                            <p:cond delay="0"/>
                                          </p:stCondLst>
                                        </p:cTn>
                                        <p:tgtEl>
                                          <p:spTgt spid="530435">
                                            <p:txEl>
                                              <p:pRg st="6" end="6"/>
                                            </p:txEl>
                                          </p:spTgt>
                                        </p:tgtEl>
                                        <p:attrNameLst>
                                          <p:attrName>style.visibility</p:attrName>
                                        </p:attrNameLst>
                                      </p:cBhvr>
                                      <p:to>
                                        <p:strVal val="visible"/>
                                      </p:to>
                                    </p:set>
                                    <p:animEffect transition="in" filter="box(out)">
                                      <p:cBhvr>
                                        <p:cTn id="31" dur="500"/>
                                        <p:tgtEl>
                                          <p:spTgt spid="5304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435"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914162" y="457200"/>
            <a:ext cx="10360501" cy="838200"/>
          </a:xfrm>
        </p:spPr>
        <p:txBody>
          <a:bodyPr/>
          <a:lstStyle/>
          <a:p>
            <a:pPr eaLnBrk="1" hangingPunct="1"/>
            <a:r>
              <a:rPr lang="en-US" altLang="en-US" smtClean="0"/>
              <a:t>Signature Detection</a:t>
            </a:r>
          </a:p>
        </p:txBody>
      </p:sp>
      <p:sp>
        <p:nvSpPr>
          <p:cNvPr id="120835" name="Rectangle 3"/>
          <p:cNvSpPr>
            <a:spLocks noGrp="1" noChangeArrowheads="1"/>
          </p:cNvSpPr>
          <p:nvPr>
            <p:ph type="body" idx="1"/>
          </p:nvPr>
        </p:nvSpPr>
        <p:spPr>
          <a:xfrm>
            <a:off x="914162" y="1447800"/>
            <a:ext cx="10360501" cy="4648200"/>
          </a:xfrm>
        </p:spPr>
        <p:txBody>
          <a:bodyPr/>
          <a:lstStyle/>
          <a:p>
            <a:pPr eaLnBrk="1" hangingPunct="1"/>
            <a:r>
              <a:rPr lang="en-US" altLang="en-US" sz="2800" smtClean="0"/>
              <a:t>Advantages</a:t>
            </a:r>
          </a:p>
          <a:p>
            <a:pPr lvl="1" eaLnBrk="1" hangingPunct="1"/>
            <a:r>
              <a:rPr lang="en-US" altLang="en-US" sz="2400" smtClean="0"/>
              <a:t>Effective on “traditional” malware</a:t>
            </a:r>
          </a:p>
          <a:p>
            <a:pPr lvl="1" eaLnBrk="1" hangingPunct="1"/>
            <a:r>
              <a:rPr lang="en-US" altLang="en-US" sz="2400" smtClean="0"/>
              <a:t>Minimal burden for users/administrators</a:t>
            </a:r>
          </a:p>
          <a:p>
            <a:pPr eaLnBrk="1" hangingPunct="1"/>
            <a:r>
              <a:rPr lang="en-US" altLang="en-US" sz="2800" smtClean="0"/>
              <a:t>Disadvantages</a:t>
            </a:r>
          </a:p>
          <a:p>
            <a:pPr lvl="1" eaLnBrk="1" hangingPunct="1"/>
            <a:r>
              <a:rPr lang="en-US" altLang="en-US" sz="2400" smtClean="0"/>
              <a:t>Signature file can be large (10,000’s)…</a:t>
            </a:r>
          </a:p>
          <a:p>
            <a:pPr lvl="1" eaLnBrk="1" hangingPunct="1"/>
            <a:r>
              <a:rPr lang="en-US" altLang="en-US" sz="2400" smtClean="0"/>
              <a:t>…making scanning slow</a:t>
            </a:r>
          </a:p>
          <a:p>
            <a:pPr lvl="1" eaLnBrk="1" hangingPunct="1"/>
            <a:r>
              <a:rPr lang="en-US" altLang="en-US" sz="2400" smtClean="0"/>
              <a:t>Signature files must be kept up to date</a:t>
            </a:r>
          </a:p>
          <a:p>
            <a:pPr lvl="1" eaLnBrk="1" hangingPunct="1"/>
            <a:r>
              <a:rPr lang="en-US" altLang="en-US" sz="2400" smtClean="0"/>
              <a:t>Cannot detect unknown viruses</a:t>
            </a:r>
          </a:p>
          <a:p>
            <a:pPr lvl="1" eaLnBrk="1" hangingPunct="1"/>
            <a:r>
              <a:rPr lang="en-US" altLang="en-US" sz="2400" smtClean="0"/>
              <a:t>Cannot detect some new types of malware</a:t>
            </a:r>
          </a:p>
          <a:p>
            <a:pPr eaLnBrk="1" hangingPunct="1"/>
            <a:r>
              <a:rPr lang="en-US" altLang="en-US" sz="2800" smtClean="0"/>
              <a:t>By far the most popular detection method</a:t>
            </a:r>
          </a:p>
        </p:txBody>
      </p:sp>
      <p:sp>
        <p:nvSpPr>
          <p:cNvPr id="120836"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40868041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914162" y="609600"/>
            <a:ext cx="10360501" cy="838200"/>
          </a:xfrm>
        </p:spPr>
        <p:txBody>
          <a:bodyPr/>
          <a:lstStyle/>
          <a:p>
            <a:pPr eaLnBrk="1" hangingPunct="1"/>
            <a:r>
              <a:rPr lang="en-US" altLang="en-US" dirty="0" smtClean="0"/>
              <a:t>Change Detection</a:t>
            </a:r>
          </a:p>
        </p:txBody>
      </p:sp>
      <p:sp>
        <p:nvSpPr>
          <p:cNvPr id="2" name="Content Placeholder 1"/>
          <p:cNvSpPr>
            <a:spLocks noGrp="1"/>
          </p:cNvSpPr>
          <p:nvPr>
            <p:ph idx="1"/>
          </p:nvPr>
        </p:nvSpPr>
        <p:spPr>
          <a:xfrm>
            <a:off x="609441" y="1600200"/>
            <a:ext cx="11139536" cy="4876800"/>
          </a:xfrm>
        </p:spPr>
        <p:txBody>
          <a:bodyPr>
            <a:normAutofit fontScale="92500" lnSpcReduction="10000"/>
          </a:bodyPr>
          <a:lstStyle/>
          <a:p>
            <a:r>
              <a:rPr lang="en-IN" dirty="0"/>
              <a:t>This method watches for </a:t>
            </a:r>
            <a:r>
              <a:rPr lang="en-IN" b="1" dirty="0"/>
              <a:t>unauthorized or unexpected changes</a:t>
            </a:r>
            <a:r>
              <a:rPr lang="en-IN" dirty="0"/>
              <a:t> in system files, settings, or programs</a:t>
            </a:r>
            <a:r>
              <a:rPr lang="en-IN" dirty="0" smtClean="0"/>
              <a:t>.</a:t>
            </a:r>
          </a:p>
          <a:p>
            <a:pPr marL="0" indent="0">
              <a:buNone/>
            </a:pPr>
            <a:r>
              <a:rPr lang="en-IN" dirty="0"/>
              <a:t/>
            </a:r>
            <a:br>
              <a:rPr lang="en-IN" dirty="0"/>
            </a:br>
            <a:r>
              <a:rPr lang="en-IN" dirty="0"/>
              <a:t>It takes a “snapshot” of files and system state. Later, it checks again to see if anything has been altered.</a:t>
            </a:r>
          </a:p>
          <a:p>
            <a:r>
              <a:rPr lang="en-IN" b="1" dirty="0"/>
              <a:t>Example:</a:t>
            </a:r>
            <a:r>
              <a:rPr lang="en-IN" dirty="0"/>
              <a:t/>
            </a:r>
            <a:br>
              <a:rPr lang="en-IN" dirty="0"/>
            </a:br>
            <a:r>
              <a:rPr lang="en-IN" dirty="0"/>
              <a:t>If a malware silently modifies a system file, this method will detect that change.</a:t>
            </a:r>
          </a:p>
          <a:p>
            <a:r>
              <a:rPr lang="en-IN" b="1" dirty="0"/>
              <a:t>Pros:</a:t>
            </a:r>
            <a:endParaRPr lang="en-IN" dirty="0"/>
          </a:p>
          <a:p>
            <a:pPr lvl="0"/>
            <a:r>
              <a:rPr lang="en-IN" dirty="0"/>
              <a:t>Good for spotting </a:t>
            </a:r>
            <a:r>
              <a:rPr lang="en-IN" b="1" dirty="0"/>
              <a:t>unauthorized tampering</a:t>
            </a:r>
            <a:endParaRPr lang="en-IN" dirty="0"/>
          </a:p>
          <a:p>
            <a:pPr lvl="0"/>
            <a:r>
              <a:rPr lang="en-IN" dirty="0"/>
              <a:t>Doesn’t need to know the malware in advance</a:t>
            </a:r>
          </a:p>
          <a:p>
            <a:r>
              <a:rPr lang="en-IN" b="1" dirty="0"/>
              <a:t>Cons:</a:t>
            </a:r>
            <a:endParaRPr lang="en-IN" dirty="0"/>
          </a:p>
          <a:p>
            <a:pPr lvl="0"/>
            <a:r>
              <a:rPr lang="en-IN" dirty="0"/>
              <a:t>Can trigger alerts for legitimate changes</a:t>
            </a:r>
          </a:p>
          <a:p>
            <a:pPr lvl="0"/>
            <a:r>
              <a:rPr lang="en-IN" dirty="0"/>
              <a:t>May not tell you </a:t>
            </a:r>
            <a:r>
              <a:rPr lang="en-IN" b="1" dirty="0"/>
              <a:t>what exactly</a:t>
            </a:r>
            <a:r>
              <a:rPr lang="en-IN" dirty="0"/>
              <a:t> changed</a:t>
            </a:r>
          </a:p>
          <a:p>
            <a:pPr marL="0" indent="0">
              <a:buNone/>
            </a:pPr>
            <a:endParaRPr lang="en-IN" dirty="0"/>
          </a:p>
        </p:txBody>
      </p:sp>
    </p:spTree>
    <p:extLst>
      <p:ext uri="{BB962C8B-B14F-4D97-AF65-F5344CB8AC3E}">
        <p14:creationId xmlns:p14="http://schemas.microsoft.com/office/powerpoint/2010/main" val="28243942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914162" y="609600"/>
            <a:ext cx="10360501" cy="838200"/>
          </a:xfrm>
        </p:spPr>
        <p:txBody>
          <a:bodyPr/>
          <a:lstStyle/>
          <a:p>
            <a:pPr eaLnBrk="1" hangingPunct="1"/>
            <a:r>
              <a:rPr lang="en-US" altLang="en-US" smtClean="0"/>
              <a:t>Change Detection</a:t>
            </a:r>
          </a:p>
        </p:txBody>
      </p:sp>
      <p:sp>
        <p:nvSpPr>
          <p:cNvPr id="121859" name="Rectangle 3"/>
          <p:cNvSpPr>
            <a:spLocks noGrp="1" noChangeArrowheads="1"/>
          </p:cNvSpPr>
          <p:nvPr>
            <p:ph type="body" idx="1"/>
          </p:nvPr>
        </p:nvSpPr>
        <p:spPr>
          <a:xfrm>
            <a:off x="609441" y="1752600"/>
            <a:ext cx="11173090" cy="4495800"/>
          </a:xfrm>
        </p:spPr>
        <p:txBody>
          <a:bodyPr/>
          <a:lstStyle/>
          <a:p>
            <a:pPr eaLnBrk="1" hangingPunct="1"/>
            <a:r>
              <a:rPr lang="en-US" altLang="en-US" dirty="0" smtClean="0"/>
              <a:t>Viruses must live somewhere on system </a:t>
            </a:r>
          </a:p>
          <a:p>
            <a:pPr eaLnBrk="1" hangingPunct="1"/>
            <a:r>
              <a:rPr lang="en-US" altLang="en-US" dirty="0" smtClean="0"/>
              <a:t>If we detect that a file has changed, it may be infected</a:t>
            </a:r>
          </a:p>
          <a:p>
            <a:pPr eaLnBrk="1" hangingPunct="1"/>
            <a:r>
              <a:rPr lang="en-US" altLang="en-US" dirty="0" smtClean="0"/>
              <a:t>How to detect changes?</a:t>
            </a:r>
          </a:p>
          <a:p>
            <a:pPr lvl="1" eaLnBrk="1" hangingPunct="1"/>
            <a:r>
              <a:rPr lang="en-US" altLang="en-US" dirty="0" smtClean="0"/>
              <a:t>Hash files and (securely) store hash values</a:t>
            </a:r>
          </a:p>
          <a:p>
            <a:pPr lvl="1" eaLnBrk="1" hangingPunct="1"/>
            <a:r>
              <a:rPr lang="en-US" altLang="en-US" dirty="0" err="1" smtClean="0"/>
              <a:t>Recompute</a:t>
            </a:r>
            <a:r>
              <a:rPr lang="en-US" altLang="en-US" dirty="0" smtClean="0"/>
              <a:t> hashes and compare</a:t>
            </a:r>
          </a:p>
          <a:p>
            <a:pPr lvl="1" eaLnBrk="1" hangingPunct="1"/>
            <a:r>
              <a:rPr lang="en-US" altLang="en-US" dirty="0" smtClean="0"/>
              <a:t>If hash value changes, file </a:t>
            </a:r>
            <a:r>
              <a:rPr lang="en-US" altLang="en-US" b="1" dirty="0" smtClean="0">
                <a:solidFill>
                  <a:schemeClr val="hlink"/>
                </a:solidFill>
              </a:rPr>
              <a:t>might</a:t>
            </a:r>
            <a:r>
              <a:rPr lang="en-US" altLang="en-US" dirty="0" smtClean="0"/>
              <a:t> be infected</a:t>
            </a:r>
          </a:p>
          <a:p>
            <a:pPr lvl="1"/>
            <a:r>
              <a:rPr lang="en-US" altLang="en-US" dirty="0" smtClean="0"/>
              <a:t>Check for </a:t>
            </a:r>
            <a:r>
              <a:rPr lang="en-US" altLang="en-US" dirty="0" err="1" smtClean="0"/>
              <a:t>Oligomorphism</a:t>
            </a:r>
            <a:r>
              <a:rPr lang="en-US" altLang="en-US" dirty="0" smtClean="0"/>
              <a:t> or polymorphism</a:t>
            </a:r>
          </a:p>
        </p:txBody>
      </p:sp>
    </p:spTree>
    <p:extLst>
      <p:ext uri="{BB962C8B-B14F-4D97-AF65-F5344CB8AC3E}">
        <p14:creationId xmlns:p14="http://schemas.microsoft.com/office/powerpoint/2010/main" val="33502327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914162" y="609600"/>
            <a:ext cx="10360501" cy="838200"/>
          </a:xfrm>
        </p:spPr>
        <p:txBody>
          <a:bodyPr/>
          <a:lstStyle/>
          <a:p>
            <a:pPr eaLnBrk="1" hangingPunct="1"/>
            <a:r>
              <a:rPr lang="en-US" altLang="en-US" smtClean="0"/>
              <a:t>Change Detection</a:t>
            </a:r>
          </a:p>
        </p:txBody>
      </p:sp>
      <p:sp>
        <p:nvSpPr>
          <p:cNvPr id="122883" name="Rectangle 3"/>
          <p:cNvSpPr>
            <a:spLocks noGrp="1" noChangeArrowheads="1"/>
          </p:cNvSpPr>
          <p:nvPr>
            <p:ph type="body" idx="1"/>
          </p:nvPr>
        </p:nvSpPr>
        <p:spPr>
          <a:xfrm>
            <a:off x="914162" y="1752600"/>
            <a:ext cx="10360501" cy="4343400"/>
          </a:xfrm>
        </p:spPr>
        <p:txBody>
          <a:bodyPr/>
          <a:lstStyle/>
          <a:p>
            <a:pPr eaLnBrk="1" hangingPunct="1"/>
            <a:r>
              <a:rPr lang="en-US" altLang="en-US" sz="2800" smtClean="0"/>
              <a:t>Advantages</a:t>
            </a:r>
          </a:p>
          <a:p>
            <a:pPr lvl="1" eaLnBrk="1" hangingPunct="1"/>
            <a:r>
              <a:rPr lang="en-US" altLang="en-US" sz="2400" smtClean="0"/>
              <a:t>Virtually no false negatives</a:t>
            </a:r>
          </a:p>
          <a:p>
            <a:pPr lvl="1" eaLnBrk="1" hangingPunct="1"/>
            <a:r>
              <a:rPr lang="en-US" altLang="en-US" sz="2400" smtClean="0"/>
              <a:t>Can even detect previously unknown malware</a:t>
            </a:r>
          </a:p>
          <a:p>
            <a:pPr eaLnBrk="1" hangingPunct="1"/>
            <a:r>
              <a:rPr lang="en-US" altLang="en-US" sz="2800" smtClean="0"/>
              <a:t>Disadvantages</a:t>
            </a:r>
          </a:p>
          <a:p>
            <a:pPr lvl="1" eaLnBrk="1" hangingPunct="1"/>
            <a:r>
              <a:rPr lang="en-US" altLang="en-US" sz="2400" smtClean="0"/>
              <a:t>Many files change </a:t>
            </a:r>
            <a:r>
              <a:rPr lang="en-US" altLang="en-US" sz="2400" smtClean="0">
                <a:sym typeface="Symbol" pitchFamily="18" charset="2"/>
              </a:rPr>
              <a:t></a:t>
            </a:r>
            <a:r>
              <a:rPr lang="en-US" altLang="en-US" sz="2400" smtClean="0"/>
              <a:t> and often</a:t>
            </a:r>
          </a:p>
          <a:p>
            <a:pPr lvl="1" eaLnBrk="1" hangingPunct="1"/>
            <a:r>
              <a:rPr lang="en-US" altLang="en-US" sz="2400" smtClean="0"/>
              <a:t>Many false alarms (false positives)</a:t>
            </a:r>
          </a:p>
          <a:p>
            <a:pPr lvl="1" eaLnBrk="1" hangingPunct="1"/>
            <a:r>
              <a:rPr lang="en-US" altLang="en-US" sz="2400" smtClean="0"/>
              <a:t>Heavy burden on users/administrators</a:t>
            </a:r>
          </a:p>
          <a:p>
            <a:pPr lvl="1" eaLnBrk="1" hangingPunct="1"/>
            <a:r>
              <a:rPr lang="en-US" altLang="en-US" sz="2400" smtClean="0"/>
              <a:t>If suspicious change detected, then what?</a:t>
            </a:r>
          </a:p>
          <a:p>
            <a:pPr lvl="1" eaLnBrk="1" hangingPunct="1"/>
            <a:r>
              <a:rPr lang="en-US" altLang="en-US" sz="2400" smtClean="0"/>
              <a:t>Might still need signature-based system</a:t>
            </a:r>
          </a:p>
        </p:txBody>
      </p:sp>
      <p:sp>
        <p:nvSpPr>
          <p:cNvPr id="122884"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8138298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914162" y="533400"/>
            <a:ext cx="10360501" cy="838200"/>
          </a:xfrm>
        </p:spPr>
        <p:txBody>
          <a:bodyPr/>
          <a:lstStyle/>
          <a:p>
            <a:pPr eaLnBrk="1" hangingPunct="1"/>
            <a:r>
              <a:rPr lang="en-US" altLang="en-US" smtClean="0"/>
              <a:t>Anomaly Detection</a:t>
            </a:r>
          </a:p>
        </p:txBody>
      </p:sp>
      <p:sp>
        <p:nvSpPr>
          <p:cNvPr id="123907" name="Rectangle 3"/>
          <p:cNvSpPr>
            <a:spLocks noGrp="1" noChangeArrowheads="1"/>
          </p:cNvSpPr>
          <p:nvPr>
            <p:ph type="body" idx="1"/>
          </p:nvPr>
        </p:nvSpPr>
        <p:spPr>
          <a:xfrm>
            <a:off x="648348" y="1346790"/>
            <a:ext cx="11079364" cy="4756297"/>
          </a:xfrm>
        </p:spPr>
        <p:txBody>
          <a:bodyPr>
            <a:normAutofit fontScale="92500" lnSpcReduction="20000"/>
          </a:bodyPr>
          <a:lstStyle/>
          <a:p>
            <a:pPr marL="0" indent="0">
              <a:buNone/>
            </a:pPr>
            <a:r>
              <a:rPr lang="en-IN" dirty="0" smtClean="0"/>
              <a:t>This </a:t>
            </a:r>
            <a:r>
              <a:rPr lang="en-IN" dirty="0"/>
              <a:t>method looks for </a:t>
            </a:r>
            <a:r>
              <a:rPr lang="en-IN" b="1" dirty="0"/>
              <a:t>unusual </a:t>
            </a:r>
            <a:r>
              <a:rPr lang="en-IN" b="1" dirty="0" err="1"/>
              <a:t>behavior</a:t>
            </a:r>
            <a:r>
              <a:rPr lang="en-IN" dirty="0"/>
              <a:t> in a system that doesn’t match the normal pattern.</a:t>
            </a:r>
          </a:p>
          <a:p>
            <a:pPr marL="0" indent="0">
              <a:buNone/>
            </a:pPr>
            <a:r>
              <a:rPr lang="en-IN" dirty="0"/>
              <a:t/>
            </a:r>
            <a:br>
              <a:rPr lang="en-IN" dirty="0"/>
            </a:br>
            <a:r>
              <a:rPr lang="en-IN" dirty="0"/>
              <a:t>It builds a model of what’s “normal” for the system (like typical CPU use, file access, or network traffic). Anything very different is treated as a potential threat.</a:t>
            </a:r>
          </a:p>
          <a:p>
            <a:r>
              <a:rPr lang="en-IN" b="1" dirty="0"/>
              <a:t>Example:</a:t>
            </a:r>
            <a:r>
              <a:rPr lang="en-IN" dirty="0"/>
              <a:t/>
            </a:r>
            <a:br>
              <a:rPr lang="en-IN" dirty="0"/>
            </a:br>
            <a:r>
              <a:rPr lang="en-IN" dirty="0"/>
              <a:t>A program suddenly trying to send a lot of data to an unknown server might be flagged as malware.</a:t>
            </a:r>
          </a:p>
          <a:p>
            <a:r>
              <a:rPr lang="en-IN" b="1" dirty="0"/>
              <a:t>Pros:</a:t>
            </a:r>
            <a:endParaRPr lang="en-IN" dirty="0"/>
          </a:p>
          <a:p>
            <a:pPr lvl="0"/>
            <a:r>
              <a:rPr lang="en-IN" dirty="0"/>
              <a:t>Can detect </a:t>
            </a:r>
            <a:r>
              <a:rPr lang="en-IN" b="1" dirty="0"/>
              <a:t>new, unknown, or hidden malware</a:t>
            </a:r>
            <a:endParaRPr lang="en-IN" dirty="0"/>
          </a:p>
          <a:p>
            <a:pPr lvl="0"/>
            <a:r>
              <a:rPr lang="en-IN" dirty="0"/>
              <a:t>Useful for advanced and evolving threats</a:t>
            </a:r>
          </a:p>
          <a:p>
            <a:r>
              <a:rPr lang="en-IN" b="1" dirty="0"/>
              <a:t>Cons:</a:t>
            </a:r>
            <a:endParaRPr lang="en-IN" dirty="0"/>
          </a:p>
          <a:p>
            <a:pPr lvl="0"/>
            <a:r>
              <a:rPr lang="en-IN" dirty="0"/>
              <a:t>May give </a:t>
            </a:r>
            <a:r>
              <a:rPr lang="en-IN" b="1" dirty="0"/>
              <a:t>false alarms</a:t>
            </a:r>
            <a:endParaRPr lang="en-IN" dirty="0"/>
          </a:p>
          <a:p>
            <a:pPr lvl="0"/>
            <a:r>
              <a:rPr lang="en-IN" dirty="0"/>
              <a:t>Needs time to learn what “normal” looks like</a:t>
            </a:r>
          </a:p>
          <a:p>
            <a:pPr eaLnBrk="1" hangingPunct="1"/>
            <a:endParaRPr lang="en-US" altLang="en-US" sz="2400" dirty="0" smtClean="0"/>
          </a:p>
        </p:txBody>
      </p:sp>
    </p:spTree>
    <p:extLst>
      <p:ext uri="{BB962C8B-B14F-4D97-AF65-F5344CB8AC3E}">
        <p14:creationId xmlns:p14="http://schemas.microsoft.com/office/powerpoint/2010/main" val="180530143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914162" y="533400"/>
            <a:ext cx="10360501" cy="838200"/>
          </a:xfrm>
        </p:spPr>
        <p:txBody>
          <a:bodyPr/>
          <a:lstStyle/>
          <a:p>
            <a:pPr eaLnBrk="1" hangingPunct="1"/>
            <a:r>
              <a:rPr lang="en-US" altLang="en-US" smtClean="0"/>
              <a:t>Anomaly Detection</a:t>
            </a:r>
          </a:p>
        </p:txBody>
      </p:sp>
      <p:sp>
        <p:nvSpPr>
          <p:cNvPr id="123907" name="Rectangle 3"/>
          <p:cNvSpPr>
            <a:spLocks noGrp="1" noChangeArrowheads="1"/>
          </p:cNvSpPr>
          <p:nvPr>
            <p:ph type="body" idx="1"/>
          </p:nvPr>
        </p:nvSpPr>
        <p:spPr>
          <a:xfrm>
            <a:off x="914162" y="1676400"/>
            <a:ext cx="10360501" cy="4495800"/>
          </a:xfrm>
        </p:spPr>
        <p:txBody>
          <a:bodyPr/>
          <a:lstStyle/>
          <a:p>
            <a:pPr eaLnBrk="1" hangingPunct="1"/>
            <a:r>
              <a:rPr lang="en-US" altLang="en-US" sz="2800" smtClean="0"/>
              <a:t>Monitor system for anything “unusual” or “virus-like” or potentially malicious </a:t>
            </a:r>
          </a:p>
          <a:p>
            <a:pPr eaLnBrk="1" hangingPunct="1"/>
            <a:r>
              <a:rPr lang="en-US" altLang="en-US" sz="2800" smtClean="0"/>
              <a:t>What is unusual?</a:t>
            </a:r>
          </a:p>
          <a:p>
            <a:pPr lvl="1" eaLnBrk="1" hangingPunct="1"/>
            <a:r>
              <a:rPr lang="en-US" altLang="en-US" sz="2400" smtClean="0"/>
              <a:t>Files change in some unusual way</a:t>
            </a:r>
          </a:p>
          <a:p>
            <a:pPr lvl="1" eaLnBrk="1" hangingPunct="1"/>
            <a:r>
              <a:rPr lang="en-US" altLang="en-US" sz="2400" smtClean="0"/>
              <a:t>System misbehaves in some way</a:t>
            </a:r>
          </a:p>
          <a:p>
            <a:pPr lvl="1" eaLnBrk="1" hangingPunct="1"/>
            <a:r>
              <a:rPr lang="en-US" altLang="en-US" sz="2400" smtClean="0"/>
              <a:t>Unusual network activity</a:t>
            </a:r>
          </a:p>
          <a:p>
            <a:pPr lvl="1" eaLnBrk="1" hangingPunct="1"/>
            <a:r>
              <a:rPr lang="en-US" altLang="en-US" sz="2400" smtClean="0"/>
              <a:t>Unusual file access, etc., etc., etc.</a:t>
            </a:r>
          </a:p>
          <a:p>
            <a:pPr eaLnBrk="1" hangingPunct="1"/>
            <a:r>
              <a:rPr lang="en-US" altLang="en-US" sz="2800" smtClean="0"/>
              <a:t>But must first define “normal”</a:t>
            </a:r>
          </a:p>
          <a:p>
            <a:pPr lvl="1" eaLnBrk="1" hangingPunct="1"/>
            <a:r>
              <a:rPr lang="en-US" altLang="en-US" sz="2400" smtClean="0"/>
              <a:t>And normal can change!</a:t>
            </a:r>
          </a:p>
        </p:txBody>
      </p:sp>
      <p:sp>
        <p:nvSpPr>
          <p:cNvPr id="123908"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164549619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914162" y="457200"/>
            <a:ext cx="10360501" cy="838200"/>
          </a:xfrm>
        </p:spPr>
        <p:txBody>
          <a:bodyPr/>
          <a:lstStyle/>
          <a:p>
            <a:pPr eaLnBrk="1" hangingPunct="1"/>
            <a:r>
              <a:rPr lang="en-US" altLang="en-US" smtClean="0"/>
              <a:t>Anomaly Detection</a:t>
            </a:r>
          </a:p>
        </p:txBody>
      </p:sp>
      <p:sp>
        <p:nvSpPr>
          <p:cNvPr id="124931" name="Rectangle 3"/>
          <p:cNvSpPr>
            <a:spLocks noGrp="1" noChangeArrowheads="1"/>
          </p:cNvSpPr>
          <p:nvPr>
            <p:ph type="body" idx="1"/>
          </p:nvPr>
        </p:nvSpPr>
        <p:spPr>
          <a:xfrm>
            <a:off x="914162" y="1524000"/>
            <a:ext cx="10360501" cy="4648200"/>
          </a:xfrm>
        </p:spPr>
        <p:txBody>
          <a:bodyPr/>
          <a:lstStyle/>
          <a:p>
            <a:pPr eaLnBrk="1" hangingPunct="1"/>
            <a:r>
              <a:rPr lang="en-US" altLang="en-US" sz="2800" smtClean="0"/>
              <a:t>Advantages</a:t>
            </a:r>
          </a:p>
          <a:p>
            <a:pPr lvl="1" eaLnBrk="1" hangingPunct="1"/>
            <a:r>
              <a:rPr lang="en-US" altLang="en-US" sz="2400" smtClean="0"/>
              <a:t>Chance of detecting unknown malware</a:t>
            </a:r>
          </a:p>
          <a:p>
            <a:pPr eaLnBrk="1" hangingPunct="1"/>
            <a:r>
              <a:rPr lang="en-US" altLang="en-US" sz="2800" smtClean="0"/>
              <a:t>Disadvantages</a:t>
            </a:r>
          </a:p>
          <a:p>
            <a:pPr lvl="1" eaLnBrk="1" hangingPunct="1"/>
            <a:r>
              <a:rPr lang="en-US" altLang="en-US" sz="2400" smtClean="0"/>
              <a:t>Unproven in practice</a:t>
            </a:r>
          </a:p>
          <a:p>
            <a:pPr lvl="1" eaLnBrk="1" hangingPunct="1"/>
            <a:r>
              <a:rPr lang="en-US" altLang="en-US" sz="2400" smtClean="0"/>
              <a:t>Trudy can make abnormal look normal (go slow)</a:t>
            </a:r>
          </a:p>
          <a:p>
            <a:pPr lvl="1" eaLnBrk="1" hangingPunct="1"/>
            <a:r>
              <a:rPr lang="en-US" altLang="en-US" sz="2400" smtClean="0"/>
              <a:t>Must be combined with another method (such as signature detection)</a:t>
            </a:r>
          </a:p>
          <a:p>
            <a:pPr eaLnBrk="1" hangingPunct="1"/>
            <a:r>
              <a:rPr lang="en-US" altLang="en-US" sz="2800" smtClean="0"/>
              <a:t>Also popular in intrusion detection (IDS)</a:t>
            </a:r>
          </a:p>
          <a:p>
            <a:pPr eaLnBrk="1" hangingPunct="1"/>
            <a:r>
              <a:rPr lang="en-US" altLang="en-US" sz="2800" smtClean="0"/>
              <a:t>A difficult unsolved (unsolvable?) problem</a:t>
            </a:r>
          </a:p>
          <a:p>
            <a:pPr lvl="1" eaLnBrk="1" hangingPunct="1"/>
            <a:r>
              <a:rPr lang="en-US" altLang="en-US" sz="2400" smtClean="0"/>
              <a:t>As difficult as AI?</a:t>
            </a:r>
          </a:p>
        </p:txBody>
      </p:sp>
      <p:sp>
        <p:nvSpPr>
          <p:cNvPr id="124932" name="Footer Placeholder 3"/>
          <p:cNvSpPr txBox="1">
            <a:spLocks/>
          </p:cNvSpPr>
          <p:nvPr/>
        </p:nvSpPr>
        <p:spPr bwMode="auto">
          <a:xfrm>
            <a:off x="0" y="6400800"/>
            <a:ext cx="1218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accent2"/>
              </a:buClr>
              <a:buSzPct val="75000"/>
              <a:buFont typeface="Wingdings" pitchFamily="2" charset="2"/>
              <a:buChar char="q"/>
              <a:tabLst>
                <a:tab pos="3146425" algn="l"/>
              </a:tabLst>
              <a:defRPr sz="3200">
                <a:solidFill>
                  <a:schemeClr val="tx1"/>
                </a:solidFill>
                <a:latin typeface="Comic Sans MS" pitchFamily="66" charset="0"/>
              </a:defRPr>
            </a:lvl1pPr>
            <a:lvl2pPr marL="742950" indent="-285750" eaLnBrk="0" hangingPunct="0">
              <a:spcBef>
                <a:spcPct val="20000"/>
              </a:spcBef>
              <a:buClr>
                <a:schemeClr val="accent2"/>
              </a:buClr>
              <a:buSzPct val="95000"/>
              <a:buChar char="o"/>
              <a:tabLst>
                <a:tab pos="3146425" algn="l"/>
              </a:tabLst>
              <a:defRPr sz="2800">
                <a:solidFill>
                  <a:schemeClr val="tx1"/>
                </a:solidFill>
                <a:latin typeface="Comic Sans MS" pitchFamily="66" charset="0"/>
              </a:defRPr>
            </a:lvl2pPr>
            <a:lvl3pPr marL="1143000" indent="-228600" eaLnBrk="0" hangingPunct="0">
              <a:spcBef>
                <a:spcPct val="20000"/>
              </a:spcBef>
              <a:buClr>
                <a:schemeClr val="accent2"/>
              </a:buClr>
              <a:buFont typeface="Wingdings" pitchFamily="2" charset="2"/>
              <a:buChar char="§"/>
              <a:tabLst>
                <a:tab pos="3146425" algn="l"/>
              </a:tabLst>
              <a:defRPr sz="2400">
                <a:solidFill>
                  <a:schemeClr val="tx1"/>
                </a:solidFill>
                <a:latin typeface="Comic Sans MS" pitchFamily="66" charset="0"/>
              </a:defRPr>
            </a:lvl3pPr>
            <a:lvl4pPr marL="1600200" indent="-228600" eaLnBrk="0" hangingPunct="0">
              <a:spcBef>
                <a:spcPct val="20000"/>
              </a:spcBef>
              <a:buClr>
                <a:schemeClr val="accent2"/>
              </a:buClr>
              <a:buSzPct val="75000"/>
              <a:buFont typeface="Wingdings" pitchFamily="2" charset="2"/>
              <a:buChar char="Ø"/>
              <a:tabLst>
                <a:tab pos="3146425" algn="l"/>
              </a:tabLst>
              <a:defRPr sz="2000">
                <a:solidFill>
                  <a:schemeClr val="tx1"/>
                </a:solidFill>
                <a:latin typeface="Comic Sans MS" pitchFamily="66" charset="0"/>
              </a:defRPr>
            </a:lvl4pPr>
            <a:lvl5pPr marL="2057400" indent="-228600" eaLnBrk="0" hangingPunct="0">
              <a:spcBef>
                <a:spcPct val="20000"/>
              </a:spcBef>
              <a:buClr>
                <a:schemeClr val="accent2"/>
              </a:buClr>
              <a:buFont typeface="Times"/>
              <a:buChar char="•"/>
              <a:tabLst>
                <a:tab pos="3146425" algn="l"/>
              </a:tabLst>
              <a:defRPr sz="2000">
                <a:solidFill>
                  <a:schemeClr val="tx1"/>
                </a:solidFill>
                <a:latin typeface="Comic Sans MS" pitchFamily="66" charset="0"/>
              </a:defRPr>
            </a:lvl5pPr>
            <a:lvl6pPr marL="25146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6pPr>
            <a:lvl7pPr marL="29718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7pPr>
            <a:lvl8pPr marL="34290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8pPr>
            <a:lvl9pPr marL="3886200" indent="-228600" eaLnBrk="0" fontAlgn="base" hangingPunct="0">
              <a:spcBef>
                <a:spcPct val="20000"/>
              </a:spcBef>
              <a:spcAft>
                <a:spcPct val="0"/>
              </a:spcAft>
              <a:buClr>
                <a:schemeClr val="accent2"/>
              </a:buClr>
              <a:buFont typeface="Times"/>
              <a:buChar char="•"/>
              <a:tabLst>
                <a:tab pos="3146425" algn="l"/>
              </a:tabLst>
              <a:defRPr sz="2000">
                <a:solidFill>
                  <a:schemeClr val="tx1"/>
                </a:solidFill>
                <a:latin typeface="Comic Sans MS" pitchFamily="66" charset="0"/>
              </a:defRPr>
            </a:lvl9pPr>
          </a:lstStyle>
          <a:p>
            <a:pPr eaLnBrk="1" hangingPunct="1">
              <a:spcBef>
                <a:spcPct val="0"/>
              </a:spcBef>
              <a:buClrTx/>
              <a:buSzTx/>
              <a:buFontTx/>
              <a:buNone/>
            </a:pPr>
            <a:r>
              <a:rPr lang="en-US" altLang="en-US" sz="1200"/>
              <a:t> Part 4</a:t>
            </a:r>
            <a:r>
              <a:rPr lang="en-US" altLang="en-US" sz="1200">
                <a:sym typeface="Symbol" pitchFamily="18" charset="2"/>
              </a:rPr>
              <a:t></a:t>
            </a:r>
            <a:r>
              <a:rPr lang="en-US" altLang="en-US" sz="1200"/>
              <a:t> Software	  </a:t>
            </a:r>
            <a:r>
              <a:rPr lang="en-US" altLang="en-US" sz="1200" b="1" i="1">
                <a:latin typeface="Calibri" pitchFamily="34" charset="0"/>
              </a:rPr>
              <a:t>Mark Stamp’s Information Security: Principles  and Practices</a:t>
            </a:r>
            <a:r>
              <a:rPr lang="en-US" altLang="en-US" sz="1200" b="1">
                <a:latin typeface="Calibri" pitchFamily="34" charset="0"/>
              </a:rPr>
              <a:t> </a:t>
            </a:r>
            <a:r>
              <a:rPr lang="en-US" altLang="en-US" sz="1200">
                <a:latin typeface="Calibri" pitchFamily="34" charset="0"/>
              </a:rPr>
              <a:t>by Mark Stamp/ Deven Shah.</a:t>
            </a:r>
          </a:p>
          <a:p>
            <a:pPr algn="r" eaLnBrk="1" hangingPunct="1">
              <a:spcBef>
                <a:spcPct val="0"/>
              </a:spcBef>
              <a:buClrTx/>
              <a:buSzTx/>
              <a:buFontTx/>
              <a:buNone/>
            </a:pPr>
            <a:r>
              <a:rPr lang="en-US" altLang="en-US" sz="1200">
                <a:latin typeface="Calibri" pitchFamily="34" charset="0"/>
              </a:rPr>
              <a:t> Copyright </a:t>
            </a:r>
            <a:r>
              <a:rPr lang="en-US" altLang="en-US" sz="1200">
                <a:latin typeface="Calibri" pitchFamily="34" charset="0"/>
                <a:sym typeface="Symbol" pitchFamily="18" charset="2"/>
              </a:rPr>
              <a:t> 2009 Wiley India Pvt. Ltd.  All rights reserved.</a:t>
            </a:r>
          </a:p>
        </p:txBody>
      </p:sp>
    </p:spTree>
    <p:extLst>
      <p:ext uri="{BB962C8B-B14F-4D97-AF65-F5344CB8AC3E}">
        <p14:creationId xmlns:p14="http://schemas.microsoft.com/office/powerpoint/2010/main" val="14394635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Countermeasures for Users</a:t>
            </a:r>
          </a:p>
        </p:txBody>
      </p:sp>
      <p:sp>
        <p:nvSpPr>
          <p:cNvPr id="3" name="Content Placeholder 2"/>
          <p:cNvSpPr>
            <a:spLocks noGrp="1"/>
          </p:cNvSpPr>
          <p:nvPr>
            <p:ph idx="1"/>
          </p:nvPr>
        </p:nvSpPr>
        <p:spPr/>
        <p:txBody>
          <a:bodyPr/>
          <a:lstStyle/>
          <a:p>
            <a:r>
              <a:rPr lang="en-US" dirty="0"/>
              <a:t>Use software acquired from reliable sources</a:t>
            </a:r>
          </a:p>
          <a:p>
            <a:r>
              <a:rPr lang="en-US" dirty="0"/>
              <a:t>Test software in an isolated environment</a:t>
            </a:r>
          </a:p>
          <a:p>
            <a:r>
              <a:rPr lang="en-US" dirty="0"/>
              <a:t>Only open attachments when you know them to be safe</a:t>
            </a:r>
          </a:p>
          <a:p>
            <a:r>
              <a:rPr lang="en-US" dirty="0"/>
              <a:t>Treat every website as potentially </a:t>
            </a:r>
            <a:r>
              <a:rPr lang="en-US" dirty="0" smtClean="0"/>
              <a:t>harmful</a:t>
            </a:r>
          </a:p>
          <a:p>
            <a:r>
              <a:rPr lang="en-US" dirty="0" smtClean="0"/>
              <a:t>Make a recoverable system image and store it safely.</a:t>
            </a:r>
            <a:endParaRPr lang="en-US" dirty="0"/>
          </a:p>
          <a:p>
            <a:r>
              <a:rPr lang="en-US" dirty="0"/>
              <a:t>Create and maintain </a:t>
            </a:r>
            <a:r>
              <a:rPr lang="en-US" dirty="0" smtClean="0"/>
              <a:t>backups / </a:t>
            </a:r>
            <a:r>
              <a:rPr lang="en-US" dirty="0"/>
              <a:t>Make and retain backup copies of executable system files</a:t>
            </a:r>
            <a:endParaRPr lang="en-US" dirty="0" smtClean="0"/>
          </a:p>
          <a:p>
            <a:r>
              <a:rPr lang="en-US" dirty="0"/>
              <a:t> </a:t>
            </a:r>
            <a:r>
              <a:rPr lang="en-US" dirty="0" smtClean="0"/>
              <a:t>Use of virus detectors</a:t>
            </a:r>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40</a:t>
            </a:fld>
            <a:endParaRPr lang="en-US">
              <a:latin typeface="Arial"/>
            </a:endParaRPr>
          </a:p>
        </p:txBody>
      </p:sp>
    </p:spTree>
    <p:extLst>
      <p:ext uri="{BB962C8B-B14F-4D97-AF65-F5344CB8AC3E}">
        <p14:creationId xmlns:p14="http://schemas.microsoft.com/office/powerpoint/2010/main" val="17885736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Countermeasures for </a:t>
            </a:r>
            <a:r>
              <a:rPr lang="en-US" dirty="0" smtClean="0"/>
              <a:t>Users : </a:t>
            </a:r>
            <a:r>
              <a:rPr lang="en-US" dirty="0" smtClean="0">
                <a:solidFill>
                  <a:srgbClr val="0070C0"/>
                </a:solidFill>
              </a:rPr>
              <a:t>User Vigilance</a:t>
            </a:r>
            <a:endParaRPr lang="en-US" dirty="0">
              <a:solidFill>
                <a:srgbClr val="0070C0"/>
              </a:solidFill>
            </a:endParaRPr>
          </a:p>
        </p:txBody>
      </p:sp>
      <p:sp>
        <p:nvSpPr>
          <p:cNvPr id="3" name="Content Placeholder 2"/>
          <p:cNvSpPr>
            <a:spLocks noGrp="1"/>
          </p:cNvSpPr>
          <p:nvPr>
            <p:ph idx="1"/>
          </p:nvPr>
        </p:nvSpPr>
        <p:spPr/>
        <p:txBody>
          <a:bodyPr/>
          <a:lstStyle/>
          <a:p>
            <a:pPr marL="0" indent="0">
              <a:buNone/>
            </a:pPr>
            <a:r>
              <a:rPr lang="en-IN" dirty="0" smtClean="0"/>
              <a:t>Users </a:t>
            </a:r>
            <a:r>
              <a:rPr lang="en-IN" dirty="0"/>
              <a:t>should be </a:t>
            </a:r>
            <a:r>
              <a:rPr lang="en-IN" b="1" dirty="0"/>
              <a:t>alert and cautious</a:t>
            </a:r>
            <a:r>
              <a:rPr lang="en-IN" dirty="0"/>
              <a:t> while using computers and the internet</a:t>
            </a:r>
            <a:r>
              <a:rPr lang="en-IN" dirty="0" smtClean="0"/>
              <a:t>.</a:t>
            </a:r>
          </a:p>
          <a:p>
            <a:pPr marL="0" indent="0">
              <a:buNone/>
            </a:pPr>
            <a:endParaRPr lang="en-IN" dirty="0"/>
          </a:p>
          <a:p>
            <a:pPr marL="714375" lvl="0" indent="-182563"/>
            <a:r>
              <a:rPr lang="en-IN" dirty="0" smtClean="0"/>
              <a:t>Don’t </a:t>
            </a:r>
            <a:r>
              <a:rPr lang="en-IN" dirty="0"/>
              <a:t>open unknown email attachments or suspicious links.</a:t>
            </a:r>
          </a:p>
          <a:p>
            <a:pPr marL="714375" lvl="0" indent="-182563"/>
            <a:r>
              <a:rPr lang="en-IN" dirty="0"/>
              <a:t>Avoid downloading software from untrusted websites.</a:t>
            </a:r>
          </a:p>
          <a:p>
            <a:pPr marL="714375" lvl="0" indent="-182563"/>
            <a:r>
              <a:rPr lang="en-IN" dirty="0"/>
              <a:t>Be careful while using USB drives from others.</a:t>
            </a:r>
          </a:p>
          <a:p>
            <a:pPr marL="714375" lvl="0" indent="-182563"/>
            <a:r>
              <a:rPr lang="en-IN" dirty="0"/>
              <a:t>Always read warnings from your antivirus or system</a:t>
            </a:r>
            <a:r>
              <a:rPr lang="en-IN" dirty="0" smtClean="0"/>
              <a:t>.</a:t>
            </a:r>
          </a:p>
          <a:p>
            <a:pPr marL="531812" lvl="0" indent="0">
              <a:buNone/>
            </a:pPr>
            <a:endParaRPr lang="en-IN" dirty="0"/>
          </a:p>
          <a:p>
            <a:r>
              <a:rPr lang="en-IN" dirty="0" smtClean="0"/>
              <a:t>Most </a:t>
            </a:r>
            <a:r>
              <a:rPr lang="en-IN" dirty="0"/>
              <a:t>malware infections happen because users accidentally allow it in. Awareness is the first line of </a:t>
            </a:r>
            <a:r>
              <a:rPr lang="en-IN" dirty="0" smtClean="0"/>
              <a:t>defence.</a:t>
            </a:r>
            <a:endParaRPr lang="en-IN"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41</a:t>
            </a:fld>
            <a:endParaRPr lang="en-US">
              <a:latin typeface="Arial"/>
            </a:endParaRPr>
          </a:p>
        </p:txBody>
      </p:sp>
    </p:spTree>
    <p:extLst>
      <p:ext uri="{BB962C8B-B14F-4D97-AF65-F5344CB8AC3E}">
        <p14:creationId xmlns:p14="http://schemas.microsoft.com/office/powerpoint/2010/main" val="23816564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a:t>Countermeasures for </a:t>
            </a:r>
            <a:r>
              <a:rPr lang="en-US" dirty="0" smtClean="0"/>
              <a:t>Users : </a:t>
            </a:r>
            <a:r>
              <a:rPr lang="en-US" dirty="0">
                <a:solidFill>
                  <a:srgbClr val="0070C0"/>
                </a:solidFill>
              </a:rPr>
              <a:t>Virus Detectors </a:t>
            </a:r>
            <a:r>
              <a:rPr lang="en-US" sz="3600" dirty="0">
                <a:solidFill>
                  <a:srgbClr val="0070C0"/>
                </a:solidFill>
              </a:rPr>
              <a:t>(Antivirus Software)</a:t>
            </a:r>
          </a:p>
        </p:txBody>
      </p:sp>
      <p:sp>
        <p:nvSpPr>
          <p:cNvPr id="3" name="Content Placeholder 2"/>
          <p:cNvSpPr>
            <a:spLocks noGrp="1"/>
          </p:cNvSpPr>
          <p:nvPr>
            <p:ph idx="1"/>
          </p:nvPr>
        </p:nvSpPr>
        <p:spPr/>
        <p:txBody>
          <a:bodyPr/>
          <a:lstStyle/>
          <a:p>
            <a:pPr marL="0" indent="0">
              <a:buNone/>
            </a:pPr>
            <a:r>
              <a:rPr lang="en-IN" dirty="0"/>
              <a:t>Software designed to </a:t>
            </a:r>
            <a:r>
              <a:rPr lang="en-IN" b="1" dirty="0"/>
              <a:t>find and remove malware</a:t>
            </a:r>
            <a:r>
              <a:rPr lang="en-IN" dirty="0"/>
              <a:t> from your device</a:t>
            </a:r>
            <a:r>
              <a:rPr lang="en-IN" dirty="0" smtClean="0"/>
              <a:t>.</a:t>
            </a:r>
          </a:p>
          <a:p>
            <a:pPr marL="0" indent="0">
              <a:buNone/>
            </a:pPr>
            <a:endParaRPr lang="en-IN" dirty="0"/>
          </a:p>
          <a:p>
            <a:r>
              <a:rPr lang="en-IN" b="1" dirty="0"/>
              <a:t>I</a:t>
            </a:r>
            <a:r>
              <a:rPr lang="en-IN" b="1" dirty="0" smtClean="0"/>
              <a:t>t works as follows:</a:t>
            </a:r>
            <a:endParaRPr lang="en-IN" dirty="0"/>
          </a:p>
          <a:p>
            <a:pPr marL="714375" lvl="0" indent="-182563"/>
            <a:r>
              <a:rPr lang="en-IN" dirty="0"/>
              <a:t>Scans files and programs regularly.</a:t>
            </a:r>
          </a:p>
          <a:p>
            <a:pPr marL="714375" lvl="0" indent="-182563"/>
            <a:r>
              <a:rPr lang="en-IN" dirty="0"/>
              <a:t>Alerts you if it finds suspicious </a:t>
            </a:r>
            <a:r>
              <a:rPr lang="en-IN" dirty="0" err="1"/>
              <a:t>behavior</a:t>
            </a:r>
            <a:r>
              <a:rPr lang="en-IN" dirty="0"/>
              <a:t> or known viruses.</a:t>
            </a:r>
          </a:p>
          <a:p>
            <a:pPr marL="714375" lvl="0" indent="-182563"/>
            <a:r>
              <a:rPr lang="en-IN" dirty="0"/>
              <a:t>Offers real-time protection while browsing or downloading</a:t>
            </a:r>
            <a:r>
              <a:rPr lang="en-IN" dirty="0" smtClean="0"/>
              <a:t>.</a:t>
            </a:r>
          </a:p>
          <a:p>
            <a:pPr marL="531812" lvl="0" indent="0">
              <a:buNone/>
            </a:pPr>
            <a:endParaRPr lang="en-IN" dirty="0"/>
          </a:p>
          <a:p>
            <a:r>
              <a:rPr lang="en-IN" dirty="0" smtClean="0"/>
              <a:t>It </a:t>
            </a:r>
            <a:r>
              <a:rPr lang="en-IN" dirty="0"/>
              <a:t>provides automatic protection and detects many threats before they can cause damage.</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42</a:t>
            </a:fld>
            <a:endParaRPr lang="en-US">
              <a:latin typeface="Arial"/>
            </a:endParaRPr>
          </a:p>
        </p:txBody>
      </p:sp>
    </p:spTree>
    <p:extLst>
      <p:ext uri="{BB962C8B-B14F-4D97-AF65-F5344CB8AC3E}">
        <p14:creationId xmlns:p14="http://schemas.microsoft.com/office/powerpoint/2010/main" val="24524572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a:t>
            </a:r>
            <a:r>
              <a:rPr lang="en-US" dirty="0" smtClean="0"/>
              <a:t>Users : </a:t>
            </a:r>
            <a:r>
              <a:rPr lang="en-US" dirty="0">
                <a:solidFill>
                  <a:srgbClr val="0070C0"/>
                </a:solidFill>
              </a:rPr>
              <a:t>Virus </a:t>
            </a:r>
            <a:r>
              <a:rPr lang="en-US" dirty="0" smtClean="0">
                <a:solidFill>
                  <a:srgbClr val="0070C0"/>
                </a:solidFill>
              </a:rPr>
              <a:t>Signatures</a:t>
            </a:r>
            <a:endParaRPr lang="en-US" sz="3600" dirty="0">
              <a:solidFill>
                <a:srgbClr val="0070C0"/>
              </a:solidFill>
            </a:endParaRPr>
          </a:p>
        </p:txBody>
      </p:sp>
      <p:sp>
        <p:nvSpPr>
          <p:cNvPr id="3" name="Content Placeholder 2"/>
          <p:cNvSpPr>
            <a:spLocks noGrp="1"/>
          </p:cNvSpPr>
          <p:nvPr>
            <p:ph idx="1"/>
          </p:nvPr>
        </p:nvSpPr>
        <p:spPr/>
        <p:txBody>
          <a:bodyPr/>
          <a:lstStyle/>
          <a:p>
            <a:r>
              <a:rPr lang="en-IN" dirty="0"/>
              <a:t>These are </a:t>
            </a:r>
            <a:r>
              <a:rPr lang="en-IN" b="1" dirty="0"/>
              <a:t>unique patterns or code fragments</a:t>
            </a:r>
            <a:r>
              <a:rPr lang="en-IN" dirty="0"/>
              <a:t> that identify known viruses</a:t>
            </a:r>
            <a:r>
              <a:rPr lang="en-IN" dirty="0" smtClean="0"/>
              <a:t>.</a:t>
            </a:r>
          </a:p>
          <a:p>
            <a:endParaRPr lang="en-IN" dirty="0"/>
          </a:p>
          <a:p>
            <a:r>
              <a:rPr lang="en-IN" b="1" dirty="0"/>
              <a:t>It works as follows:</a:t>
            </a:r>
            <a:endParaRPr lang="en-IN" dirty="0"/>
          </a:p>
          <a:p>
            <a:pPr marL="990600" lvl="0" indent="-182563"/>
            <a:r>
              <a:rPr lang="en-IN" dirty="0" smtClean="0"/>
              <a:t>Antivirus </a:t>
            </a:r>
            <a:r>
              <a:rPr lang="en-IN" dirty="0"/>
              <a:t>software compares files to a database of virus signatures.</a:t>
            </a:r>
          </a:p>
          <a:p>
            <a:pPr marL="990600" lvl="0" indent="-182563"/>
            <a:r>
              <a:rPr lang="en-IN" dirty="0"/>
              <a:t>If a match is found, it flags the file as infected</a:t>
            </a:r>
            <a:r>
              <a:rPr lang="en-IN" dirty="0" smtClean="0"/>
              <a:t>.</a:t>
            </a:r>
          </a:p>
          <a:p>
            <a:pPr marL="808037" lvl="0" indent="0">
              <a:buNone/>
            </a:pPr>
            <a:endParaRPr lang="en-IN" dirty="0"/>
          </a:p>
          <a:p>
            <a:r>
              <a:rPr lang="en-IN" dirty="0" smtClean="0"/>
              <a:t>It </a:t>
            </a:r>
            <a:r>
              <a:rPr lang="en-IN" dirty="0"/>
              <a:t>is a quick and reliable way to detect </a:t>
            </a:r>
            <a:r>
              <a:rPr lang="en-IN" b="1" dirty="0"/>
              <a:t>known</a:t>
            </a:r>
            <a:r>
              <a:rPr lang="en-IN" dirty="0"/>
              <a:t> viruses.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43</a:t>
            </a:fld>
            <a:endParaRPr lang="en-US">
              <a:latin typeface="Arial"/>
            </a:endParaRPr>
          </a:p>
        </p:txBody>
      </p:sp>
    </p:spTree>
    <p:extLst>
      <p:ext uri="{BB962C8B-B14F-4D97-AF65-F5344CB8AC3E}">
        <p14:creationId xmlns:p14="http://schemas.microsoft.com/office/powerpoint/2010/main" val="177469136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a:t>
            </a:r>
            <a:r>
              <a:rPr lang="en-US" dirty="0" smtClean="0"/>
              <a:t>Users : </a:t>
            </a:r>
            <a:r>
              <a:rPr lang="en-IN" dirty="0" smtClean="0">
                <a:solidFill>
                  <a:srgbClr val="0070C0"/>
                </a:solidFill>
              </a:rPr>
              <a:t>Code </a:t>
            </a:r>
            <a:r>
              <a:rPr lang="en-IN" dirty="0">
                <a:solidFill>
                  <a:srgbClr val="0070C0"/>
                </a:solidFill>
              </a:rPr>
              <a:t>Analysis</a:t>
            </a:r>
            <a:endParaRPr lang="en-US" dirty="0">
              <a:solidFill>
                <a:srgbClr val="0070C0"/>
              </a:solidFill>
            </a:endParaRPr>
          </a:p>
        </p:txBody>
      </p:sp>
      <p:sp>
        <p:nvSpPr>
          <p:cNvPr id="3" name="Content Placeholder 2"/>
          <p:cNvSpPr>
            <a:spLocks noGrp="1"/>
          </p:cNvSpPr>
          <p:nvPr>
            <p:ph idx="1"/>
          </p:nvPr>
        </p:nvSpPr>
        <p:spPr>
          <a:xfrm>
            <a:off x="609441" y="1600200"/>
            <a:ext cx="11447880" cy="4876800"/>
          </a:xfrm>
        </p:spPr>
        <p:txBody>
          <a:bodyPr/>
          <a:lstStyle/>
          <a:p>
            <a:pPr marL="0" indent="0">
              <a:buNone/>
            </a:pPr>
            <a:r>
              <a:rPr lang="en-IN" dirty="0"/>
              <a:t>This involves </a:t>
            </a:r>
            <a:r>
              <a:rPr lang="en-IN" b="1" dirty="0" err="1"/>
              <a:t>analyzing</a:t>
            </a:r>
            <a:r>
              <a:rPr lang="en-IN" b="1" dirty="0"/>
              <a:t> how a program behaves or what its code does</a:t>
            </a:r>
            <a:r>
              <a:rPr lang="en-IN" dirty="0"/>
              <a:t> before letting it run</a:t>
            </a:r>
            <a:r>
              <a:rPr lang="en-IN" dirty="0" smtClean="0"/>
              <a:t>.</a:t>
            </a:r>
          </a:p>
          <a:p>
            <a:endParaRPr lang="en-IN" dirty="0"/>
          </a:p>
          <a:p>
            <a:pPr marL="0" indent="0">
              <a:buNone/>
            </a:pPr>
            <a:r>
              <a:rPr lang="en-IN" b="1" dirty="0"/>
              <a:t>Types:</a:t>
            </a:r>
            <a:endParaRPr lang="en-IN" dirty="0"/>
          </a:p>
          <a:p>
            <a:pPr lvl="0"/>
            <a:r>
              <a:rPr lang="en-IN" b="1" dirty="0"/>
              <a:t>Static analysis</a:t>
            </a:r>
            <a:r>
              <a:rPr lang="en-IN" dirty="0"/>
              <a:t> – Looks at the code without running it.</a:t>
            </a:r>
          </a:p>
          <a:p>
            <a:pPr lvl="0"/>
            <a:r>
              <a:rPr lang="en-IN" b="1" dirty="0"/>
              <a:t>Dynamic analysis</a:t>
            </a:r>
            <a:r>
              <a:rPr lang="en-IN" dirty="0"/>
              <a:t> – Observes the program while it runs</a:t>
            </a:r>
            <a:r>
              <a:rPr lang="en-IN" dirty="0" smtClean="0"/>
              <a:t>.</a:t>
            </a:r>
          </a:p>
          <a:p>
            <a:pPr lvl="0"/>
            <a:endParaRPr lang="en-IN" dirty="0"/>
          </a:p>
          <a:p>
            <a:pPr marL="0" indent="0">
              <a:buNone/>
            </a:pPr>
            <a:r>
              <a:rPr lang="en-IN" dirty="0" smtClean="0"/>
              <a:t>Helps </a:t>
            </a:r>
            <a:r>
              <a:rPr lang="en-IN" dirty="0"/>
              <a:t>catch malware that tries to </a:t>
            </a:r>
            <a:r>
              <a:rPr lang="en-IN" b="1" dirty="0"/>
              <a:t>hide</a:t>
            </a:r>
            <a:r>
              <a:rPr lang="en-IN" dirty="0"/>
              <a:t> or </a:t>
            </a:r>
            <a:r>
              <a:rPr lang="en-IN" b="1" dirty="0"/>
              <a:t>disguise</a:t>
            </a:r>
            <a:r>
              <a:rPr lang="en-IN" dirty="0"/>
              <a:t> itself, even if it has no known signature.</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44</a:t>
            </a:fld>
            <a:endParaRPr lang="en-US">
              <a:latin typeface="Arial"/>
            </a:endParaRPr>
          </a:p>
        </p:txBody>
      </p:sp>
    </p:spTree>
    <p:extLst>
      <p:ext uri="{BB962C8B-B14F-4D97-AF65-F5344CB8AC3E}">
        <p14:creationId xmlns:p14="http://schemas.microsoft.com/office/powerpoint/2010/main" val="5780609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a:t>
            </a:r>
            <a:r>
              <a:rPr lang="en-US" dirty="0" smtClean="0"/>
              <a:t>Users : </a:t>
            </a:r>
            <a:r>
              <a:rPr lang="en-IN" dirty="0" smtClean="0">
                <a:solidFill>
                  <a:srgbClr val="0070C0"/>
                </a:solidFill>
              </a:rPr>
              <a:t>Storage </a:t>
            </a:r>
            <a:r>
              <a:rPr lang="en-IN" dirty="0">
                <a:solidFill>
                  <a:srgbClr val="0070C0"/>
                </a:solidFill>
              </a:rPr>
              <a:t>Patterns</a:t>
            </a:r>
            <a:endParaRPr lang="en-US" dirty="0">
              <a:solidFill>
                <a:srgbClr val="0070C0"/>
              </a:solidFill>
            </a:endParaRPr>
          </a:p>
        </p:txBody>
      </p:sp>
      <p:sp>
        <p:nvSpPr>
          <p:cNvPr id="3" name="Content Placeholder 2"/>
          <p:cNvSpPr>
            <a:spLocks noGrp="1"/>
          </p:cNvSpPr>
          <p:nvPr>
            <p:ph idx="1"/>
          </p:nvPr>
        </p:nvSpPr>
        <p:spPr>
          <a:xfrm>
            <a:off x="609441" y="1600200"/>
            <a:ext cx="11447880" cy="4876800"/>
          </a:xfrm>
        </p:spPr>
        <p:txBody>
          <a:bodyPr/>
          <a:lstStyle/>
          <a:p>
            <a:pPr marL="0" indent="0">
              <a:buNone/>
            </a:pPr>
            <a:r>
              <a:rPr lang="en-IN" dirty="0"/>
              <a:t>Monitoring how data is </a:t>
            </a:r>
            <a:r>
              <a:rPr lang="en-IN" b="1" dirty="0"/>
              <a:t>stored or changed</a:t>
            </a:r>
            <a:r>
              <a:rPr lang="en-IN" dirty="0"/>
              <a:t> in the system to spot unusual activity</a:t>
            </a:r>
            <a:r>
              <a:rPr lang="en-IN" dirty="0" smtClean="0"/>
              <a:t>.</a:t>
            </a:r>
          </a:p>
          <a:p>
            <a:pPr marL="0" indent="0">
              <a:buNone/>
            </a:pPr>
            <a:endParaRPr lang="en-IN" dirty="0"/>
          </a:p>
          <a:p>
            <a:pPr marL="0" indent="0">
              <a:buNone/>
            </a:pPr>
            <a:r>
              <a:rPr lang="en-IN" b="1" dirty="0"/>
              <a:t>It works as follows:</a:t>
            </a:r>
            <a:endParaRPr lang="en-IN" dirty="0"/>
          </a:p>
          <a:p>
            <a:pPr lvl="0"/>
            <a:r>
              <a:rPr lang="en-IN" dirty="0" smtClean="0"/>
              <a:t>Looks </a:t>
            </a:r>
            <a:r>
              <a:rPr lang="en-IN" dirty="0"/>
              <a:t>for strange file locations, hidden files, or changes to system folders.</a:t>
            </a:r>
          </a:p>
          <a:p>
            <a:pPr lvl="0"/>
            <a:r>
              <a:rPr lang="en-IN" dirty="0"/>
              <a:t>Some malware tries to store itself in sneaky places</a:t>
            </a:r>
            <a:r>
              <a:rPr lang="en-IN" dirty="0" smtClean="0"/>
              <a:t>.</a:t>
            </a:r>
          </a:p>
          <a:p>
            <a:pPr lvl="0"/>
            <a:endParaRPr lang="en-IN" dirty="0"/>
          </a:p>
          <a:p>
            <a:r>
              <a:rPr lang="en-IN" dirty="0" smtClean="0"/>
              <a:t>Detects </a:t>
            </a:r>
            <a:r>
              <a:rPr lang="en-IN" dirty="0"/>
              <a:t>malware based on </a:t>
            </a:r>
            <a:r>
              <a:rPr lang="en-IN" b="1" dirty="0"/>
              <a:t>how and where it hides</a:t>
            </a:r>
            <a:r>
              <a:rPr lang="en-IN" dirty="0"/>
              <a:t>, not just what it looks like.</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45</a:t>
            </a:fld>
            <a:endParaRPr lang="en-US">
              <a:latin typeface="Arial"/>
            </a:endParaRPr>
          </a:p>
        </p:txBody>
      </p:sp>
    </p:spTree>
    <p:extLst>
      <p:ext uri="{BB962C8B-B14F-4D97-AF65-F5344CB8AC3E}">
        <p14:creationId xmlns:p14="http://schemas.microsoft.com/office/powerpoint/2010/main" val="34858605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a:t>Countermeasures for Developers : </a:t>
            </a:r>
            <a:r>
              <a:rPr lang="en-US" dirty="0">
                <a:solidFill>
                  <a:srgbClr val="0070C0"/>
                </a:solidFill>
              </a:rPr>
              <a:t>Software </a:t>
            </a:r>
            <a:r>
              <a:rPr lang="en-US" dirty="0" err="1" smtClean="0">
                <a:solidFill>
                  <a:srgbClr val="0070C0"/>
                </a:solidFill>
              </a:rPr>
              <a:t>Engg</a:t>
            </a:r>
            <a:r>
              <a:rPr lang="en-US" dirty="0" smtClean="0">
                <a:solidFill>
                  <a:srgbClr val="0070C0"/>
                </a:solidFill>
              </a:rPr>
              <a:t> </a:t>
            </a:r>
            <a:r>
              <a:rPr lang="en-US" dirty="0">
                <a:solidFill>
                  <a:srgbClr val="0070C0"/>
                </a:solidFill>
              </a:rPr>
              <a:t>Techniques</a:t>
            </a:r>
          </a:p>
        </p:txBody>
      </p:sp>
      <p:sp>
        <p:nvSpPr>
          <p:cNvPr id="3" name="Content Placeholder 2"/>
          <p:cNvSpPr>
            <a:spLocks noGrp="1"/>
          </p:cNvSpPr>
          <p:nvPr>
            <p:ph idx="1"/>
          </p:nvPr>
        </p:nvSpPr>
        <p:spPr>
          <a:xfrm>
            <a:off x="471218" y="1302488"/>
            <a:ext cx="10969943" cy="5438554"/>
          </a:xfrm>
        </p:spPr>
        <p:txBody>
          <a:bodyPr>
            <a:normAutofit/>
          </a:bodyPr>
          <a:lstStyle/>
          <a:p>
            <a:pPr algn="just"/>
            <a:r>
              <a:rPr lang="en-US" dirty="0" smtClean="0"/>
              <a:t>Code </a:t>
            </a:r>
            <a:r>
              <a:rPr lang="en-US" dirty="0"/>
              <a:t>usually has a long shelf-life and is enhanced over time as needs change and </a:t>
            </a:r>
            <a:r>
              <a:rPr lang="en-US" dirty="0" smtClean="0"/>
              <a:t>faults are </a:t>
            </a:r>
            <a:r>
              <a:rPr lang="en-US" dirty="0"/>
              <a:t>found and fixed. </a:t>
            </a:r>
            <a:endParaRPr lang="en-US" dirty="0" smtClean="0"/>
          </a:p>
          <a:p>
            <a:pPr algn="just"/>
            <a:r>
              <a:rPr lang="en-US" dirty="0" smtClean="0"/>
              <a:t>For </a:t>
            </a:r>
            <a:r>
              <a:rPr lang="en-US" dirty="0"/>
              <a:t>this reason, a key principle of software engineering is to create </a:t>
            </a:r>
            <a:r>
              <a:rPr lang="en-US" dirty="0" smtClean="0"/>
              <a:t>a design </a:t>
            </a:r>
            <a:r>
              <a:rPr lang="en-US" dirty="0"/>
              <a:t>or code in small, self-contained units, called components or modules; when </a:t>
            </a:r>
            <a:r>
              <a:rPr lang="en-US" dirty="0" smtClean="0"/>
              <a:t>a system </a:t>
            </a:r>
            <a:r>
              <a:rPr lang="en-US" dirty="0"/>
              <a:t>is written this way, we say that it is </a:t>
            </a:r>
            <a:r>
              <a:rPr lang="en-US" b="1" dirty="0"/>
              <a:t>modular</a:t>
            </a:r>
            <a:r>
              <a:rPr lang="en-US" dirty="0"/>
              <a:t>. Modularity </a:t>
            </a:r>
            <a:r>
              <a:rPr lang="en-US" dirty="0" smtClean="0"/>
              <a:t>offers advantages for program </a:t>
            </a:r>
            <a:r>
              <a:rPr lang="en-US" dirty="0"/>
              <a:t>development in general and security in particular</a:t>
            </a:r>
            <a:r>
              <a:rPr lang="en-US" dirty="0" smtClean="0"/>
              <a:t>.</a:t>
            </a:r>
          </a:p>
          <a:p>
            <a:pPr algn="just"/>
            <a:endParaRPr lang="en-US" dirty="0" smtClean="0"/>
          </a:p>
          <a:p>
            <a:pPr algn="just"/>
            <a:r>
              <a:rPr lang="en-US" dirty="0"/>
              <a:t>If a component is isolated from the effects of other components, then the system </a:t>
            </a:r>
            <a:r>
              <a:rPr lang="en-US" dirty="0" smtClean="0"/>
              <a:t>is designed </a:t>
            </a:r>
            <a:r>
              <a:rPr lang="en-US" dirty="0"/>
              <a:t>in a way that limits the damage any fault causes. Maintaining the system is </a:t>
            </a:r>
            <a:r>
              <a:rPr lang="en-US" dirty="0" smtClean="0"/>
              <a:t>easier because </a:t>
            </a:r>
            <a:r>
              <a:rPr lang="en-US" dirty="0"/>
              <a:t>any problem that arises connects with the fault that caused it. Testing </a:t>
            </a:r>
            <a:r>
              <a:rPr lang="en-US" dirty="0" smtClean="0"/>
              <a:t>is </a:t>
            </a:r>
            <a:r>
              <a:rPr lang="en-US" dirty="0"/>
              <a:t>simpler, since changes to an isolated component do not affect </a:t>
            </a:r>
            <a:r>
              <a:rPr lang="en-US" dirty="0" smtClean="0"/>
              <a:t>other components</a:t>
            </a:r>
            <a:r>
              <a:rPr lang="en-US" dirty="0"/>
              <a:t>. And developers can readily see where vulnerabilities may lie if </a:t>
            </a:r>
            <a:r>
              <a:rPr lang="en-US" dirty="0" smtClean="0"/>
              <a:t>the component </a:t>
            </a:r>
            <a:r>
              <a:rPr lang="en-US" dirty="0"/>
              <a:t>is isolated. We call this isolation </a:t>
            </a:r>
            <a:r>
              <a:rPr lang="en-US" b="1" dirty="0"/>
              <a:t>encapsulation</a:t>
            </a:r>
            <a:r>
              <a:rPr lang="en-US" dirty="0"/>
              <a:t>.</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46</a:t>
            </a:fld>
            <a:endParaRPr lang="en-US">
              <a:latin typeface="Arial"/>
            </a:endParaRPr>
          </a:p>
        </p:txBody>
      </p:sp>
    </p:spTree>
    <p:extLst>
      <p:ext uri="{BB962C8B-B14F-4D97-AF65-F5344CB8AC3E}">
        <p14:creationId xmlns:p14="http://schemas.microsoft.com/office/powerpoint/2010/main" val="358609197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a:t>Countermeasures for Developers : </a:t>
            </a:r>
            <a:r>
              <a:rPr lang="en-US" dirty="0">
                <a:solidFill>
                  <a:srgbClr val="0070C0"/>
                </a:solidFill>
              </a:rPr>
              <a:t>Software </a:t>
            </a:r>
            <a:r>
              <a:rPr lang="en-US" dirty="0" err="1" smtClean="0">
                <a:solidFill>
                  <a:srgbClr val="0070C0"/>
                </a:solidFill>
              </a:rPr>
              <a:t>Engg</a:t>
            </a:r>
            <a:r>
              <a:rPr lang="en-US" dirty="0" smtClean="0">
                <a:solidFill>
                  <a:srgbClr val="0070C0"/>
                </a:solidFill>
              </a:rPr>
              <a:t> </a:t>
            </a:r>
            <a:r>
              <a:rPr lang="en-US" dirty="0">
                <a:solidFill>
                  <a:srgbClr val="0070C0"/>
                </a:solidFill>
              </a:rPr>
              <a:t>Techniques</a:t>
            </a:r>
          </a:p>
        </p:txBody>
      </p:sp>
      <p:sp>
        <p:nvSpPr>
          <p:cNvPr id="3" name="Content Placeholder 2"/>
          <p:cNvSpPr>
            <a:spLocks noGrp="1"/>
          </p:cNvSpPr>
          <p:nvPr>
            <p:ph idx="1"/>
          </p:nvPr>
        </p:nvSpPr>
        <p:spPr>
          <a:xfrm>
            <a:off x="471218" y="1302488"/>
            <a:ext cx="10969943" cy="5438554"/>
          </a:xfrm>
        </p:spPr>
        <p:txBody>
          <a:bodyPr>
            <a:normAutofit/>
          </a:bodyPr>
          <a:lstStyle/>
          <a:p>
            <a:pPr algn="just"/>
            <a:r>
              <a:rPr lang="en-US" dirty="0" smtClean="0"/>
              <a:t>Code </a:t>
            </a:r>
            <a:r>
              <a:rPr lang="en-US" dirty="0"/>
              <a:t>usually has a long shelf-life and is enhanced over time as needs change and </a:t>
            </a:r>
            <a:r>
              <a:rPr lang="en-US" dirty="0" smtClean="0"/>
              <a:t>faults are </a:t>
            </a:r>
            <a:r>
              <a:rPr lang="en-US" dirty="0"/>
              <a:t>found and fixed. </a:t>
            </a:r>
            <a:endParaRPr lang="en-US" dirty="0" smtClean="0"/>
          </a:p>
          <a:p>
            <a:pPr algn="just"/>
            <a:r>
              <a:rPr lang="en-US" dirty="0" smtClean="0"/>
              <a:t>For </a:t>
            </a:r>
            <a:r>
              <a:rPr lang="en-US" dirty="0"/>
              <a:t>this reason, a key principle of software engineering is to create </a:t>
            </a:r>
            <a:r>
              <a:rPr lang="en-US" dirty="0" smtClean="0"/>
              <a:t>a design </a:t>
            </a:r>
            <a:r>
              <a:rPr lang="en-US" dirty="0"/>
              <a:t>or code in small, self-contained units, called components or modules; when </a:t>
            </a:r>
            <a:r>
              <a:rPr lang="en-US" dirty="0" smtClean="0"/>
              <a:t>a system </a:t>
            </a:r>
            <a:r>
              <a:rPr lang="en-US" dirty="0"/>
              <a:t>is written this way, we say that it is </a:t>
            </a:r>
            <a:r>
              <a:rPr lang="en-US" b="1" dirty="0"/>
              <a:t>modular</a:t>
            </a:r>
            <a:r>
              <a:rPr lang="en-US" dirty="0"/>
              <a:t>. Modularity </a:t>
            </a:r>
            <a:r>
              <a:rPr lang="en-US" dirty="0" smtClean="0"/>
              <a:t>offers advantages for program </a:t>
            </a:r>
            <a:r>
              <a:rPr lang="en-US" dirty="0"/>
              <a:t>development in general and security in particular</a:t>
            </a:r>
            <a:r>
              <a:rPr lang="en-US" dirty="0" smtClean="0"/>
              <a:t>.</a:t>
            </a:r>
          </a:p>
          <a:p>
            <a:pPr algn="just"/>
            <a:endParaRPr lang="en-US" dirty="0" smtClean="0"/>
          </a:p>
          <a:p>
            <a:pPr algn="just"/>
            <a:r>
              <a:rPr lang="en-US" dirty="0"/>
              <a:t>If a component is isolated from the effects of other components, then the system </a:t>
            </a:r>
            <a:r>
              <a:rPr lang="en-US" dirty="0" smtClean="0"/>
              <a:t>is designed </a:t>
            </a:r>
            <a:r>
              <a:rPr lang="en-US" dirty="0"/>
              <a:t>in a way that limits the damage any fault causes. Maintaining the system is </a:t>
            </a:r>
            <a:r>
              <a:rPr lang="en-US" dirty="0" smtClean="0"/>
              <a:t>easier because </a:t>
            </a:r>
            <a:r>
              <a:rPr lang="en-US" dirty="0"/>
              <a:t>any problem that arises connects with the fault that caused it. Testing </a:t>
            </a:r>
            <a:r>
              <a:rPr lang="en-US" dirty="0" smtClean="0"/>
              <a:t>is </a:t>
            </a:r>
            <a:r>
              <a:rPr lang="en-US" dirty="0"/>
              <a:t>simpler, since changes to an isolated component do not affect </a:t>
            </a:r>
            <a:r>
              <a:rPr lang="en-US" dirty="0" smtClean="0"/>
              <a:t>other components</a:t>
            </a:r>
            <a:r>
              <a:rPr lang="en-US" dirty="0"/>
              <a:t>. And developers can readily see where vulnerabilities may lie if </a:t>
            </a:r>
            <a:r>
              <a:rPr lang="en-US" dirty="0" smtClean="0"/>
              <a:t>the component </a:t>
            </a:r>
            <a:r>
              <a:rPr lang="en-US" dirty="0"/>
              <a:t>is isolated. We call this isolation </a:t>
            </a:r>
            <a:r>
              <a:rPr lang="en-US" b="1" dirty="0"/>
              <a:t>encapsulation</a:t>
            </a:r>
            <a:r>
              <a:rPr lang="en-US" dirty="0"/>
              <a:t>.</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47</a:t>
            </a:fld>
            <a:endParaRPr lang="en-US">
              <a:latin typeface="Arial"/>
            </a:endParaRPr>
          </a:p>
        </p:txBody>
      </p:sp>
    </p:spTree>
    <p:extLst>
      <p:ext uri="{BB962C8B-B14F-4D97-AF65-F5344CB8AC3E}">
        <p14:creationId xmlns:p14="http://schemas.microsoft.com/office/powerpoint/2010/main" val="156486670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a:t>Countermeasures for Developers : </a:t>
            </a:r>
            <a:r>
              <a:rPr lang="en-US" dirty="0">
                <a:solidFill>
                  <a:srgbClr val="0070C0"/>
                </a:solidFill>
              </a:rPr>
              <a:t>Software </a:t>
            </a:r>
            <a:r>
              <a:rPr lang="en-US" dirty="0" err="1" smtClean="0">
                <a:solidFill>
                  <a:srgbClr val="0070C0"/>
                </a:solidFill>
              </a:rPr>
              <a:t>Engg</a:t>
            </a:r>
            <a:r>
              <a:rPr lang="en-US" dirty="0" smtClean="0">
                <a:solidFill>
                  <a:srgbClr val="0070C0"/>
                </a:solidFill>
              </a:rPr>
              <a:t> </a:t>
            </a:r>
            <a:r>
              <a:rPr lang="en-US" dirty="0">
                <a:solidFill>
                  <a:srgbClr val="0070C0"/>
                </a:solidFill>
              </a:rPr>
              <a:t>Techniques</a:t>
            </a:r>
          </a:p>
        </p:txBody>
      </p:sp>
      <p:sp>
        <p:nvSpPr>
          <p:cNvPr id="3" name="Content Placeholder 2"/>
          <p:cNvSpPr>
            <a:spLocks noGrp="1"/>
          </p:cNvSpPr>
          <p:nvPr>
            <p:ph idx="1"/>
          </p:nvPr>
        </p:nvSpPr>
        <p:spPr>
          <a:xfrm>
            <a:off x="471218" y="1302488"/>
            <a:ext cx="11458512" cy="2705986"/>
          </a:xfrm>
        </p:spPr>
        <p:txBody>
          <a:bodyPr>
            <a:normAutofit/>
          </a:bodyPr>
          <a:lstStyle/>
          <a:p>
            <a:pPr algn="just"/>
            <a:r>
              <a:rPr lang="en-US" b="1" dirty="0"/>
              <a:t>Inf</a:t>
            </a:r>
            <a:r>
              <a:rPr lang="en-US" b="1" dirty="0" smtClean="0"/>
              <a:t>ormation </a:t>
            </a:r>
            <a:r>
              <a:rPr lang="en-US" b="1" dirty="0"/>
              <a:t>hiding </a:t>
            </a:r>
            <a:r>
              <a:rPr lang="en-US" dirty="0"/>
              <a:t>is another characteristic of modular software. When information </a:t>
            </a:r>
            <a:r>
              <a:rPr lang="en-US" dirty="0" smtClean="0"/>
              <a:t>is hidden</a:t>
            </a:r>
            <a:r>
              <a:rPr lang="en-US" dirty="0"/>
              <a:t>, each component hides its precise implementation or some other design </a:t>
            </a:r>
            <a:r>
              <a:rPr lang="en-US" dirty="0" smtClean="0"/>
              <a:t>decision from </a:t>
            </a:r>
            <a:r>
              <a:rPr lang="en-US" dirty="0"/>
              <a:t>the others. </a:t>
            </a:r>
            <a:endParaRPr lang="en-US" dirty="0" smtClean="0"/>
          </a:p>
          <a:p>
            <a:pPr algn="just"/>
            <a:endParaRPr lang="en-US" dirty="0"/>
          </a:p>
          <a:p>
            <a:pPr algn="just"/>
            <a:r>
              <a:rPr lang="en-US" dirty="0" smtClean="0"/>
              <a:t>Thus</a:t>
            </a:r>
            <a:r>
              <a:rPr lang="en-US" dirty="0"/>
              <a:t>, when a change is needed, the overall design can remain intact </a:t>
            </a:r>
            <a:r>
              <a:rPr lang="en-US" dirty="0" smtClean="0"/>
              <a:t>while only </a:t>
            </a:r>
            <a:r>
              <a:rPr lang="en-US" dirty="0"/>
              <a:t>the necessary changes are made to particular components.</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48</a:t>
            </a:fld>
            <a:endParaRPr lang="en-US">
              <a:latin typeface="Arial"/>
            </a:endParaRPr>
          </a:p>
        </p:txBody>
      </p:sp>
    </p:spTree>
    <p:extLst>
      <p:ext uri="{BB962C8B-B14F-4D97-AF65-F5344CB8AC3E}">
        <p14:creationId xmlns:p14="http://schemas.microsoft.com/office/powerpoint/2010/main" val="304270626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a:t>
            </a:r>
            <a:r>
              <a:rPr lang="en-US" dirty="0" smtClean="0"/>
              <a:t>: </a:t>
            </a:r>
            <a:r>
              <a:rPr lang="en-US" dirty="0">
                <a:solidFill>
                  <a:srgbClr val="0070C0"/>
                </a:solidFill>
              </a:rPr>
              <a:t>Modularity </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49</a:t>
            </a:fld>
            <a:endParaRPr lang="en-US">
              <a:latin typeface="Aria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0367" y="1707412"/>
            <a:ext cx="5768458" cy="4321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74428" y="1358228"/>
            <a:ext cx="6230679" cy="5324535"/>
          </a:xfrm>
          <a:prstGeom prst="rect">
            <a:avLst/>
          </a:prstGeom>
        </p:spPr>
        <p:txBody>
          <a:bodyPr wrap="square">
            <a:spAutoFit/>
          </a:bodyPr>
          <a:lstStyle/>
          <a:p>
            <a:pPr algn="just"/>
            <a:r>
              <a:rPr lang="en-US" sz="2000" dirty="0"/>
              <a:t>Modularization is the process of dividing a task into subtasks, as depicted in </a:t>
            </a:r>
            <a:r>
              <a:rPr lang="en-US" sz="2000" dirty="0" smtClean="0"/>
              <a:t>Figure.  This </a:t>
            </a:r>
            <a:r>
              <a:rPr lang="en-US" sz="2000" dirty="0"/>
              <a:t>division is usually done on a logical or functional basis, so that each </a:t>
            </a:r>
            <a:r>
              <a:rPr lang="en-US" sz="2000" dirty="0" smtClean="0"/>
              <a:t>component performs </a:t>
            </a:r>
            <a:r>
              <a:rPr lang="en-US" sz="2000" dirty="0"/>
              <a:t>a separate, independent part of the task. </a:t>
            </a:r>
            <a:endParaRPr lang="en-US" sz="2000" dirty="0" smtClean="0"/>
          </a:p>
          <a:p>
            <a:pPr algn="just"/>
            <a:endParaRPr lang="en-US" sz="2000" dirty="0"/>
          </a:p>
          <a:p>
            <a:pPr algn="just"/>
            <a:r>
              <a:rPr lang="en-US" sz="2000" dirty="0" smtClean="0"/>
              <a:t>The </a:t>
            </a:r>
            <a:r>
              <a:rPr lang="en-US" sz="2000" dirty="0"/>
              <a:t>goal is for each component to </a:t>
            </a:r>
            <a:r>
              <a:rPr lang="en-US" sz="2000" dirty="0" smtClean="0"/>
              <a:t>meet </a:t>
            </a:r>
            <a:r>
              <a:rPr lang="en-IN" sz="2000" dirty="0" smtClean="0"/>
              <a:t>four </a:t>
            </a:r>
            <a:r>
              <a:rPr lang="en-IN" sz="2000" dirty="0"/>
              <a:t>conditions:</a:t>
            </a:r>
          </a:p>
          <a:p>
            <a:pPr algn="just"/>
            <a:r>
              <a:rPr lang="en-IN" sz="2000" dirty="0"/>
              <a:t>• </a:t>
            </a:r>
            <a:r>
              <a:rPr lang="en-IN" sz="2000" i="1" dirty="0"/>
              <a:t>single-purpose</a:t>
            </a:r>
            <a:r>
              <a:rPr lang="en-IN" sz="2000" dirty="0"/>
              <a:t>, performs one function</a:t>
            </a:r>
          </a:p>
          <a:p>
            <a:pPr algn="just"/>
            <a:r>
              <a:rPr lang="en-US" sz="2000" dirty="0"/>
              <a:t>• </a:t>
            </a:r>
            <a:r>
              <a:rPr lang="en-US" sz="2000" i="1" dirty="0"/>
              <a:t>small</a:t>
            </a:r>
            <a:r>
              <a:rPr lang="en-US" sz="2000" dirty="0"/>
              <a:t>, consists of an amount of information for which a human can readily</a:t>
            </a:r>
          </a:p>
          <a:p>
            <a:pPr algn="just"/>
            <a:r>
              <a:rPr lang="en-US" sz="2000" dirty="0"/>
              <a:t>grasp both structure and content</a:t>
            </a:r>
          </a:p>
          <a:p>
            <a:pPr algn="just"/>
            <a:r>
              <a:rPr lang="en-US" sz="2000" dirty="0"/>
              <a:t>• </a:t>
            </a:r>
            <a:r>
              <a:rPr lang="en-US" sz="2000" i="1" dirty="0"/>
              <a:t>simple</a:t>
            </a:r>
            <a:r>
              <a:rPr lang="en-US" sz="2000" dirty="0"/>
              <a:t>, is of a low degree of complexity so that a human can readily</a:t>
            </a:r>
          </a:p>
          <a:p>
            <a:pPr algn="just"/>
            <a:r>
              <a:rPr lang="en-US" sz="2000" dirty="0"/>
              <a:t>understand the purpose and structure of the module</a:t>
            </a:r>
          </a:p>
          <a:p>
            <a:pPr algn="just"/>
            <a:r>
              <a:rPr lang="en-US" sz="2000" dirty="0"/>
              <a:t>• </a:t>
            </a:r>
            <a:r>
              <a:rPr lang="en-US" sz="2000" i="1" dirty="0"/>
              <a:t>independent</a:t>
            </a:r>
            <a:r>
              <a:rPr lang="en-US" sz="2000" dirty="0"/>
              <a:t>, performs a task isolated from other modules</a:t>
            </a:r>
            <a:endParaRPr lang="en-IN" sz="2000" dirty="0"/>
          </a:p>
        </p:txBody>
      </p:sp>
    </p:spTree>
    <p:extLst>
      <p:ext uri="{BB962C8B-B14F-4D97-AF65-F5344CB8AC3E}">
        <p14:creationId xmlns:p14="http://schemas.microsoft.com/office/powerpoint/2010/main" val="38543616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smtClean="0">
                <a:solidFill>
                  <a:srgbClr val="0070C0"/>
                </a:solidFill>
              </a:rPr>
              <a:t>Coupling</a:t>
            </a:r>
            <a:endParaRPr lang="en-US" dirty="0">
              <a:solidFill>
                <a:srgbClr val="0070C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50</a:t>
            </a:fld>
            <a:endParaRPr lang="en-US">
              <a:latin typeface="Arial"/>
            </a:endParaRPr>
          </a:p>
        </p:txBody>
      </p:sp>
      <p:sp>
        <p:nvSpPr>
          <p:cNvPr id="6" name="Rectangle 5"/>
          <p:cNvSpPr/>
          <p:nvPr/>
        </p:nvSpPr>
        <p:spPr>
          <a:xfrm>
            <a:off x="244549" y="1512240"/>
            <a:ext cx="11823403" cy="1323439"/>
          </a:xfrm>
          <a:prstGeom prst="rect">
            <a:avLst/>
          </a:prstGeom>
        </p:spPr>
        <p:txBody>
          <a:bodyPr wrap="square">
            <a:spAutoFit/>
          </a:bodyPr>
          <a:lstStyle/>
          <a:p>
            <a:r>
              <a:rPr lang="en-US" sz="2000" b="1" dirty="0"/>
              <a:t>Coupling </a:t>
            </a:r>
            <a:r>
              <a:rPr lang="en-US" sz="2000" dirty="0"/>
              <a:t>refers to the degree with which a component depends on other components </a:t>
            </a:r>
            <a:r>
              <a:rPr lang="en-US" sz="2000" dirty="0" smtClean="0"/>
              <a:t>in the </a:t>
            </a:r>
            <a:r>
              <a:rPr lang="en-US" sz="2000" dirty="0"/>
              <a:t>system. </a:t>
            </a:r>
            <a:endParaRPr lang="en-US" sz="2000" dirty="0" smtClean="0"/>
          </a:p>
          <a:p>
            <a:endParaRPr lang="en-US" sz="2000" dirty="0"/>
          </a:p>
          <a:p>
            <a:r>
              <a:rPr lang="en-US" sz="2000" dirty="0" smtClean="0"/>
              <a:t>Thus</a:t>
            </a:r>
            <a:r>
              <a:rPr lang="en-US" sz="2000" dirty="0"/>
              <a:t>, low or loose coupling is better than high or tight coupling because </a:t>
            </a:r>
            <a:r>
              <a:rPr lang="en-US" sz="2000" dirty="0" smtClean="0"/>
              <a:t>the loosely </a:t>
            </a:r>
            <a:r>
              <a:rPr lang="en-US" sz="2000" dirty="0"/>
              <a:t>coupled components are free from unwitting interference from other components.</a:t>
            </a:r>
            <a:endParaRPr lang="en-IN" sz="2000"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0941" y="3593915"/>
            <a:ext cx="9357148" cy="28600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p:nvPr/>
        </p:nvSpPr>
        <p:spPr>
          <a:xfrm>
            <a:off x="520996" y="2926448"/>
            <a:ext cx="10696353" cy="369332"/>
          </a:xfrm>
          <a:prstGeom prst="rect">
            <a:avLst/>
          </a:prstGeom>
        </p:spPr>
        <p:txBody>
          <a:bodyPr wrap="square">
            <a:spAutoFit/>
          </a:bodyPr>
          <a:lstStyle/>
          <a:p>
            <a:pPr algn="ctr"/>
            <a:r>
              <a:rPr lang="en-US" b="1" dirty="0" smtClean="0"/>
              <a:t>Types of Coupling</a:t>
            </a:r>
            <a:endParaRPr lang="en-IN" dirty="0"/>
          </a:p>
        </p:txBody>
      </p:sp>
    </p:spTree>
    <p:extLst>
      <p:ext uri="{BB962C8B-B14F-4D97-AF65-F5344CB8AC3E}">
        <p14:creationId xmlns:p14="http://schemas.microsoft.com/office/powerpoint/2010/main" val="11132343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a:solidFill>
                  <a:srgbClr val="0070C0"/>
                </a:solidFill>
              </a:rPr>
              <a:t>Encapsulation</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51</a:t>
            </a:fld>
            <a:endParaRPr lang="en-US">
              <a:latin typeface="Arial"/>
            </a:endParaRPr>
          </a:p>
        </p:txBody>
      </p:sp>
      <p:sp>
        <p:nvSpPr>
          <p:cNvPr id="6" name="Rectangle 5"/>
          <p:cNvSpPr/>
          <p:nvPr/>
        </p:nvSpPr>
        <p:spPr>
          <a:xfrm>
            <a:off x="138224" y="1512240"/>
            <a:ext cx="11823403" cy="1631216"/>
          </a:xfrm>
          <a:prstGeom prst="rect">
            <a:avLst/>
          </a:prstGeom>
        </p:spPr>
        <p:txBody>
          <a:bodyPr wrap="square">
            <a:spAutoFit/>
          </a:bodyPr>
          <a:lstStyle/>
          <a:p>
            <a:pPr algn="just"/>
            <a:r>
              <a:rPr lang="en-US" sz="2000" b="1" dirty="0"/>
              <a:t>Encapsulation </a:t>
            </a:r>
            <a:r>
              <a:rPr lang="en-US" sz="2000" dirty="0"/>
              <a:t>hides a component’s implementation details, but it does not </a:t>
            </a:r>
            <a:r>
              <a:rPr lang="en-US" sz="2000" dirty="0" smtClean="0"/>
              <a:t>necessarily mean </a:t>
            </a:r>
            <a:r>
              <a:rPr lang="en-US" sz="2000" dirty="0"/>
              <a:t>complete isolation. Many components must share information with </a:t>
            </a:r>
            <a:r>
              <a:rPr lang="en-US" sz="2000" dirty="0" smtClean="0"/>
              <a:t>other components</a:t>
            </a:r>
            <a:r>
              <a:rPr lang="en-US" sz="2000" dirty="0"/>
              <a:t>, usually with good reason. </a:t>
            </a:r>
            <a:endParaRPr lang="en-US" sz="2000" dirty="0" smtClean="0"/>
          </a:p>
          <a:p>
            <a:pPr algn="just"/>
            <a:endParaRPr lang="en-US" sz="2000" dirty="0"/>
          </a:p>
          <a:p>
            <a:pPr algn="just"/>
            <a:r>
              <a:rPr lang="en-US" sz="2000" dirty="0" smtClean="0"/>
              <a:t>However</a:t>
            </a:r>
            <a:r>
              <a:rPr lang="en-US" sz="2000" dirty="0"/>
              <a:t>, this sharing is carefully documented </a:t>
            </a:r>
            <a:r>
              <a:rPr lang="en-US" sz="2000" dirty="0" smtClean="0"/>
              <a:t>so that </a:t>
            </a:r>
            <a:r>
              <a:rPr lang="en-US" sz="2000" dirty="0"/>
              <a:t>a component is affected only in known ways by other components in the </a:t>
            </a:r>
            <a:r>
              <a:rPr lang="en-US" sz="2000" dirty="0" smtClean="0"/>
              <a:t>system. Sharing </a:t>
            </a:r>
            <a:r>
              <a:rPr lang="en-US" sz="2000" dirty="0"/>
              <a:t>is minimized so that the fewest interfaces possible are used.</a:t>
            </a:r>
            <a:endParaRPr lang="en-IN" sz="2000" dirty="0"/>
          </a:p>
        </p:txBody>
      </p:sp>
    </p:spTree>
    <p:extLst>
      <p:ext uri="{BB962C8B-B14F-4D97-AF65-F5344CB8AC3E}">
        <p14:creationId xmlns:p14="http://schemas.microsoft.com/office/powerpoint/2010/main" val="28577331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a:solidFill>
                  <a:srgbClr val="0070C0"/>
                </a:solidFill>
              </a:rPr>
              <a:t>Information </a:t>
            </a:r>
            <a:r>
              <a:rPr lang="en-US" dirty="0" smtClean="0">
                <a:solidFill>
                  <a:srgbClr val="0070C0"/>
                </a:solidFill>
              </a:rPr>
              <a:t>Hiding</a:t>
            </a:r>
            <a:endParaRPr lang="en-US" dirty="0">
              <a:solidFill>
                <a:srgbClr val="0070C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52</a:t>
            </a:fld>
            <a:endParaRPr lang="en-US">
              <a:latin typeface="Arial"/>
            </a:endParaRPr>
          </a:p>
        </p:txBody>
      </p:sp>
      <p:sp>
        <p:nvSpPr>
          <p:cNvPr id="6" name="Rectangle 5"/>
          <p:cNvSpPr/>
          <p:nvPr/>
        </p:nvSpPr>
        <p:spPr>
          <a:xfrm>
            <a:off x="1818168" y="1512240"/>
            <a:ext cx="7655441" cy="400110"/>
          </a:xfrm>
          <a:prstGeom prst="rect">
            <a:avLst/>
          </a:prstGeom>
        </p:spPr>
        <p:txBody>
          <a:bodyPr wrap="square">
            <a:spAutoFit/>
          </a:bodyPr>
          <a:lstStyle/>
          <a:p>
            <a:pPr algn="ctr"/>
            <a:r>
              <a:rPr lang="en-US" sz="2000" b="1" dirty="0"/>
              <a:t>Information </a:t>
            </a:r>
            <a:r>
              <a:rPr lang="en-US" sz="2000" b="1" dirty="0" smtClean="0"/>
              <a:t>Hiding: </a:t>
            </a:r>
            <a:r>
              <a:rPr lang="en-US" sz="2000" b="1" dirty="0"/>
              <a:t>describing what a module does, not how</a:t>
            </a:r>
            <a:endParaRPr lang="en-IN"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8391" y="2940568"/>
            <a:ext cx="5324475" cy="1657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02781" y="2077771"/>
            <a:ext cx="6425610" cy="4154984"/>
          </a:xfrm>
          <a:prstGeom prst="rect">
            <a:avLst/>
          </a:prstGeom>
        </p:spPr>
        <p:txBody>
          <a:bodyPr wrap="square">
            <a:spAutoFit/>
          </a:bodyPr>
          <a:lstStyle/>
          <a:p>
            <a:pPr algn="just"/>
            <a:r>
              <a:rPr lang="en-US" sz="2200" dirty="0"/>
              <a:t>Developers who work where </a:t>
            </a:r>
            <a:r>
              <a:rPr lang="en-US" sz="2200" dirty="0">
                <a:solidFill>
                  <a:srgbClr val="0070C0"/>
                </a:solidFill>
              </a:rPr>
              <a:t>modularization</a:t>
            </a:r>
            <a:r>
              <a:rPr lang="en-US" sz="2200" dirty="0"/>
              <a:t> is stressed can be sure that </a:t>
            </a:r>
            <a:r>
              <a:rPr lang="en-US" sz="2200" dirty="0" smtClean="0"/>
              <a:t>other components </a:t>
            </a:r>
            <a:r>
              <a:rPr lang="en-US" sz="2200" dirty="0"/>
              <a:t>will have limited effect on the ones they write. </a:t>
            </a:r>
            <a:endParaRPr lang="en-US" sz="2200" dirty="0" smtClean="0"/>
          </a:p>
          <a:p>
            <a:pPr algn="just"/>
            <a:endParaRPr lang="en-US" sz="2200" dirty="0"/>
          </a:p>
          <a:p>
            <a:pPr algn="just"/>
            <a:r>
              <a:rPr lang="en-US" sz="2200" dirty="0" smtClean="0"/>
              <a:t>Thus</a:t>
            </a:r>
            <a:r>
              <a:rPr lang="en-US" sz="2200" dirty="0"/>
              <a:t>, we can think of </a:t>
            </a:r>
            <a:r>
              <a:rPr lang="en-US" sz="2200" dirty="0" smtClean="0"/>
              <a:t>a component </a:t>
            </a:r>
            <a:r>
              <a:rPr lang="en-US" sz="2200" dirty="0"/>
              <a:t>as a kind of black box, with certain well-defined inputs and outputs and a </a:t>
            </a:r>
            <a:r>
              <a:rPr lang="en-US" sz="2200" dirty="0" err="1" smtClean="0"/>
              <a:t>welldefined</a:t>
            </a:r>
            <a:r>
              <a:rPr lang="en-US" sz="2200" dirty="0"/>
              <a:t> </a:t>
            </a:r>
            <a:r>
              <a:rPr lang="en-US" sz="2200" dirty="0" smtClean="0"/>
              <a:t>function</a:t>
            </a:r>
            <a:r>
              <a:rPr lang="en-US" sz="2200" dirty="0"/>
              <a:t>. </a:t>
            </a:r>
            <a:endParaRPr lang="en-US" sz="2200" dirty="0" smtClean="0"/>
          </a:p>
          <a:p>
            <a:pPr algn="just"/>
            <a:endParaRPr lang="en-US" sz="2200" dirty="0"/>
          </a:p>
          <a:p>
            <a:pPr algn="just"/>
            <a:r>
              <a:rPr lang="en-US" sz="2200" dirty="0" smtClean="0"/>
              <a:t>Other </a:t>
            </a:r>
            <a:r>
              <a:rPr lang="en-US" sz="2200" dirty="0"/>
              <a:t>components’ designers do </a:t>
            </a:r>
            <a:r>
              <a:rPr lang="en-US" sz="2200" dirty="0" smtClean="0"/>
              <a:t>not need </a:t>
            </a:r>
            <a:r>
              <a:rPr lang="en-US" sz="2200" dirty="0"/>
              <a:t>to know how the </a:t>
            </a:r>
            <a:r>
              <a:rPr lang="en-US" sz="2200" dirty="0" smtClean="0"/>
              <a:t>module completes </a:t>
            </a:r>
            <a:r>
              <a:rPr lang="en-US" sz="2200" dirty="0"/>
              <a:t>its function; it </a:t>
            </a:r>
            <a:r>
              <a:rPr lang="en-US" sz="2200" dirty="0" smtClean="0"/>
              <a:t>is enough </a:t>
            </a:r>
            <a:r>
              <a:rPr lang="en-US" sz="2200" dirty="0"/>
              <a:t>to be assured that the component performs its task </a:t>
            </a:r>
            <a:r>
              <a:rPr lang="en-US" sz="2200" dirty="0" smtClean="0"/>
              <a:t>in </a:t>
            </a:r>
            <a:r>
              <a:rPr lang="en-IN" sz="2200" dirty="0" smtClean="0"/>
              <a:t>some </a:t>
            </a:r>
            <a:r>
              <a:rPr lang="en-IN" sz="2200" dirty="0"/>
              <a:t>correct manner.</a:t>
            </a:r>
          </a:p>
        </p:txBody>
      </p:sp>
    </p:spTree>
    <p:extLst>
      <p:ext uri="{BB962C8B-B14F-4D97-AF65-F5344CB8AC3E}">
        <p14:creationId xmlns:p14="http://schemas.microsoft.com/office/powerpoint/2010/main" val="76092273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a:solidFill>
                  <a:srgbClr val="0070C0"/>
                </a:solidFill>
              </a:rPr>
              <a:t>Mutual Suspicion</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53</a:t>
            </a:fld>
            <a:endParaRPr lang="en-US">
              <a:latin typeface="Arial"/>
            </a:endParaRPr>
          </a:p>
        </p:txBody>
      </p:sp>
      <p:sp>
        <p:nvSpPr>
          <p:cNvPr id="6" name="Rectangle 5"/>
          <p:cNvSpPr/>
          <p:nvPr/>
        </p:nvSpPr>
        <p:spPr>
          <a:xfrm>
            <a:off x="138224" y="1512240"/>
            <a:ext cx="11823403" cy="4893647"/>
          </a:xfrm>
          <a:prstGeom prst="rect">
            <a:avLst/>
          </a:prstGeom>
        </p:spPr>
        <p:txBody>
          <a:bodyPr wrap="square">
            <a:spAutoFit/>
          </a:bodyPr>
          <a:lstStyle/>
          <a:p>
            <a:pPr algn="just"/>
            <a:r>
              <a:rPr lang="en-US" sz="2400" dirty="0" smtClean="0">
                <a:latin typeface="Times New Roman" panose="02020603050405020304" pitchFamily="18" charset="0"/>
                <a:cs typeface="Times New Roman" panose="02020603050405020304" pitchFamily="18" charset="0"/>
              </a:rPr>
              <a:t>The concept </a:t>
            </a:r>
            <a:r>
              <a:rPr lang="en-US" sz="2400" dirty="0">
                <a:latin typeface="Times New Roman" panose="02020603050405020304" pitchFamily="18" charset="0"/>
                <a:cs typeface="Times New Roman" panose="02020603050405020304" pitchFamily="18" charset="0"/>
              </a:rPr>
              <a:t>of </a:t>
            </a:r>
            <a:r>
              <a:rPr lang="en-US" sz="2400" b="1" dirty="0">
                <a:solidFill>
                  <a:srgbClr val="FF0000"/>
                </a:solidFill>
                <a:latin typeface="Times New Roman" panose="02020603050405020304" pitchFamily="18" charset="0"/>
                <a:cs typeface="Times New Roman" panose="02020603050405020304" pitchFamily="18" charset="0"/>
              </a:rPr>
              <a:t>mutual suspicion </a:t>
            </a:r>
            <a:r>
              <a:rPr lang="en-US" sz="2400" dirty="0">
                <a:latin typeface="Times New Roman" panose="02020603050405020304" pitchFamily="18" charset="0"/>
                <a:cs typeface="Times New Roman" panose="02020603050405020304" pitchFamily="18" charset="0"/>
              </a:rPr>
              <a:t>to describe the relationship </a:t>
            </a:r>
            <a:r>
              <a:rPr lang="en-US" sz="2400" dirty="0" smtClean="0">
                <a:latin typeface="Times New Roman" panose="02020603050405020304" pitchFamily="18" charset="0"/>
                <a:cs typeface="Times New Roman" panose="02020603050405020304" pitchFamily="18" charset="0"/>
              </a:rPr>
              <a:t>between two </a:t>
            </a:r>
            <a:r>
              <a:rPr lang="en-US" sz="2400" dirty="0">
                <a:latin typeface="Times New Roman" panose="02020603050405020304" pitchFamily="18" charset="0"/>
                <a:cs typeface="Times New Roman" panose="02020603050405020304" pitchFamily="18" charset="0"/>
              </a:rPr>
              <a:t>programs. </a:t>
            </a:r>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992188"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Mutually </a:t>
            </a:r>
            <a:r>
              <a:rPr lang="en-US" sz="2400" dirty="0">
                <a:latin typeface="Times New Roman" panose="02020603050405020304" pitchFamily="18" charset="0"/>
                <a:cs typeface="Times New Roman" panose="02020603050405020304" pitchFamily="18" charset="0"/>
              </a:rPr>
              <a:t>suspicious programs operate as if other routines in the </a:t>
            </a:r>
            <a:r>
              <a:rPr lang="en-US" sz="2400" dirty="0" smtClean="0">
                <a:latin typeface="Times New Roman" panose="02020603050405020304" pitchFamily="18" charset="0"/>
                <a:cs typeface="Times New Roman" panose="02020603050405020304" pitchFamily="18" charset="0"/>
              </a:rPr>
              <a:t>system were </a:t>
            </a:r>
            <a:r>
              <a:rPr lang="en-US" sz="2400" dirty="0">
                <a:latin typeface="Times New Roman" panose="02020603050405020304" pitchFamily="18" charset="0"/>
                <a:cs typeface="Times New Roman" panose="02020603050405020304" pitchFamily="18" charset="0"/>
              </a:rPr>
              <a:t>malicious or incorrect. </a:t>
            </a:r>
            <a:endParaRPr lang="en-US" sz="2400" dirty="0" smtClean="0">
              <a:latin typeface="Times New Roman" panose="02020603050405020304" pitchFamily="18" charset="0"/>
              <a:cs typeface="Times New Roman" panose="02020603050405020304" pitchFamily="18" charset="0"/>
            </a:endParaRPr>
          </a:p>
          <a:p>
            <a:pPr marL="992188"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992188"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calling program cannot trust its called </a:t>
            </a:r>
            <a:r>
              <a:rPr lang="en-US" sz="2400" dirty="0" err="1">
                <a:latin typeface="Times New Roman" panose="02020603050405020304" pitchFamily="18" charset="0"/>
                <a:cs typeface="Times New Roman" panose="02020603050405020304" pitchFamily="18" charset="0"/>
              </a:rPr>
              <a:t>subprocedures</a:t>
            </a:r>
            <a:r>
              <a:rPr lang="en-US" sz="2400" dirty="0">
                <a:latin typeface="Times New Roman" panose="02020603050405020304" pitchFamily="18" charset="0"/>
                <a:cs typeface="Times New Roman" panose="02020603050405020304" pitchFamily="18" charset="0"/>
              </a:rPr>
              <a:t> to </a:t>
            </a:r>
            <a:r>
              <a:rPr lang="en-US" sz="2400" dirty="0" smtClean="0">
                <a:latin typeface="Times New Roman" panose="02020603050405020304" pitchFamily="18" charset="0"/>
                <a:cs typeface="Times New Roman" panose="02020603050405020304" pitchFamily="18" charset="0"/>
              </a:rPr>
              <a:t>be correct</a:t>
            </a:r>
            <a:r>
              <a:rPr lang="en-US" sz="2400" dirty="0">
                <a:latin typeface="Times New Roman" panose="02020603050405020304" pitchFamily="18" charset="0"/>
                <a:cs typeface="Times New Roman" panose="02020603050405020304" pitchFamily="18" charset="0"/>
              </a:rPr>
              <a:t>, and a called </a:t>
            </a:r>
            <a:r>
              <a:rPr lang="en-US" sz="2400" dirty="0" err="1">
                <a:latin typeface="Times New Roman" panose="02020603050405020304" pitchFamily="18" charset="0"/>
                <a:cs typeface="Times New Roman" panose="02020603050405020304" pitchFamily="18" charset="0"/>
              </a:rPr>
              <a:t>subprocedure</a:t>
            </a:r>
            <a:r>
              <a:rPr lang="en-US" sz="2400" dirty="0">
                <a:latin typeface="Times New Roman" panose="02020603050405020304" pitchFamily="18" charset="0"/>
                <a:cs typeface="Times New Roman" panose="02020603050405020304" pitchFamily="18" charset="0"/>
              </a:rPr>
              <a:t> cannot trust its calling program to be correct. </a:t>
            </a:r>
            <a:endParaRPr lang="en-US" sz="2400" dirty="0" smtClean="0">
              <a:latin typeface="Times New Roman" panose="02020603050405020304" pitchFamily="18" charset="0"/>
              <a:cs typeface="Times New Roman" panose="02020603050405020304" pitchFamily="18" charset="0"/>
            </a:endParaRPr>
          </a:p>
          <a:p>
            <a:pPr marL="992188"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992188"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Each protects </a:t>
            </a:r>
            <a:r>
              <a:rPr lang="en-US" sz="2400" dirty="0">
                <a:latin typeface="Times New Roman" panose="02020603050405020304" pitchFamily="18" charset="0"/>
                <a:cs typeface="Times New Roman" panose="02020603050405020304" pitchFamily="18" charset="0"/>
              </a:rPr>
              <a:t>its interface data so that the other has only limited access. </a:t>
            </a:r>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solidFill>
                <a:srgbClr val="C00000"/>
              </a:solidFill>
              <a:latin typeface="Times New Roman" panose="02020603050405020304" pitchFamily="18" charset="0"/>
              <a:cs typeface="Times New Roman" panose="02020603050405020304" pitchFamily="18" charset="0"/>
            </a:endParaRPr>
          </a:p>
          <a:p>
            <a:pPr algn="just"/>
            <a:r>
              <a:rPr lang="en-US" sz="2400" dirty="0" smtClean="0">
                <a:solidFill>
                  <a:srgbClr val="C00000"/>
                </a:solidFill>
                <a:latin typeface="Times New Roman" panose="02020603050405020304" pitchFamily="18" charset="0"/>
                <a:cs typeface="Times New Roman" panose="02020603050405020304" pitchFamily="18" charset="0"/>
              </a:rPr>
              <a:t>For </a:t>
            </a:r>
            <a:r>
              <a:rPr lang="en-US" sz="2400" dirty="0">
                <a:solidFill>
                  <a:srgbClr val="C00000"/>
                </a:solidFill>
                <a:latin typeface="Times New Roman" panose="02020603050405020304" pitchFamily="18" charset="0"/>
                <a:cs typeface="Times New Roman" panose="02020603050405020304" pitchFamily="18" charset="0"/>
              </a:rPr>
              <a:t>example, </a:t>
            </a:r>
            <a:r>
              <a:rPr lang="en-US" sz="2400" dirty="0" smtClean="0">
                <a:latin typeface="Times New Roman" panose="02020603050405020304" pitchFamily="18" charset="0"/>
                <a:cs typeface="Times New Roman" panose="02020603050405020304" pitchFamily="18" charset="0"/>
              </a:rPr>
              <a:t>a procedure </a:t>
            </a:r>
            <a:r>
              <a:rPr lang="en-US" sz="2400" dirty="0">
                <a:latin typeface="Times New Roman" panose="02020603050405020304" pitchFamily="18" charset="0"/>
                <a:cs typeface="Times New Roman" panose="02020603050405020304" pitchFamily="18" charset="0"/>
              </a:rPr>
              <a:t>to sort the entries in a list cannot be trusted not to modify those elements, </a:t>
            </a:r>
            <a:r>
              <a:rPr lang="en-US" sz="2400" dirty="0" smtClean="0">
                <a:latin typeface="Times New Roman" panose="02020603050405020304" pitchFamily="18" charset="0"/>
                <a:cs typeface="Times New Roman" panose="02020603050405020304" pitchFamily="18" charset="0"/>
              </a:rPr>
              <a:t>while that </a:t>
            </a:r>
            <a:r>
              <a:rPr lang="en-US" sz="2400" dirty="0">
                <a:latin typeface="Times New Roman" panose="02020603050405020304" pitchFamily="18" charset="0"/>
                <a:cs typeface="Times New Roman" panose="02020603050405020304" pitchFamily="18" charset="0"/>
              </a:rPr>
              <a:t>procedure cannot trust its caller to provide any list at all or to supply the number </a:t>
            </a:r>
            <a:r>
              <a:rPr lang="en-US" sz="2400" dirty="0" smtClean="0">
                <a:latin typeface="Times New Roman" panose="02020603050405020304" pitchFamily="18" charset="0"/>
                <a:cs typeface="Times New Roman" panose="02020603050405020304" pitchFamily="18" charset="0"/>
              </a:rPr>
              <a:t>of </a:t>
            </a:r>
            <a:r>
              <a:rPr lang="en-IN" sz="2400" dirty="0" smtClean="0">
                <a:latin typeface="Times New Roman" panose="02020603050405020304" pitchFamily="18" charset="0"/>
                <a:cs typeface="Times New Roman" panose="02020603050405020304" pitchFamily="18" charset="0"/>
              </a:rPr>
              <a:t>elements </a:t>
            </a:r>
            <a:r>
              <a:rPr lang="en-IN" sz="2400" dirty="0">
                <a:latin typeface="Times New Roman" panose="02020603050405020304" pitchFamily="18" charset="0"/>
                <a:cs typeface="Times New Roman" panose="02020603050405020304" pitchFamily="18" charset="0"/>
              </a:rPr>
              <a:t>predicted.</a:t>
            </a:r>
          </a:p>
        </p:txBody>
      </p:sp>
    </p:spTree>
    <p:extLst>
      <p:ext uri="{BB962C8B-B14F-4D97-AF65-F5344CB8AC3E}">
        <p14:creationId xmlns:p14="http://schemas.microsoft.com/office/powerpoint/2010/main" val="257061195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smtClean="0">
                <a:solidFill>
                  <a:srgbClr val="0070C0"/>
                </a:solidFill>
              </a:rPr>
              <a:t>Confinement</a:t>
            </a:r>
            <a:endParaRPr lang="en-US" dirty="0">
              <a:solidFill>
                <a:srgbClr val="0070C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54</a:t>
            </a:fld>
            <a:endParaRPr lang="en-US">
              <a:latin typeface="Arial"/>
            </a:endParaRPr>
          </a:p>
        </p:txBody>
      </p:sp>
      <p:sp>
        <p:nvSpPr>
          <p:cNvPr id="6" name="Rectangle 5"/>
          <p:cNvSpPr/>
          <p:nvPr/>
        </p:nvSpPr>
        <p:spPr>
          <a:xfrm>
            <a:off x="138224" y="1512240"/>
            <a:ext cx="11823403" cy="3416320"/>
          </a:xfrm>
          <a:prstGeom prst="rect">
            <a:avLst/>
          </a:prstGeom>
        </p:spPr>
        <p:txBody>
          <a:bodyPr wrap="square">
            <a:spAutoFit/>
          </a:bodyPr>
          <a:lstStyle/>
          <a:p>
            <a:pPr algn="just"/>
            <a:r>
              <a:rPr lang="en-US" sz="2400" b="1" dirty="0" smtClean="0">
                <a:solidFill>
                  <a:srgbClr val="FF0000"/>
                </a:solidFill>
                <a:latin typeface="Times New Roman" panose="02020603050405020304" pitchFamily="18" charset="0"/>
                <a:cs typeface="Times New Roman" panose="02020603050405020304" pitchFamily="18" charset="0"/>
              </a:rPr>
              <a:t>Confinement </a:t>
            </a:r>
            <a:r>
              <a:rPr lang="en-US" sz="2400" dirty="0" smtClean="0">
                <a:latin typeface="Times New Roman" panose="02020603050405020304" pitchFamily="18" charset="0"/>
                <a:cs typeface="Times New Roman" panose="02020603050405020304" pitchFamily="18" charset="0"/>
              </a:rPr>
              <a:t>(means </a:t>
            </a:r>
            <a:r>
              <a:rPr lang="en-IN" sz="2400" dirty="0" smtClean="0">
                <a:latin typeface="Times New Roman" panose="02020603050405020304" pitchFamily="18" charset="0"/>
                <a:cs typeface="Times New Roman" panose="02020603050405020304" pitchFamily="18" charset="0"/>
              </a:rPr>
              <a:t>kept </a:t>
            </a:r>
            <a:r>
              <a:rPr lang="en-IN" sz="2400" dirty="0">
                <a:latin typeface="Times New Roman" panose="02020603050405020304" pitchFamily="18" charset="0"/>
                <a:cs typeface="Times New Roman" panose="02020603050405020304" pitchFamily="18" charset="0"/>
              </a:rPr>
              <a:t>within </a:t>
            </a:r>
            <a:r>
              <a:rPr lang="en-IN" sz="2400" dirty="0" smtClean="0">
                <a:latin typeface="Times New Roman" panose="02020603050405020304" pitchFamily="18" charset="0"/>
                <a:cs typeface="Times New Roman" panose="02020603050405020304" pitchFamily="18" charset="0"/>
              </a:rPr>
              <a:t>limits</a:t>
            </a:r>
            <a:r>
              <a:rPr lang="en-US" sz="2400" dirty="0" smtClean="0">
                <a:latin typeface="Times New Roman" panose="02020603050405020304" pitchFamily="18" charset="0"/>
                <a:cs typeface="Times New Roman" panose="02020603050405020304" pitchFamily="18" charset="0"/>
              </a:rPr>
              <a:t>) is </a:t>
            </a:r>
            <a:r>
              <a:rPr lang="en-US" sz="2400" dirty="0">
                <a:latin typeface="Times New Roman" panose="02020603050405020304" pitchFamily="18" charset="0"/>
                <a:cs typeface="Times New Roman" panose="02020603050405020304" pitchFamily="18" charset="0"/>
              </a:rPr>
              <a:t>a technique used by an operating system on a suspected program to </a:t>
            </a:r>
            <a:r>
              <a:rPr lang="en-US" sz="2400" dirty="0" smtClean="0">
                <a:latin typeface="Times New Roman" panose="02020603050405020304" pitchFamily="18" charset="0"/>
                <a:cs typeface="Times New Roman" panose="02020603050405020304" pitchFamily="18" charset="0"/>
              </a:rPr>
              <a:t>help ensure </a:t>
            </a:r>
            <a:r>
              <a:rPr lang="en-US" sz="2400" dirty="0">
                <a:latin typeface="Times New Roman" panose="02020603050405020304" pitchFamily="18" charset="0"/>
                <a:cs typeface="Times New Roman" panose="02020603050405020304" pitchFamily="18" charset="0"/>
              </a:rPr>
              <a:t>that possible damage does not spread to other parts of a system. </a:t>
            </a:r>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896938"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A </a:t>
            </a:r>
            <a:r>
              <a:rPr lang="en-US" sz="2400" b="1" dirty="0" smtClean="0">
                <a:latin typeface="Times New Roman" panose="02020603050405020304" pitchFamily="18" charset="0"/>
                <a:cs typeface="Times New Roman" panose="02020603050405020304" pitchFamily="18" charset="0"/>
              </a:rPr>
              <a:t>confined </a:t>
            </a:r>
            <a:r>
              <a:rPr lang="en-US" sz="2400" dirty="0" smtClean="0">
                <a:latin typeface="Times New Roman" panose="02020603050405020304" pitchFamily="18" charset="0"/>
                <a:cs typeface="Times New Roman" panose="02020603050405020304" pitchFamily="18" charset="0"/>
              </a:rPr>
              <a:t>program </a:t>
            </a:r>
            <a:r>
              <a:rPr lang="en-US" sz="2400" dirty="0">
                <a:latin typeface="Times New Roman" panose="02020603050405020304" pitchFamily="18" charset="0"/>
                <a:cs typeface="Times New Roman" panose="02020603050405020304" pitchFamily="18" charset="0"/>
              </a:rPr>
              <a:t>is </a:t>
            </a:r>
            <a:r>
              <a:rPr lang="en-US" sz="2400" b="1" dirty="0">
                <a:solidFill>
                  <a:srgbClr val="0070C0"/>
                </a:solidFill>
                <a:latin typeface="Times New Roman" panose="02020603050405020304" pitchFamily="18" charset="0"/>
                <a:cs typeface="Times New Roman" panose="02020603050405020304" pitchFamily="18" charset="0"/>
              </a:rPr>
              <a:t>strictly limited </a:t>
            </a:r>
            <a:r>
              <a:rPr lang="en-US" sz="2400" dirty="0">
                <a:latin typeface="Times New Roman" panose="02020603050405020304" pitchFamily="18" charset="0"/>
                <a:cs typeface="Times New Roman" panose="02020603050405020304" pitchFamily="18" charset="0"/>
              </a:rPr>
              <a:t>in what system resources it can access. </a:t>
            </a:r>
          </a:p>
          <a:p>
            <a:pPr marL="896938"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a program is </a:t>
            </a:r>
            <a:r>
              <a:rPr lang="en-US" sz="2400" dirty="0" smtClean="0">
                <a:latin typeface="Times New Roman" panose="02020603050405020304" pitchFamily="18" charset="0"/>
                <a:cs typeface="Times New Roman" panose="02020603050405020304" pitchFamily="18" charset="0"/>
              </a:rPr>
              <a:t>not trustworthy</a:t>
            </a:r>
            <a:r>
              <a:rPr lang="en-US" sz="2400" dirty="0">
                <a:latin typeface="Times New Roman" panose="02020603050405020304" pitchFamily="18" charset="0"/>
                <a:cs typeface="Times New Roman" panose="02020603050405020304" pitchFamily="18" charset="0"/>
              </a:rPr>
              <a:t>, the data it can access are strictly limited. </a:t>
            </a:r>
            <a:endParaRPr lang="en-US" sz="2400" dirty="0" smtClean="0">
              <a:latin typeface="Times New Roman" panose="02020603050405020304" pitchFamily="18" charset="0"/>
              <a:cs typeface="Times New Roman" panose="02020603050405020304" pitchFamily="18" charset="0"/>
            </a:endParaRPr>
          </a:p>
          <a:p>
            <a:pPr marL="896938" indent="-342900"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Strong </a:t>
            </a:r>
            <a:r>
              <a:rPr lang="en-US" sz="2400" dirty="0">
                <a:latin typeface="Times New Roman" panose="02020603050405020304" pitchFamily="18" charset="0"/>
                <a:cs typeface="Times New Roman" panose="02020603050405020304" pitchFamily="18" charset="0"/>
              </a:rPr>
              <a:t>confinement would </a:t>
            </a:r>
            <a:r>
              <a:rPr lang="en-US" sz="2400" dirty="0" smtClean="0">
                <a:latin typeface="Times New Roman" panose="02020603050405020304" pitchFamily="18" charset="0"/>
                <a:cs typeface="Times New Roman" panose="02020603050405020304" pitchFamily="18" charset="0"/>
              </a:rPr>
              <a:t>be particularly </a:t>
            </a:r>
            <a:r>
              <a:rPr lang="en-US" sz="2400" dirty="0">
                <a:latin typeface="Times New Roman" panose="02020603050405020304" pitchFamily="18" charset="0"/>
                <a:cs typeface="Times New Roman" panose="02020603050405020304" pitchFamily="18" charset="0"/>
              </a:rPr>
              <a:t>helpful in limiting the spread of viruses</a:t>
            </a:r>
            <a:r>
              <a:rPr lang="en-US" sz="2400" dirty="0" smtClean="0">
                <a:latin typeface="Times New Roman" panose="02020603050405020304" pitchFamily="18" charset="0"/>
                <a:cs typeface="Times New Roman" panose="02020603050405020304" pitchFamily="18" charset="0"/>
              </a:rPr>
              <a:t>.</a:t>
            </a:r>
          </a:p>
          <a:p>
            <a:pPr marL="896938"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Therefore, the virus can spread only to things in that compartment; it cannot get outside</a:t>
            </a:r>
          </a:p>
          <a:p>
            <a:pPr marL="896938"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compartment.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54142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a:solidFill>
                  <a:srgbClr val="0070C0"/>
                </a:solidFill>
              </a:rPr>
              <a:t>Simplicity</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55</a:t>
            </a:fld>
            <a:endParaRPr lang="en-US">
              <a:latin typeface="Arial"/>
            </a:endParaRPr>
          </a:p>
        </p:txBody>
      </p:sp>
      <p:sp>
        <p:nvSpPr>
          <p:cNvPr id="6" name="Rectangle 5"/>
          <p:cNvSpPr/>
          <p:nvPr/>
        </p:nvSpPr>
        <p:spPr>
          <a:xfrm>
            <a:off x="138224" y="1512240"/>
            <a:ext cx="11823403" cy="4893647"/>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case for </a:t>
            </a:r>
            <a:r>
              <a:rPr lang="en-US" sz="2400" b="1" dirty="0">
                <a:solidFill>
                  <a:srgbClr val="FF0000"/>
                </a:solidFill>
                <a:latin typeface="Times New Roman" panose="02020603050405020304" pitchFamily="18" charset="0"/>
                <a:cs typeface="Times New Roman" panose="02020603050405020304" pitchFamily="18" charset="0"/>
              </a:rPr>
              <a:t>simplicity</a:t>
            </a:r>
            <a:r>
              <a:rPr lang="en-US" sz="2400" dirty="0">
                <a:latin typeface="Times New Roman" panose="02020603050405020304" pitchFamily="18" charset="0"/>
                <a:cs typeface="Times New Roman" panose="02020603050405020304" pitchFamily="18" charset="0"/>
              </a:rPr>
              <a:t>—of both design and implementation—should be self-evident:</a:t>
            </a:r>
          </a:p>
          <a:p>
            <a:pPr algn="just"/>
            <a:r>
              <a:rPr lang="en-US" sz="2400" dirty="0">
                <a:latin typeface="Times New Roman" panose="02020603050405020304" pitchFamily="18" charset="0"/>
                <a:cs typeface="Times New Roman" panose="02020603050405020304" pitchFamily="18" charset="0"/>
              </a:rPr>
              <a:t>simple solutions are easier to understand, leave less room for error, and are easier to</a:t>
            </a:r>
          </a:p>
          <a:p>
            <a:pPr algn="just"/>
            <a:r>
              <a:rPr lang="en-US" sz="2400" dirty="0">
                <a:latin typeface="Times New Roman" panose="02020603050405020304" pitchFamily="18" charset="0"/>
                <a:cs typeface="Times New Roman" panose="02020603050405020304" pitchFamily="18" charset="0"/>
              </a:rPr>
              <a:t>review for faults</a:t>
            </a:r>
            <a:r>
              <a:rPr lang="en-US" sz="2400" dirty="0" smtClean="0">
                <a:latin typeface="Times New Roman" panose="02020603050405020304" pitchFamily="18" charset="0"/>
                <a:cs typeface="Times New Roman" panose="02020603050405020304" pitchFamily="18" charset="0"/>
              </a:rPr>
              <a:t>.</a:t>
            </a: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With </a:t>
            </a:r>
            <a:r>
              <a:rPr lang="en-US" sz="2400" dirty="0">
                <a:latin typeface="Times New Roman" panose="02020603050405020304" pitchFamily="18" charset="0"/>
                <a:cs typeface="Times New Roman" panose="02020603050405020304" pitchFamily="18" charset="0"/>
              </a:rPr>
              <a:t>a simple design, all members of the design and implementation team </a:t>
            </a:r>
            <a:r>
              <a:rPr lang="en-US" sz="2400" dirty="0" smtClean="0">
                <a:latin typeface="Times New Roman" panose="02020603050405020304" pitchFamily="18" charset="0"/>
                <a:cs typeface="Times New Roman" panose="02020603050405020304" pitchFamily="18" charset="0"/>
              </a:rPr>
              <a:t>can understand </a:t>
            </a:r>
            <a:r>
              <a:rPr lang="en-US" sz="2400" dirty="0">
                <a:latin typeface="Times New Roman" panose="02020603050405020304" pitchFamily="18" charset="0"/>
                <a:cs typeface="Times New Roman" panose="02020603050405020304" pitchFamily="18" charset="0"/>
              </a:rPr>
              <a:t>the role and scope of each element of the design, so each participant knows not only what </a:t>
            </a:r>
            <a:r>
              <a:rPr lang="en-US" sz="2400" dirty="0" smtClean="0">
                <a:latin typeface="Times New Roman" panose="02020603050405020304" pitchFamily="18" charset="0"/>
                <a:cs typeface="Times New Roman" panose="02020603050405020304" pitchFamily="18" charset="0"/>
              </a:rPr>
              <a:t>to expect </a:t>
            </a:r>
            <a:r>
              <a:rPr lang="en-US" sz="2400" dirty="0">
                <a:latin typeface="Times New Roman" panose="02020603050405020304" pitchFamily="18" charset="0"/>
                <a:cs typeface="Times New Roman" panose="02020603050405020304" pitchFamily="18" charset="0"/>
              </a:rPr>
              <a:t>others to do but also what others expect. Perhaps the worst problem </a:t>
            </a:r>
            <a:r>
              <a:rPr lang="en-US" sz="2400" dirty="0" smtClean="0">
                <a:latin typeface="Times New Roman" panose="02020603050405020304" pitchFamily="18" charset="0"/>
                <a:cs typeface="Times New Roman" panose="02020603050405020304" pitchFamily="18" charset="0"/>
              </a:rPr>
              <a:t>of a </a:t>
            </a:r>
            <a:r>
              <a:rPr lang="en-US" sz="2400" dirty="0">
                <a:latin typeface="Times New Roman" panose="02020603050405020304" pitchFamily="18" charset="0"/>
                <a:cs typeface="Times New Roman" panose="02020603050405020304" pitchFamily="18" charset="0"/>
              </a:rPr>
              <a:t>running system is maintenance: After a system has been running for some time, and </a:t>
            </a:r>
            <a:r>
              <a:rPr lang="en-US" sz="2400" dirty="0" smtClean="0">
                <a:latin typeface="Times New Roman" panose="02020603050405020304" pitchFamily="18" charset="0"/>
                <a:cs typeface="Times New Roman" panose="02020603050405020304" pitchFamily="18" charset="0"/>
              </a:rPr>
              <a:t>the designers </a:t>
            </a:r>
            <a:r>
              <a:rPr lang="en-US" sz="2400" dirty="0">
                <a:latin typeface="Times New Roman" panose="02020603050405020304" pitchFamily="18" charset="0"/>
                <a:cs typeface="Times New Roman" panose="02020603050405020304" pitchFamily="18" charset="0"/>
              </a:rPr>
              <a:t>and programmers are working on other projects (or perhaps even at </a:t>
            </a:r>
            <a:r>
              <a:rPr lang="en-US" sz="2400" dirty="0" smtClean="0">
                <a:latin typeface="Times New Roman" panose="02020603050405020304" pitchFamily="18" charset="0"/>
                <a:cs typeface="Times New Roman" panose="02020603050405020304" pitchFamily="18" charset="0"/>
              </a:rPr>
              <a:t>other companies</a:t>
            </a:r>
            <a:r>
              <a:rPr lang="en-US" sz="2400" dirty="0">
                <a:latin typeface="Times New Roman" panose="02020603050405020304" pitchFamily="18" charset="0"/>
                <a:cs typeface="Times New Roman" panose="02020603050405020304" pitchFamily="18" charset="0"/>
              </a:rPr>
              <a:t>), a fault appears and some unlucky junior staff member is assigned the task </a:t>
            </a:r>
            <a:r>
              <a:rPr lang="en-US" sz="2400" dirty="0" smtClean="0">
                <a:latin typeface="Times New Roman" panose="02020603050405020304" pitchFamily="18" charset="0"/>
                <a:cs typeface="Times New Roman" panose="02020603050405020304" pitchFamily="18" charset="0"/>
              </a:rPr>
              <a:t>of correcting </a:t>
            </a:r>
            <a:r>
              <a:rPr lang="en-US" sz="2400" dirty="0">
                <a:latin typeface="Times New Roman" panose="02020603050405020304" pitchFamily="18" charset="0"/>
                <a:cs typeface="Times New Roman" panose="02020603050405020304" pitchFamily="18" charset="0"/>
              </a:rPr>
              <a:t>the fault. </a:t>
            </a:r>
            <a:r>
              <a:rPr lang="en-US" sz="2400" dirty="0" smtClean="0">
                <a:latin typeface="Times New Roman" panose="02020603050405020304" pitchFamily="18" charset="0"/>
                <a:cs typeface="Times New Roman" panose="02020603050405020304" pitchFamily="18" charset="0"/>
              </a:rPr>
              <a:t>With no </a:t>
            </a:r>
            <a:r>
              <a:rPr lang="en-US" sz="2400" dirty="0">
                <a:latin typeface="Times New Roman" panose="02020603050405020304" pitchFamily="18" charset="0"/>
                <a:cs typeface="Times New Roman" panose="02020603050405020304" pitchFamily="18" charset="0"/>
              </a:rPr>
              <a:t>background on the project, this staff member must attempt </a:t>
            </a:r>
            <a:r>
              <a:rPr lang="en-US" sz="2400" dirty="0" smtClean="0">
                <a:latin typeface="Times New Roman" panose="02020603050405020304" pitchFamily="18" charset="0"/>
                <a:cs typeface="Times New Roman" panose="02020603050405020304" pitchFamily="18" charset="0"/>
              </a:rPr>
              <a:t>to intuit </a:t>
            </a:r>
            <a:r>
              <a:rPr lang="en-US" sz="2400" dirty="0">
                <a:latin typeface="Times New Roman" panose="02020603050405020304" pitchFamily="18" charset="0"/>
                <a:cs typeface="Times New Roman" panose="02020603050405020304" pitchFamily="18" charset="0"/>
              </a:rPr>
              <a:t>the visions of the original designers and understand the entire context of the </a:t>
            </a:r>
            <a:r>
              <a:rPr lang="en-US" sz="2400" dirty="0" smtClean="0">
                <a:latin typeface="Times New Roman" panose="02020603050405020304" pitchFamily="18" charset="0"/>
                <a:cs typeface="Times New Roman" panose="02020603050405020304" pitchFamily="18" charset="0"/>
              </a:rPr>
              <a:t>flaw well </a:t>
            </a:r>
            <a:r>
              <a:rPr lang="en-US" sz="2400" dirty="0">
                <a:latin typeface="Times New Roman" panose="02020603050405020304" pitchFamily="18" charset="0"/>
                <a:cs typeface="Times New Roman" panose="02020603050405020304" pitchFamily="18" charset="0"/>
              </a:rPr>
              <a:t>enough to fix it. A simple design and implementation facilitates correct maintenance.</a:t>
            </a:r>
          </a:p>
        </p:txBody>
      </p:sp>
    </p:spTree>
    <p:extLst>
      <p:ext uri="{BB962C8B-B14F-4D97-AF65-F5344CB8AC3E}">
        <p14:creationId xmlns:p14="http://schemas.microsoft.com/office/powerpoint/2010/main" val="121468029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smtClean="0">
                <a:solidFill>
                  <a:srgbClr val="0070C0"/>
                </a:solidFill>
              </a:rPr>
              <a:t>Genetic </a:t>
            </a:r>
            <a:r>
              <a:rPr lang="en-US" dirty="0">
                <a:solidFill>
                  <a:srgbClr val="0070C0"/>
                </a:solidFill>
              </a:rPr>
              <a:t>Diversity</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56</a:t>
            </a:fld>
            <a:endParaRPr lang="en-US">
              <a:latin typeface="Arial"/>
            </a:endParaRPr>
          </a:p>
        </p:txBody>
      </p:sp>
      <p:sp>
        <p:nvSpPr>
          <p:cNvPr id="6" name="Rectangle 5"/>
          <p:cNvSpPr/>
          <p:nvPr/>
        </p:nvSpPr>
        <p:spPr>
          <a:xfrm>
            <a:off x="138223" y="1246424"/>
            <a:ext cx="11823403" cy="2123658"/>
          </a:xfrm>
          <a:prstGeom prst="rect">
            <a:avLst/>
          </a:prstGeom>
        </p:spPr>
        <p:txBody>
          <a:bodyPr wrap="square">
            <a:spAutoFit/>
          </a:bodyPr>
          <a:lstStyle/>
          <a:p>
            <a:pPr algn="just"/>
            <a:r>
              <a:rPr lang="en-US" sz="2200" dirty="0">
                <a:latin typeface="Times New Roman" panose="02020603050405020304" pitchFamily="18" charset="0"/>
                <a:cs typeface="Times New Roman" panose="02020603050405020304" pitchFamily="18" charset="0"/>
              </a:rPr>
              <a:t>At your local electronics shop you can buy a combination </a:t>
            </a:r>
            <a:r>
              <a:rPr lang="en-US" sz="2200" dirty="0" smtClean="0">
                <a:latin typeface="Times New Roman" panose="02020603050405020304" pitchFamily="18" charset="0"/>
                <a:cs typeface="Times New Roman" panose="02020603050405020304" pitchFamily="18" charset="0"/>
              </a:rPr>
              <a:t>printer–scanner–copier–fax machine</a:t>
            </a:r>
            <a:r>
              <a:rPr lang="en-US" sz="2200" dirty="0">
                <a:latin typeface="Times New Roman" panose="02020603050405020304" pitchFamily="18" charset="0"/>
                <a:cs typeface="Times New Roman" panose="02020603050405020304" pitchFamily="18" charset="0"/>
              </a:rPr>
              <a:t>. It comes at a good price (compared to costs of buying the four </a:t>
            </a:r>
            <a:r>
              <a:rPr lang="en-US" sz="2200" dirty="0" smtClean="0">
                <a:latin typeface="Times New Roman" panose="02020603050405020304" pitchFamily="18" charset="0"/>
                <a:cs typeface="Times New Roman" panose="02020603050405020304" pitchFamily="18" charset="0"/>
              </a:rPr>
              <a:t>components separately</a:t>
            </a:r>
            <a:r>
              <a:rPr lang="en-US" sz="2200" dirty="0">
                <a:latin typeface="Times New Roman" panose="02020603050405020304" pitchFamily="18" charset="0"/>
                <a:cs typeface="Times New Roman" panose="02020603050405020304" pitchFamily="18" charset="0"/>
              </a:rPr>
              <a:t>) because there is considerable overlap in implementing the functionality </a:t>
            </a:r>
            <a:r>
              <a:rPr lang="en-US" sz="2200" dirty="0" smtClean="0">
                <a:latin typeface="Times New Roman" panose="02020603050405020304" pitchFamily="18" charset="0"/>
                <a:cs typeface="Times New Roman" panose="02020603050405020304" pitchFamily="18" charset="0"/>
              </a:rPr>
              <a:t>among those </a:t>
            </a:r>
            <a:r>
              <a:rPr lang="en-US" sz="2200" dirty="0">
                <a:latin typeface="Times New Roman" panose="02020603050405020304" pitchFamily="18" charset="0"/>
                <a:cs typeface="Times New Roman" panose="02020603050405020304" pitchFamily="18" charset="0"/>
              </a:rPr>
              <a:t>four. Moreover, the multifunction device is compact, and you need install only </a:t>
            </a:r>
            <a:r>
              <a:rPr lang="en-US" sz="2200" dirty="0" smtClean="0">
                <a:latin typeface="Times New Roman" panose="02020603050405020304" pitchFamily="18" charset="0"/>
                <a:cs typeface="Times New Roman" panose="02020603050405020304" pitchFamily="18" charset="0"/>
              </a:rPr>
              <a:t>one device </a:t>
            </a:r>
            <a:r>
              <a:rPr lang="en-US" sz="2200" dirty="0">
                <a:latin typeface="Times New Roman" panose="02020603050405020304" pitchFamily="18" charset="0"/>
                <a:cs typeface="Times New Roman" panose="02020603050405020304" pitchFamily="18" charset="0"/>
              </a:rPr>
              <a:t>on your system, not four. </a:t>
            </a:r>
            <a:r>
              <a:rPr lang="en-US" sz="2200" dirty="0" smtClean="0">
                <a:latin typeface="Times New Roman" panose="02020603050405020304" pitchFamily="18" charset="0"/>
                <a:cs typeface="Times New Roman" panose="02020603050405020304" pitchFamily="18" charset="0"/>
              </a:rPr>
              <a:t> But </a:t>
            </a:r>
            <a:r>
              <a:rPr lang="en-US" sz="2200" dirty="0">
                <a:latin typeface="Times New Roman" panose="02020603050405020304" pitchFamily="18" charset="0"/>
                <a:cs typeface="Times New Roman" panose="02020603050405020304" pitchFamily="18" charset="0"/>
              </a:rPr>
              <a:t>if any part of it fails, you lose a lot of capabilities </a:t>
            </a:r>
            <a:r>
              <a:rPr lang="en-US" sz="2200" dirty="0" smtClean="0">
                <a:latin typeface="Times New Roman" panose="02020603050405020304" pitchFamily="18" charset="0"/>
                <a:cs typeface="Times New Roman" panose="02020603050405020304" pitchFamily="18" charset="0"/>
              </a:rPr>
              <a:t>all at </a:t>
            </a:r>
            <a:r>
              <a:rPr lang="en-US" sz="2200" dirty="0">
                <a:latin typeface="Times New Roman" panose="02020603050405020304" pitchFamily="18" charset="0"/>
                <a:cs typeface="Times New Roman" panose="02020603050405020304" pitchFamily="18" charset="0"/>
              </a:rPr>
              <a:t>once. So the multipurpose machine represents the kinds of trade-offs </a:t>
            </a:r>
            <a:r>
              <a:rPr lang="en-US" sz="2200" dirty="0" smtClean="0">
                <a:latin typeface="Times New Roman" panose="02020603050405020304" pitchFamily="18" charset="0"/>
                <a:cs typeface="Times New Roman" panose="02020603050405020304" pitchFamily="18" charset="0"/>
              </a:rPr>
              <a:t>among functionality</a:t>
            </a:r>
            <a:r>
              <a:rPr lang="en-US" sz="2200" dirty="0">
                <a:latin typeface="Times New Roman" panose="02020603050405020304" pitchFamily="18" charset="0"/>
                <a:cs typeface="Times New Roman" panose="02020603050405020304" pitchFamily="18" charset="0"/>
              </a:rPr>
              <a:t>, economy, and availability that we make in any system design.</a:t>
            </a:r>
          </a:p>
        </p:txBody>
      </p:sp>
      <p:sp>
        <p:nvSpPr>
          <p:cNvPr id="3" name="Rectangle 2"/>
          <p:cNvSpPr/>
          <p:nvPr/>
        </p:nvSpPr>
        <p:spPr>
          <a:xfrm>
            <a:off x="138223" y="3348893"/>
            <a:ext cx="11940363" cy="347787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200" dirty="0">
                <a:latin typeface="Times New Roman" panose="02020603050405020304" pitchFamily="18" charset="0"/>
                <a:cs typeface="Times New Roman" panose="02020603050405020304" pitchFamily="18" charset="0"/>
              </a:rPr>
              <a:t>When designing computer systems or devices, people often think about making them in a smart way — like using modules (separate parts), hiding inner details, and reusing parts easily.</a:t>
            </a:r>
          </a:p>
          <a:p>
            <a:r>
              <a:rPr lang="en-US" sz="2200" dirty="0">
                <a:latin typeface="Times New Roman" panose="02020603050405020304" pitchFamily="18" charset="0"/>
                <a:cs typeface="Times New Roman" panose="02020603050405020304" pitchFamily="18" charset="0"/>
              </a:rPr>
              <a:t>Because of these good design ideas, some experts suggest that systems should have variety — like using parts from different makers or sources, not just one. This idea is called heterogeneity or genetic diversity in system design.</a:t>
            </a:r>
          </a:p>
          <a:p>
            <a:r>
              <a:rPr lang="en-US" sz="2200" dirty="0">
                <a:solidFill>
                  <a:srgbClr val="FF0000"/>
                </a:solidFill>
                <a:latin typeface="Times New Roman" panose="02020603050405020304" pitchFamily="18" charset="0"/>
                <a:cs typeface="Times New Roman" panose="02020603050405020304" pitchFamily="18" charset="0"/>
              </a:rPr>
              <a:t>Why?</a:t>
            </a:r>
          </a:p>
          <a:p>
            <a:pPr marL="285750" indent="-285750">
              <a:buFont typeface="Arial" panose="020B0604020202020204" pitchFamily="34" charset="0"/>
              <a:buChar char="•"/>
            </a:pPr>
            <a:r>
              <a:rPr lang="en-US" sz="2200" dirty="0">
                <a:solidFill>
                  <a:srgbClr val="7030A0"/>
                </a:solidFill>
                <a:latin typeface="Times New Roman" panose="02020603050405020304" pitchFamily="18" charset="0"/>
                <a:cs typeface="Times New Roman" panose="02020603050405020304" pitchFamily="18" charset="0"/>
              </a:rPr>
              <a:t>If all parts come from the same place or you depend too much on one part, it can be risky. </a:t>
            </a:r>
          </a:p>
          <a:p>
            <a:pPr marL="285750" indent="-285750">
              <a:buFont typeface="Arial" panose="020B0604020202020204" pitchFamily="34" charset="0"/>
              <a:buChar char="•"/>
            </a:pPr>
            <a:r>
              <a:rPr lang="en-US" sz="2200" dirty="0">
                <a:solidFill>
                  <a:srgbClr val="7030A0"/>
                </a:solidFill>
                <a:latin typeface="Times New Roman" panose="02020603050405020304" pitchFamily="18" charset="0"/>
                <a:cs typeface="Times New Roman" panose="02020603050405020304" pitchFamily="18" charset="0"/>
              </a:rPr>
              <a:t>If that part fails or has a problem, the whole system could stop working.</a:t>
            </a:r>
          </a:p>
          <a:p>
            <a:r>
              <a:rPr lang="en-US" sz="2200" dirty="0">
                <a:latin typeface="Times New Roman" panose="02020603050405020304" pitchFamily="18" charset="0"/>
                <a:cs typeface="Times New Roman" panose="02020603050405020304" pitchFamily="18" charset="0"/>
              </a:rPr>
              <a:t>So, using different types of parts or components (just like having genetic diversity in nature) can make the system safer, stronger, and more flexible.</a:t>
            </a:r>
          </a:p>
        </p:txBody>
      </p:sp>
    </p:spTree>
    <p:extLst>
      <p:ext uri="{BB962C8B-B14F-4D97-AF65-F5344CB8AC3E}">
        <p14:creationId xmlns:p14="http://schemas.microsoft.com/office/powerpoint/2010/main" val="38729593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a:bodyPr>
          <a:lstStyle/>
          <a:p>
            <a:r>
              <a:rPr lang="en-US" dirty="0"/>
              <a:t>Countermeasures for Developers : </a:t>
            </a:r>
            <a:r>
              <a:rPr lang="en-US" dirty="0" smtClean="0">
                <a:solidFill>
                  <a:srgbClr val="0070C0"/>
                </a:solidFill>
              </a:rPr>
              <a:t>Testing</a:t>
            </a:r>
            <a:endParaRPr lang="en-US" dirty="0">
              <a:solidFill>
                <a:srgbClr val="0070C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57</a:t>
            </a:fld>
            <a:endParaRPr lang="en-US">
              <a:latin typeface="Arial"/>
            </a:endParaRPr>
          </a:p>
        </p:txBody>
      </p:sp>
      <p:sp>
        <p:nvSpPr>
          <p:cNvPr id="5" name="Rectangle 4"/>
          <p:cNvSpPr/>
          <p:nvPr/>
        </p:nvSpPr>
        <p:spPr>
          <a:xfrm>
            <a:off x="283535" y="1924792"/>
            <a:ext cx="11756434"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Testing is a process activity that concentrates on product quality: It seeks to locate potential product failures before they actually occur. The goal of testing is to make the product failure free (eliminating the possibility of failure). The failure of one control may </a:t>
            </a:r>
            <a:r>
              <a:rPr lang="en-US" sz="2400" dirty="0" smtClean="0">
                <a:latin typeface="Times New Roman" panose="02020603050405020304" pitchFamily="18" charset="0"/>
                <a:cs typeface="Times New Roman" panose="02020603050405020304" pitchFamily="18" charset="0"/>
              </a:rPr>
              <a:t>expose a vulnerability.</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Testers improve </a:t>
            </a:r>
            <a:r>
              <a:rPr lang="en-US" sz="2400" dirty="0">
                <a:latin typeface="Times New Roman" panose="02020603050405020304" pitchFamily="18" charset="0"/>
                <a:cs typeface="Times New Roman" panose="02020603050405020304" pitchFamily="18" charset="0"/>
              </a:rPr>
              <a:t>software quality by finding as many faults as possible and carefully </a:t>
            </a:r>
            <a:r>
              <a:rPr lang="en-US" sz="2400" dirty="0" smtClean="0">
                <a:latin typeface="Times New Roman" panose="02020603050405020304" pitchFamily="18" charset="0"/>
                <a:cs typeface="Times New Roman" panose="02020603050405020304" pitchFamily="18" charset="0"/>
              </a:rPr>
              <a:t>documenting their </a:t>
            </a:r>
            <a:r>
              <a:rPr lang="en-US" sz="2400" dirty="0">
                <a:latin typeface="Times New Roman" panose="02020603050405020304" pitchFamily="18" charset="0"/>
                <a:cs typeface="Times New Roman" panose="02020603050405020304" pitchFamily="18" charset="0"/>
              </a:rPr>
              <a:t>findings so that developers can locate the causes and repair the problems if possible.</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50936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smtClean="0"/>
              <a:t>Countermeasures for Developers :</a:t>
            </a:r>
            <a:r>
              <a:rPr lang="en-US" dirty="0" smtClean="0">
                <a:solidFill>
                  <a:srgbClr val="0070C0"/>
                </a:solidFill>
              </a:rPr>
              <a:t>Testing:  </a:t>
            </a:r>
            <a:r>
              <a:rPr lang="en-US" sz="3600" dirty="0" smtClean="0">
                <a:solidFill>
                  <a:srgbClr val="7030A0"/>
                </a:solidFill>
              </a:rPr>
              <a:t>‘Types </a:t>
            </a:r>
            <a:r>
              <a:rPr lang="en-US" sz="3600" dirty="0">
                <a:solidFill>
                  <a:srgbClr val="7030A0"/>
                </a:solidFill>
              </a:rPr>
              <a:t>of </a:t>
            </a:r>
            <a:r>
              <a:rPr lang="en-US" sz="3600" dirty="0" smtClean="0">
                <a:solidFill>
                  <a:srgbClr val="7030A0"/>
                </a:solidFill>
              </a:rPr>
              <a:t>Testing’</a:t>
            </a:r>
            <a:endParaRPr lang="en-US" sz="3600" dirty="0">
              <a:solidFill>
                <a:srgbClr val="7030A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58</a:t>
            </a:fld>
            <a:endParaRPr lang="en-US">
              <a:latin typeface="Arial"/>
            </a:endParaRPr>
          </a:p>
        </p:txBody>
      </p:sp>
      <p:sp>
        <p:nvSpPr>
          <p:cNvPr id="5" name="Rectangle 4"/>
          <p:cNvSpPr/>
          <p:nvPr/>
        </p:nvSpPr>
        <p:spPr>
          <a:xfrm>
            <a:off x="202019" y="1524000"/>
            <a:ext cx="11986806" cy="4893647"/>
          </a:xfrm>
          <a:prstGeom prst="rect">
            <a:avLst/>
          </a:prstGeom>
        </p:spPr>
        <p:txBody>
          <a:bodyPr wrap="square">
            <a:spAutoFit/>
          </a:bodyPr>
          <a:lstStyle/>
          <a:p>
            <a:pPr algn="ctr"/>
            <a:r>
              <a:rPr lang="en-US" sz="2400" b="1" u="sng" dirty="0" smtClean="0">
                <a:solidFill>
                  <a:srgbClr val="FF0000"/>
                </a:solidFill>
                <a:latin typeface="Times New Roman" panose="02020603050405020304" pitchFamily="18" charset="0"/>
                <a:cs typeface="Times New Roman" panose="02020603050405020304" pitchFamily="18" charset="0"/>
              </a:rPr>
              <a:t>Testing </a:t>
            </a:r>
            <a:r>
              <a:rPr lang="en-US" sz="2400" b="1" u="sng" dirty="0">
                <a:solidFill>
                  <a:srgbClr val="FF0000"/>
                </a:solidFill>
                <a:latin typeface="Times New Roman" panose="02020603050405020304" pitchFamily="18" charset="0"/>
                <a:cs typeface="Times New Roman" panose="02020603050405020304" pitchFamily="18" charset="0"/>
              </a:rPr>
              <a:t>usually involves several stages. </a:t>
            </a:r>
            <a:endParaRPr lang="en-US" sz="2400" b="1" u="sng" dirty="0" smtClean="0">
              <a:solidFill>
                <a:srgbClr val="FF0000"/>
              </a:solidFill>
              <a:latin typeface="Times New Roman" panose="02020603050405020304" pitchFamily="18" charset="0"/>
              <a:cs typeface="Times New Roman" panose="02020603050405020304" pitchFamily="18" charset="0"/>
            </a:endParaRPr>
          </a:p>
          <a:p>
            <a:pPr algn="just"/>
            <a:r>
              <a:rPr lang="en-US" sz="2400" b="1" dirty="0" smtClean="0">
                <a:solidFill>
                  <a:srgbClr val="C00000"/>
                </a:solidFill>
                <a:latin typeface="Times New Roman" panose="02020603050405020304" pitchFamily="18" charset="0"/>
                <a:cs typeface="Times New Roman" panose="02020603050405020304" pitchFamily="18" charset="0"/>
              </a:rPr>
              <a:t>Module </a:t>
            </a:r>
            <a:r>
              <a:rPr lang="en-US" sz="2400" b="1" dirty="0">
                <a:solidFill>
                  <a:srgbClr val="C00000"/>
                </a:solidFill>
                <a:latin typeface="Times New Roman" panose="02020603050405020304" pitchFamily="18" charset="0"/>
                <a:cs typeface="Times New Roman" panose="02020603050405020304" pitchFamily="18" charset="0"/>
              </a:rPr>
              <a:t>testing</a:t>
            </a:r>
            <a:r>
              <a:rPr lang="en-US" sz="2400" dirty="0">
                <a:solidFill>
                  <a:srgbClr val="C00000"/>
                </a:solidFill>
                <a:latin typeface="Times New Roman" panose="02020603050405020304" pitchFamily="18" charset="0"/>
                <a:cs typeface="Times New Roman" panose="02020603050405020304" pitchFamily="18" charset="0"/>
              </a:rPr>
              <a:t>, </a:t>
            </a:r>
            <a:r>
              <a:rPr lang="en-US" sz="2400" b="1" dirty="0">
                <a:solidFill>
                  <a:srgbClr val="C00000"/>
                </a:solidFill>
                <a:latin typeface="Times New Roman" panose="02020603050405020304" pitchFamily="18" charset="0"/>
                <a:cs typeface="Times New Roman" panose="02020603050405020304" pitchFamily="18" charset="0"/>
              </a:rPr>
              <a:t>component testing</a:t>
            </a:r>
            <a:r>
              <a:rPr lang="en-US" sz="2400" dirty="0">
                <a:solidFill>
                  <a:srgbClr val="C00000"/>
                </a:solidFill>
                <a:latin typeface="Times New Roman" panose="02020603050405020304" pitchFamily="18" charset="0"/>
                <a:cs typeface="Times New Roman" panose="02020603050405020304" pitchFamily="18" charset="0"/>
              </a:rPr>
              <a:t>, or </a:t>
            </a:r>
            <a:r>
              <a:rPr lang="en-US" sz="2400" b="1" dirty="0">
                <a:solidFill>
                  <a:srgbClr val="C00000"/>
                </a:solidFill>
                <a:latin typeface="Times New Roman" panose="02020603050405020304" pitchFamily="18" charset="0"/>
                <a:cs typeface="Times New Roman" panose="02020603050405020304" pitchFamily="18" charset="0"/>
              </a:rPr>
              <a:t>unit testing </a:t>
            </a:r>
            <a:r>
              <a:rPr lang="en-US" sz="2400" b="1" dirty="0" smtClean="0">
                <a:solidFill>
                  <a:srgbClr val="C00000"/>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First</a:t>
            </a:r>
            <a:r>
              <a:rPr lang="en-US" sz="2400" dirty="0">
                <a:latin typeface="Times New Roman" panose="02020603050405020304" pitchFamily="18" charset="0"/>
                <a:cs typeface="Times New Roman" panose="02020603050405020304" pitchFamily="18" charset="0"/>
              </a:rPr>
              <a:t>, each program component is tested on </a:t>
            </a:r>
            <a:r>
              <a:rPr lang="en-US" sz="2400" dirty="0" smtClean="0">
                <a:latin typeface="Times New Roman" panose="02020603050405020304" pitchFamily="18" charset="0"/>
                <a:cs typeface="Times New Roman" panose="02020603050405020304" pitchFamily="18" charset="0"/>
              </a:rPr>
              <a:t>its own</a:t>
            </a:r>
            <a:r>
              <a:rPr lang="en-US" sz="2400" dirty="0">
                <a:latin typeface="Times New Roman" panose="02020603050405020304" pitchFamily="18" charset="0"/>
                <a:cs typeface="Times New Roman" panose="02020603050405020304" pitchFamily="18" charset="0"/>
              </a:rPr>
              <a:t>. Such testing, known </a:t>
            </a:r>
            <a:r>
              <a:rPr lang="en-US" sz="2400" dirty="0" smtClean="0">
                <a:latin typeface="Times New Roman" panose="02020603050405020304" pitchFamily="18" charset="0"/>
                <a:cs typeface="Times New Roman" panose="02020603050405020304" pitchFamily="18" charset="0"/>
              </a:rPr>
              <a:t>as, </a:t>
            </a:r>
            <a:r>
              <a:rPr lang="en-US" sz="2400" b="1" dirty="0">
                <a:latin typeface="Times New Roman" panose="02020603050405020304" pitchFamily="18" charset="0"/>
                <a:cs typeface="Times New Roman" panose="02020603050405020304" pitchFamily="18" charset="0"/>
              </a:rPr>
              <a:t>module testing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component testing</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unit testing </a:t>
            </a:r>
            <a:r>
              <a:rPr lang="en-US" sz="2400" b="1" dirty="0" smtClean="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It verifies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that </a:t>
            </a:r>
            <a:r>
              <a:rPr lang="en-US" sz="2400" dirty="0">
                <a:latin typeface="Times New Roman" panose="02020603050405020304" pitchFamily="18" charset="0"/>
                <a:cs typeface="Times New Roman" panose="02020603050405020304" pitchFamily="18" charset="0"/>
              </a:rPr>
              <a:t>the component functions properly with the types of input expected from a study of </a:t>
            </a:r>
            <a:r>
              <a:rPr lang="en-US" sz="2400" dirty="0" smtClean="0">
                <a:latin typeface="Times New Roman" panose="02020603050405020304" pitchFamily="18" charset="0"/>
                <a:cs typeface="Times New Roman" panose="02020603050405020304" pitchFamily="18" charset="0"/>
              </a:rPr>
              <a:t>the component’s </a:t>
            </a:r>
            <a:r>
              <a:rPr lang="en-US" sz="2400" dirty="0">
                <a:latin typeface="Times New Roman" panose="02020603050405020304" pitchFamily="18" charset="0"/>
                <a:cs typeface="Times New Roman" panose="02020603050405020304" pitchFamily="18" charset="0"/>
              </a:rPr>
              <a:t>design. </a:t>
            </a:r>
            <a:r>
              <a:rPr lang="en-US" sz="2400" b="1" dirty="0">
                <a:latin typeface="Times New Roman" panose="02020603050405020304" pitchFamily="18" charset="0"/>
                <a:cs typeface="Times New Roman" panose="02020603050405020304" pitchFamily="18" charset="0"/>
              </a:rPr>
              <a:t>Unit testing </a:t>
            </a:r>
            <a:r>
              <a:rPr lang="en-US" sz="2400" dirty="0">
                <a:latin typeface="Times New Roman" panose="02020603050405020304" pitchFamily="18" charset="0"/>
                <a:cs typeface="Times New Roman" panose="02020603050405020304" pitchFamily="18" charset="0"/>
              </a:rPr>
              <a:t>is done so that the test team can feed a </a:t>
            </a:r>
            <a:r>
              <a:rPr lang="en-US" sz="2400" dirty="0" smtClean="0">
                <a:latin typeface="Times New Roman" panose="02020603050405020304" pitchFamily="18" charset="0"/>
                <a:cs typeface="Times New Roman" panose="02020603050405020304" pitchFamily="18" charset="0"/>
              </a:rPr>
              <a:t>predetermined set </a:t>
            </a:r>
            <a:r>
              <a:rPr lang="en-US" sz="2400" dirty="0">
                <a:latin typeface="Times New Roman" panose="02020603050405020304" pitchFamily="18" charset="0"/>
                <a:cs typeface="Times New Roman" panose="02020603050405020304" pitchFamily="18" charset="0"/>
              </a:rPr>
              <a:t>of data to the component being tested and observe what output actions and data </a:t>
            </a:r>
            <a:r>
              <a:rPr lang="en-US" sz="2400" dirty="0" smtClean="0">
                <a:latin typeface="Times New Roman" panose="02020603050405020304" pitchFamily="18" charset="0"/>
                <a:cs typeface="Times New Roman" panose="02020603050405020304" pitchFamily="18" charset="0"/>
              </a:rPr>
              <a:t>are </a:t>
            </a:r>
            <a:r>
              <a:rPr lang="en-IN" sz="2400" dirty="0" smtClean="0">
                <a:latin typeface="Times New Roman" panose="02020603050405020304" pitchFamily="18" charset="0"/>
                <a:cs typeface="Times New Roman" panose="02020603050405020304" pitchFamily="18" charset="0"/>
              </a:rPr>
              <a:t>produced.</a:t>
            </a: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smtClean="0">
                <a:solidFill>
                  <a:srgbClr val="C00000"/>
                </a:solidFill>
                <a:latin typeface="Times New Roman" panose="02020603050405020304" pitchFamily="18" charset="0"/>
                <a:cs typeface="Times New Roman" panose="02020603050405020304" pitchFamily="18" charset="0"/>
              </a:rPr>
              <a:t>Integration testing: </a:t>
            </a:r>
            <a:r>
              <a:rPr lang="en-US" sz="2400" dirty="0">
                <a:latin typeface="Times New Roman" panose="02020603050405020304" pitchFamily="18" charset="0"/>
                <a:cs typeface="Times New Roman" panose="02020603050405020304" pitchFamily="18" charset="0"/>
              </a:rPr>
              <a:t>When collections of components have been subjected to unit testing, the next step </a:t>
            </a:r>
            <a:r>
              <a:rPr lang="en-US" sz="2400" dirty="0" smtClean="0">
                <a:latin typeface="Times New Roman" panose="02020603050405020304" pitchFamily="18" charset="0"/>
                <a:cs typeface="Times New Roman" panose="02020603050405020304" pitchFamily="18" charset="0"/>
              </a:rPr>
              <a:t>is ensuring </a:t>
            </a:r>
            <a:r>
              <a:rPr lang="en-US" sz="2400" dirty="0">
                <a:latin typeface="Times New Roman" panose="02020603050405020304" pitchFamily="18" charset="0"/>
                <a:cs typeface="Times New Roman" panose="02020603050405020304" pitchFamily="18" charset="0"/>
              </a:rPr>
              <a:t>that the interfaces among the components are defined and handled </a:t>
            </a:r>
            <a:r>
              <a:rPr lang="en-US" sz="2400" dirty="0" smtClean="0">
                <a:latin typeface="Times New Roman" panose="02020603050405020304" pitchFamily="18" charset="0"/>
                <a:cs typeface="Times New Roman" panose="02020603050405020304" pitchFamily="18" charset="0"/>
              </a:rPr>
              <a:t>properly. Indeed</a:t>
            </a:r>
            <a:r>
              <a:rPr lang="en-US" sz="2400" dirty="0">
                <a:latin typeface="Times New Roman" panose="02020603050405020304" pitchFamily="18" charset="0"/>
                <a:cs typeface="Times New Roman" panose="02020603050405020304" pitchFamily="18" charset="0"/>
              </a:rPr>
              <a:t>, interface mismatch can be a significant security vulnerability, so the </a:t>
            </a:r>
            <a:r>
              <a:rPr lang="en-US" sz="2400" dirty="0" smtClean="0">
                <a:latin typeface="Times New Roman" panose="02020603050405020304" pitchFamily="18" charset="0"/>
                <a:cs typeface="Times New Roman" panose="02020603050405020304" pitchFamily="18" charset="0"/>
              </a:rPr>
              <a:t>interface design </a:t>
            </a:r>
            <a:r>
              <a:rPr lang="en-US" sz="2400" dirty="0">
                <a:latin typeface="Times New Roman" panose="02020603050405020304" pitchFamily="18" charset="0"/>
                <a:cs typeface="Times New Roman" panose="02020603050405020304" pitchFamily="18" charset="0"/>
              </a:rPr>
              <a:t>is often documented as an </a:t>
            </a:r>
            <a:r>
              <a:rPr lang="en-US" sz="2400" b="1" dirty="0">
                <a:latin typeface="Times New Roman" panose="02020603050405020304" pitchFamily="18" charset="0"/>
                <a:cs typeface="Times New Roman" panose="02020603050405020304" pitchFamily="18" charset="0"/>
              </a:rPr>
              <a:t>application programming interface or API</a:t>
            </a:r>
            <a:r>
              <a:rPr lang="en-US" sz="2400" b="1" dirty="0" smtClean="0">
                <a:latin typeface="Times New Roman" panose="02020603050405020304" pitchFamily="18"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Integration testing </a:t>
            </a:r>
            <a:r>
              <a:rPr lang="en-US" sz="2400" dirty="0">
                <a:latin typeface="Times New Roman" panose="02020603050405020304" pitchFamily="18" charset="0"/>
                <a:cs typeface="Times New Roman" panose="02020603050405020304" pitchFamily="18" charset="0"/>
              </a:rPr>
              <a:t>is the process of verifying that the system components work together</a:t>
            </a:r>
          </a:p>
          <a:p>
            <a:pPr algn="just"/>
            <a:r>
              <a:rPr lang="en-US" sz="2400" dirty="0">
                <a:latin typeface="Times New Roman" panose="02020603050405020304" pitchFamily="18" charset="0"/>
                <a:cs typeface="Times New Roman" panose="02020603050405020304" pitchFamily="18" charset="0"/>
              </a:rPr>
              <a:t>as described in the system and program design specifications.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50322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smtClean="0"/>
              <a:t>Countermeasures for Developers :</a:t>
            </a:r>
            <a:r>
              <a:rPr lang="en-US" dirty="0" smtClean="0">
                <a:solidFill>
                  <a:srgbClr val="0070C0"/>
                </a:solidFill>
              </a:rPr>
              <a:t>Testing:  </a:t>
            </a:r>
            <a:r>
              <a:rPr lang="en-US" sz="3600" dirty="0" smtClean="0">
                <a:solidFill>
                  <a:srgbClr val="7030A0"/>
                </a:solidFill>
              </a:rPr>
              <a:t>‘Types </a:t>
            </a:r>
            <a:r>
              <a:rPr lang="en-US" sz="3600" dirty="0">
                <a:solidFill>
                  <a:srgbClr val="7030A0"/>
                </a:solidFill>
              </a:rPr>
              <a:t>of </a:t>
            </a:r>
            <a:r>
              <a:rPr lang="en-US" sz="3600" dirty="0" smtClean="0">
                <a:solidFill>
                  <a:srgbClr val="7030A0"/>
                </a:solidFill>
              </a:rPr>
              <a:t>Testing’</a:t>
            </a:r>
            <a:endParaRPr lang="en-US" sz="3600" dirty="0">
              <a:solidFill>
                <a:srgbClr val="7030A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59</a:t>
            </a:fld>
            <a:endParaRPr lang="en-US">
              <a:latin typeface="Arial"/>
            </a:endParaRPr>
          </a:p>
        </p:txBody>
      </p:sp>
      <p:sp>
        <p:nvSpPr>
          <p:cNvPr id="5" name="Rectangle 4"/>
          <p:cNvSpPr/>
          <p:nvPr/>
        </p:nvSpPr>
        <p:spPr>
          <a:xfrm>
            <a:off x="202019" y="1524000"/>
            <a:ext cx="11986806" cy="4524315"/>
          </a:xfrm>
          <a:prstGeom prst="rect">
            <a:avLst/>
          </a:prstGeom>
        </p:spPr>
        <p:txBody>
          <a:bodyPr wrap="square">
            <a:spAutoFit/>
          </a:bodyPr>
          <a:lstStyle/>
          <a:p>
            <a:pPr algn="ctr"/>
            <a:r>
              <a:rPr lang="en-US" sz="2400" b="1" u="sng" dirty="0" smtClean="0">
                <a:solidFill>
                  <a:srgbClr val="FF0000"/>
                </a:solidFill>
                <a:latin typeface="Times New Roman" panose="02020603050405020304" pitchFamily="18" charset="0"/>
                <a:cs typeface="Times New Roman" panose="02020603050405020304" pitchFamily="18" charset="0"/>
              </a:rPr>
              <a:t>Testing </a:t>
            </a:r>
            <a:r>
              <a:rPr lang="en-US" sz="2400" b="1" u="sng" dirty="0">
                <a:solidFill>
                  <a:srgbClr val="FF0000"/>
                </a:solidFill>
                <a:latin typeface="Times New Roman" panose="02020603050405020304" pitchFamily="18" charset="0"/>
                <a:cs typeface="Times New Roman" panose="02020603050405020304" pitchFamily="18" charset="0"/>
              </a:rPr>
              <a:t>usually involves several </a:t>
            </a:r>
            <a:r>
              <a:rPr lang="en-US" sz="2400" b="1" u="sng" dirty="0" smtClean="0">
                <a:solidFill>
                  <a:srgbClr val="FF0000"/>
                </a:solidFill>
                <a:latin typeface="Times New Roman" panose="02020603050405020304" pitchFamily="18" charset="0"/>
                <a:cs typeface="Times New Roman" panose="02020603050405020304" pitchFamily="18" charset="0"/>
              </a:rPr>
              <a:t>stages</a:t>
            </a:r>
          </a:p>
          <a:p>
            <a:pPr algn="ctr"/>
            <a:r>
              <a:rPr lang="en-US" sz="2400" b="1" u="sng" dirty="0" smtClean="0">
                <a:solidFill>
                  <a:srgbClr val="FF0000"/>
                </a:solidFill>
                <a:latin typeface="Times New Roman" panose="02020603050405020304" pitchFamily="18" charset="0"/>
                <a:cs typeface="Times New Roman" panose="02020603050405020304" pitchFamily="18" charset="0"/>
              </a:rPr>
              <a:t> </a:t>
            </a:r>
          </a:p>
          <a:p>
            <a:pPr algn="just"/>
            <a:r>
              <a:rPr lang="en-US" sz="2400" b="1" dirty="0" smtClean="0">
                <a:solidFill>
                  <a:srgbClr val="C00000"/>
                </a:solidFill>
                <a:latin typeface="Times New Roman" panose="02020603050405020304" pitchFamily="18" charset="0"/>
                <a:cs typeface="Times New Roman" panose="02020603050405020304" pitchFamily="18" charset="0"/>
              </a:rPr>
              <a:t>A function test </a:t>
            </a:r>
            <a:r>
              <a:rPr lang="en-US" sz="2400" dirty="0">
                <a:latin typeface="Times New Roman" panose="02020603050405020304" pitchFamily="18" charset="0"/>
                <a:cs typeface="Times New Roman" panose="02020603050405020304" pitchFamily="18" charset="0"/>
              </a:rPr>
              <a:t>evaluates the system to determine whether the functions described by the requirements specification are actually performed by the integrated system. The result is a functioning system. The function test compares the system being built with the functions described in </a:t>
            </a:r>
            <a:r>
              <a:rPr lang="en-US" sz="2400" dirty="0" smtClean="0">
                <a:latin typeface="Times New Roman" panose="02020603050405020304" pitchFamily="18" charset="0"/>
                <a:cs typeface="Times New Roman" panose="02020603050405020304" pitchFamily="18" charset="0"/>
              </a:rPr>
              <a:t>the developers</a:t>
            </a:r>
            <a:r>
              <a:rPr lang="en-US" sz="2400" dirty="0">
                <a:latin typeface="Times New Roman" panose="02020603050405020304" pitchFamily="18" charset="0"/>
                <a:cs typeface="Times New Roman" panose="02020603050405020304" pitchFamily="18" charset="0"/>
              </a:rPr>
              <a:t>’ requirements specification.</a:t>
            </a:r>
          </a:p>
          <a:p>
            <a:pPr algn="just"/>
            <a:endParaRPr lang="en-IN" sz="2400" dirty="0" smtClean="0">
              <a:latin typeface="Times New Roman" panose="02020603050405020304" pitchFamily="18" charset="0"/>
              <a:cs typeface="Times New Roman" panose="02020603050405020304" pitchFamily="18" charset="0"/>
            </a:endParaRPr>
          </a:p>
          <a:p>
            <a:pPr algn="just"/>
            <a:r>
              <a:rPr lang="en-US" sz="2400" b="1" dirty="0">
                <a:solidFill>
                  <a:srgbClr val="C00000"/>
                </a:solidFill>
                <a:latin typeface="Times New Roman" panose="02020603050405020304" pitchFamily="18" charset="0"/>
                <a:cs typeface="Times New Roman" panose="02020603050405020304" pitchFamily="18" charset="0"/>
              </a:rPr>
              <a:t>Performance </a:t>
            </a:r>
            <a:r>
              <a:rPr lang="en-US" sz="2400" b="1" dirty="0" smtClean="0">
                <a:solidFill>
                  <a:srgbClr val="C00000"/>
                </a:solidFill>
                <a:latin typeface="Times New Roman" panose="02020603050405020304" pitchFamily="18" charset="0"/>
                <a:cs typeface="Times New Roman" panose="02020603050405020304" pitchFamily="18" charset="0"/>
              </a:rPr>
              <a:t>test: </a:t>
            </a:r>
            <a:r>
              <a:rPr lang="en-US" sz="2400" dirty="0" smtClean="0">
                <a:latin typeface="Times New Roman" panose="02020603050405020304" pitchFamily="18" charset="0"/>
                <a:cs typeface="Times New Roman" panose="02020603050405020304" pitchFamily="18" charset="0"/>
              </a:rPr>
              <a:t>It compares </a:t>
            </a:r>
            <a:r>
              <a:rPr lang="en-US" sz="2400" dirty="0">
                <a:latin typeface="Times New Roman" panose="02020603050405020304" pitchFamily="18" charset="0"/>
                <a:cs typeface="Times New Roman" panose="02020603050405020304" pitchFamily="18" charset="0"/>
              </a:rPr>
              <a:t>the </a:t>
            </a:r>
            <a:r>
              <a:rPr lang="en-US" sz="2400" dirty="0" smtClean="0">
                <a:latin typeface="Times New Roman" panose="02020603050405020304" pitchFamily="18" charset="0"/>
                <a:cs typeface="Times New Roman" panose="02020603050405020304" pitchFamily="18" charset="0"/>
              </a:rPr>
              <a:t>system with </a:t>
            </a:r>
            <a:r>
              <a:rPr lang="en-US" sz="2400" dirty="0">
                <a:latin typeface="Times New Roman" panose="02020603050405020304" pitchFamily="18" charset="0"/>
                <a:cs typeface="Times New Roman" panose="02020603050405020304" pitchFamily="18" charset="0"/>
              </a:rPr>
              <a:t>the remainder of these software and </a:t>
            </a:r>
            <a:r>
              <a:rPr lang="en-US" sz="2400" dirty="0" smtClean="0">
                <a:latin typeface="Times New Roman" panose="02020603050405020304" pitchFamily="18" charset="0"/>
                <a:cs typeface="Times New Roman" panose="02020603050405020304" pitchFamily="18" charset="0"/>
              </a:rPr>
              <a:t>hardware requirements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During </a:t>
            </a:r>
            <a:r>
              <a:rPr lang="en-US" sz="2400" dirty="0">
                <a:latin typeface="Times New Roman" panose="02020603050405020304" pitchFamily="18" charset="0"/>
                <a:cs typeface="Times New Roman" panose="02020603050405020304" pitchFamily="18" charset="0"/>
              </a:rPr>
              <a:t>the function </a:t>
            </a:r>
            <a:r>
              <a:rPr lang="en-US" sz="2400" dirty="0" smtClean="0">
                <a:latin typeface="Times New Roman" panose="02020603050405020304" pitchFamily="18" charset="0"/>
                <a:cs typeface="Times New Roman" panose="02020603050405020304" pitchFamily="18" charset="0"/>
              </a:rPr>
              <a:t>and performance </a:t>
            </a:r>
            <a:r>
              <a:rPr lang="en-US" sz="2400" dirty="0">
                <a:latin typeface="Times New Roman" panose="02020603050405020304" pitchFamily="18" charset="0"/>
                <a:cs typeface="Times New Roman" panose="02020603050405020304" pitchFamily="18" charset="0"/>
              </a:rPr>
              <a:t>tests, testers examine security requirements and confirm that the system is </a:t>
            </a:r>
            <a:r>
              <a:rPr lang="en-US" sz="2400" dirty="0" smtClean="0">
                <a:latin typeface="Times New Roman" panose="02020603050405020304" pitchFamily="18" charset="0"/>
                <a:cs typeface="Times New Roman" panose="02020603050405020304" pitchFamily="18" charset="0"/>
              </a:rPr>
              <a:t>as secure </a:t>
            </a:r>
            <a:r>
              <a:rPr lang="en-US" sz="2400" dirty="0">
                <a:latin typeface="Times New Roman" panose="02020603050405020304" pitchFamily="18" charset="0"/>
                <a:cs typeface="Times New Roman" panose="02020603050405020304" pitchFamily="18" charset="0"/>
              </a:rPr>
              <a:t>as it is required to be</a:t>
            </a:r>
            <a:r>
              <a:rPr lang="en-US"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637825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smtClean="0"/>
              <a:t>Countermeasures for Developers :</a:t>
            </a:r>
            <a:r>
              <a:rPr lang="en-US" dirty="0" smtClean="0">
                <a:solidFill>
                  <a:srgbClr val="0070C0"/>
                </a:solidFill>
              </a:rPr>
              <a:t>Testing:  </a:t>
            </a:r>
            <a:r>
              <a:rPr lang="en-US" sz="3600" dirty="0" smtClean="0">
                <a:solidFill>
                  <a:srgbClr val="7030A0"/>
                </a:solidFill>
              </a:rPr>
              <a:t>‘Types </a:t>
            </a:r>
            <a:r>
              <a:rPr lang="en-US" sz="3600" dirty="0">
                <a:solidFill>
                  <a:srgbClr val="7030A0"/>
                </a:solidFill>
              </a:rPr>
              <a:t>of </a:t>
            </a:r>
            <a:r>
              <a:rPr lang="en-US" sz="3600" dirty="0" smtClean="0">
                <a:solidFill>
                  <a:srgbClr val="7030A0"/>
                </a:solidFill>
              </a:rPr>
              <a:t>Testing’</a:t>
            </a:r>
            <a:endParaRPr lang="en-US" sz="3600" dirty="0">
              <a:solidFill>
                <a:srgbClr val="7030A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60</a:t>
            </a:fld>
            <a:endParaRPr lang="en-US">
              <a:latin typeface="Arial"/>
            </a:endParaRPr>
          </a:p>
        </p:txBody>
      </p:sp>
      <p:sp>
        <p:nvSpPr>
          <p:cNvPr id="5" name="Rectangle 4"/>
          <p:cNvSpPr/>
          <p:nvPr/>
        </p:nvSpPr>
        <p:spPr>
          <a:xfrm>
            <a:off x="202019" y="1524000"/>
            <a:ext cx="11986806" cy="5632311"/>
          </a:xfrm>
          <a:prstGeom prst="rect">
            <a:avLst/>
          </a:prstGeom>
        </p:spPr>
        <p:txBody>
          <a:bodyPr wrap="square">
            <a:spAutoFit/>
          </a:bodyPr>
          <a:lstStyle/>
          <a:p>
            <a:pPr algn="ctr"/>
            <a:r>
              <a:rPr lang="en-US" sz="2400" b="1" u="sng" dirty="0" smtClean="0">
                <a:solidFill>
                  <a:srgbClr val="FF0000"/>
                </a:solidFill>
                <a:latin typeface="Times New Roman" panose="02020603050405020304" pitchFamily="18" charset="0"/>
                <a:cs typeface="Times New Roman" panose="02020603050405020304" pitchFamily="18" charset="0"/>
              </a:rPr>
              <a:t>Testing </a:t>
            </a:r>
            <a:r>
              <a:rPr lang="en-US" sz="2400" b="1" u="sng" dirty="0">
                <a:solidFill>
                  <a:srgbClr val="FF0000"/>
                </a:solidFill>
                <a:latin typeface="Times New Roman" panose="02020603050405020304" pitchFamily="18" charset="0"/>
                <a:cs typeface="Times New Roman" panose="02020603050405020304" pitchFamily="18" charset="0"/>
              </a:rPr>
              <a:t>usually involves several </a:t>
            </a:r>
            <a:r>
              <a:rPr lang="en-US" sz="2400" b="1" u="sng" dirty="0" smtClean="0">
                <a:solidFill>
                  <a:srgbClr val="FF0000"/>
                </a:solidFill>
                <a:latin typeface="Times New Roman" panose="02020603050405020304" pitchFamily="18" charset="0"/>
                <a:cs typeface="Times New Roman" panose="02020603050405020304" pitchFamily="18" charset="0"/>
              </a:rPr>
              <a:t>stages </a:t>
            </a:r>
          </a:p>
          <a:p>
            <a:pPr algn="ctr"/>
            <a:endParaRPr lang="en-US" sz="2400" b="1" u="sng" dirty="0" smtClean="0">
              <a:solidFill>
                <a:srgbClr val="FF0000"/>
              </a:solidFill>
              <a:latin typeface="Times New Roman" panose="02020603050405020304" pitchFamily="18" charset="0"/>
              <a:cs typeface="Times New Roman" panose="02020603050405020304" pitchFamily="18" charset="0"/>
            </a:endParaRPr>
          </a:p>
          <a:p>
            <a:pPr algn="just"/>
            <a:r>
              <a:rPr lang="en-US" sz="2400" b="1" dirty="0" smtClean="0">
                <a:solidFill>
                  <a:srgbClr val="C00000"/>
                </a:solidFill>
                <a:latin typeface="Times New Roman" panose="02020603050405020304" pitchFamily="18" charset="0"/>
                <a:cs typeface="Times New Roman" panose="02020603050405020304" pitchFamily="18" charset="0"/>
              </a:rPr>
              <a:t>Acceptance test: </a:t>
            </a:r>
            <a:r>
              <a:rPr lang="en-US" sz="2400" dirty="0" smtClean="0">
                <a:latin typeface="Times New Roman" panose="02020603050405020304" pitchFamily="18" charset="0"/>
                <a:cs typeface="Times New Roman" panose="02020603050405020304" pitchFamily="18" charset="0"/>
              </a:rPr>
              <a:t>In this test the system is checked against the customer’s requirements description. Upon completion of acceptance testing, the accepted system is installed in the environment in which it will be used.</a:t>
            </a:r>
          </a:p>
          <a:p>
            <a:pPr algn="just"/>
            <a:endParaRPr lang="en-IN" sz="2400" dirty="0" smtClean="0">
              <a:latin typeface="Times New Roman" panose="02020603050405020304" pitchFamily="18" charset="0"/>
              <a:cs typeface="Times New Roman" panose="02020603050405020304" pitchFamily="18" charset="0"/>
            </a:endParaRPr>
          </a:p>
          <a:p>
            <a:pPr algn="just"/>
            <a:r>
              <a:rPr lang="en-US" sz="2400" b="1" dirty="0" smtClean="0">
                <a:solidFill>
                  <a:srgbClr val="C00000"/>
                </a:solidFill>
                <a:latin typeface="Times New Roman" panose="02020603050405020304" pitchFamily="18" charset="0"/>
                <a:cs typeface="Times New Roman" panose="02020603050405020304" pitchFamily="18" charset="0"/>
              </a:rPr>
              <a:t>Installation test: </a:t>
            </a:r>
            <a:r>
              <a:rPr lang="en-US" sz="2400" dirty="0">
                <a:latin typeface="Times New Roman" panose="02020603050405020304" pitchFamily="18" charset="0"/>
                <a:cs typeface="Times New Roman" panose="02020603050405020304" pitchFamily="18" charset="0"/>
              </a:rPr>
              <a:t>A final installation test is run to make sure that the system still functions as it</a:t>
            </a:r>
          </a:p>
          <a:p>
            <a:pPr algn="just"/>
            <a:r>
              <a:rPr lang="en-US" sz="2400" dirty="0">
                <a:latin typeface="Times New Roman" panose="02020603050405020304" pitchFamily="18" charset="0"/>
                <a:cs typeface="Times New Roman" panose="02020603050405020304" pitchFamily="18" charset="0"/>
              </a:rPr>
              <a:t>should. However, security requirements often state that a system should not do something</a:t>
            </a:r>
            <a:r>
              <a:rPr lang="en-US" sz="2400" dirty="0" smtClean="0">
                <a:latin typeface="Times New Roman" panose="02020603050405020304" pitchFamily="18" charset="0"/>
                <a:cs typeface="Times New Roman" panose="02020603050405020304" pitchFamily="18" charset="0"/>
              </a:rPr>
              <a:t>.</a:t>
            </a:r>
          </a:p>
          <a:p>
            <a:pPr algn="just"/>
            <a:endParaRPr lang="en-IN" sz="2400" b="1" dirty="0" smtClean="0">
              <a:solidFill>
                <a:srgbClr val="C00000"/>
              </a:solidFill>
              <a:latin typeface="Times New Roman" panose="02020603050405020304" pitchFamily="18" charset="0"/>
              <a:cs typeface="Times New Roman" panose="02020603050405020304" pitchFamily="18" charset="0"/>
            </a:endParaRPr>
          </a:p>
          <a:p>
            <a:pPr algn="just"/>
            <a:r>
              <a:rPr lang="en-IN" sz="2400" b="1" dirty="0" smtClean="0">
                <a:solidFill>
                  <a:srgbClr val="C00000"/>
                </a:solidFill>
                <a:latin typeface="Times New Roman" panose="02020603050405020304" pitchFamily="18" charset="0"/>
                <a:cs typeface="Times New Roman" panose="02020603050405020304" pitchFamily="18" charset="0"/>
              </a:rPr>
              <a:t>Regression testing: </a:t>
            </a:r>
            <a:r>
              <a:rPr lang="en-US" sz="2400" dirty="0">
                <a:latin typeface="Times New Roman" panose="02020603050405020304" pitchFamily="18" charset="0"/>
                <a:cs typeface="Times New Roman" panose="02020603050405020304" pitchFamily="18" charset="0"/>
              </a:rPr>
              <a:t>System testing has a very different objective: to ensure that the system </a:t>
            </a:r>
            <a:r>
              <a:rPr lang="en-US" sz="2400" dirty="0" smtClean="0">
                <a:latin typeface="Times New Roman" panose="02020603050405020304" pitchFamily="18" charset="0"/>
                <a:cs typeface="Times New Roman" panose="02020603050405020304" pitchFamily="18" charset="0"/>
              </a:rPr>
              <a:t>does what </a:t>
            </a:r>
            <a:r>
              <a:rPr lang="en-US" sz="2400" dirty="0">
                <a:latin typeface="Times New Roman" panose="02020603050405020304" pitchFamily="18" charset="0"/>
                <a:cs typeface="Times New Roman" panose="02020603050405020304" pitchFamily="18" charset="0"/>
              </a:rPr>
              <a:t>the customer wants it to do. Regression testing, an aspect of system testing, </a:t>
            </a:r>
            <a:r>
              <a:rPr lang="en-US" sz="2400" dirty="0" smtClean="0">
                <a:latin typeface="Times New Roman" panose="02020603050405020304" pitchFamily="18" charset="0"/>
                <a:cs typeface="Times New Roman" panose="02020603050405020304" pitchFamily="18" charset="0"/>
              </a:rPr>
              <a:t>is particularly </a:t>
            </a:r>
            <a:r>
              <a:rPr lang="en-US" sz="2400" dirty="0">
                <a:latin typeface="Times New Roman" panose="02020603050405020304" pitchFamily="18" charset="0"/>
                <a:cs typeface="Times New Roman" panose="02020603050405020304" pitchFamily="18" charset="0"/>
              </a:rPr>
              <a:t>important for security purposes. After a change is made to enhance the </a:t>
            </a:r>
            <a:r>
              <a:rPr lang="en-US" sz="2400" dirty="0" smtClean="0">
                <a:latin typeface="Times New Roman" panose="02020603050405020304" pitchFamily="18" charset="0"/>
                <a:cs typeface="Times New Roman" panose="02020603050405020304" pitchFamily="18" charset="0"/>
              </a:rPr>
              <a:t>system or </a:t>
            </a:r>
            <a:r>
              <a:rPr lang="en-US" sz="2400" dirty="0">
                <a:latin typeface="Times New Roman" panose="02020603050405020304" pitchFamily="18" charset="0"/>
                <a:cs typeface="Times New Roman" panose="02020603050405020304" pitchFamily="18" charset="0"/>
              </a:rPr>
              <a:t>fix a problem, </a:t>
            </a:r>
            <a:r>
              <a:rPr lang="en-US" sz="2400" b="1" dirty="0">
                <a:latin typeface="Times New Roman" panose="02020603050405020304" pitchFamily="18" charset="0"/>
                <a:cs typeface="Times New Roman" panose="02020603050405020304" pitchFamily="18" charset="0"/>
              </a:rPr>
              <a:t>regression testing </a:t>
            </a:r>
            <a:r>
              <a:rPr lang="en-US" sz="2400" dirty="0">
                <a:latin typeface="Times New Roman" panose="02020603050405020304" pitchFamily="18" charset="0"/>
                <a:cs typeface="Times New Roman" panose="02020603050405020304" pitchFamily="18" charset="0"/>
              </a:rPr>
              <a:t>ensures that all remaining functions are still </a:t>
            </a:r>
            <a:r>
              <a:rPr lang="en-US" sz="2400" dirty="0" smtClean="0">
                <a:latin typeface="Times New Roman" panose="02020603050405020304" pitchFamily="18" charset="0"/>
                <a:cs typeface="Times New Roman" panose="02020603050405020304" pitchFamily="18" charset="0"/>
              </a:rPr>
              <a:t>working and </a:t>
            </a:r>
            <a:r>
              <a:rPr lang="en-US" sz="2400" dirty="0">
                <a:latin typeface="Times New Roman" panose="02020603050405020304" pitchFamily="18" charset="0"/>
                <a:cs typeface="Times New Roman" panose="02020603050405020304" pitchFamily="18" charset="0"/>
              </a:rPr>
              <a:t>that performance has not been degraded by the change.</a:t>
            </a:r>
            <a:endParaRPr lang="en-US" sz="2400" b="1" dirty="0">
              <a:solidFill>
                <a:srgbClr val="C00000"/>
              </a:solidFill>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476757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12188825" cy="990600"/>
          </a:xfrm>
        </p:spPr>
        <p:txBody>
          <a:bodyPr>
            <a:normAutofit fontScale="90000"/>
          </a:bodyPr>
          <a:lstStyle/>
          <a:p>
            <a:r>
              <a:rPr lang="en-US" dirty="0" smtClean="0"/>
              <a:t>Countermeasures for Developers :</a:t>
            </a:r>
            <a:r>
              <a:rPr lang="en-US" dirty="0" smtClean="0">
                <a:solidFill>
                  <a:srgbClr val="0070C0"/>
                </a:solidFill>
              </a:rPr>
              <a:t>Testing:  </a:t>
            </a:r>
            <a:r>
              <a:rPr lang="en-US" sz="3600" dirty="0" smtClean="0">
                <a:solidFill>
                  <a:srgbClr val="7030A0"/>
                </a:solidFill>
              </a:rPr>
              <a:t>‘Types </a:t>
            </a:r>
            <a:r>
              <a:rPr lang="en-US" sz="3600" dirty="0">
                <a:solidFill>
                  <a:srgbClr val="7030A0"/>
                </a:solidFill>
              </a:rPr>
              <a:t>of </a:t>
            </a:r>
            <a:r>
              <a:rPr lang="en-US" sz="3600" dirty="0" smtClean="0">
                <a:solidFill>
                  <a:srgbClr val="7030A0"/>
                </a:solidFill>
              </a:rPr>
              <a:t>Testing’</a:t>
            </a:r>
            <a:endParaRPr lang="en-US" sz="3600" dirty="0">
              <a:solidFill>
                <a:srgbClr val="7030A0"/>
              </a:solidFill>
            </a:endParaRP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61</a:t>
            </a:fld>
            <a:endParaRPr lang="en-US">
              <a:latin typeface="Arial"/>
            </a:endParaRPr>
          </a:p>
        </p:txBody>
      </p:sp>
      <p:sp>
        <p:nvSpPr>
          <p:cNvPr id="5" name="Rectangle 4"/>
          <p:cNvSpPr/>
          <p:nvPr/>
        </p:nvSpPr>
        <p:spPr>
          <a:xfrm>
            <a:off x="202019" y="1524000"/>
            <a:ext cx="11986806" cy="4893647"/>
          </a:xfrm>
          <a:prstGeom prst="rect">
            <a:avLst/>
          </a:prstGeom>
        </p:spPr>
        <p:txBody>
          <a:bodyPr wrap="square">
            <a:spAutoFit/>
          </a:bodyPr>
          <a:lstStyle/>
          <a:p>
            <a:pPr algn="ctr"/>
            <a:r>
              <a:rPr lang="en-US" sz="2400" b="1" u="sng" dirty="0" smtClean="0">
                <a:solidFill>
                  <a:srgbClr val="FF0000"/>
                </a:solidFill>
                <a:latin typeface="Times New Roman" panose="02020603050405020304" pitchFamily="18" charset="0"/>
                <a:cs typeface="Times New Roman" panose="02020603050405020304" pitchFamily="18" charset="0"/>
              </a:rPr>
              <a:t>Testing </a:t>
            </a:r>
            <a:r>
              <a:rPr lang="en-US" sz="2400" b="1" u="sng" dirty="0">
                <a:solidFill>
                  <a:srgbClr val="FF0000"/>
                </a:solidFill>
                <a:latin typeface="Times New Roman" panose="02020603050405020304" pitchFamily="18" charset="0"/>
                <a:cs typeface="Times New Roman" panose="02020603050405020304" pitchFamily="18" charset="0"/>
              </a:rPr>
              <a:t>usually involves several </a:t>
            </a:r>
            <a:r>
              <a:rPr lang="en-US" sz="2400" b="1" u="sng" dirty="0" smtClean="0">
                <a:solidFill>
                  <a:srgbClr val="FF0000"/>
                </a:solidFill>
                <a:latin typeface="Times New Roman" panose="02020603050405020304" pitchFamily="18" charset="0"/>
                <a:cs typeface="Times New Roman" panose="02020603050405020304" pitchFamily="18" charset="0"/>
              </a:rPr>
              <a:t>stages </a:t>
            </a:r>
          </a:p>
          <a:p>
            <a:pPr algn="ctr"/>
            <a:endParaRPr lang="en-US" sz="2400" b="1" u="sng" dirty="0" smtClean="0">
              <a:solidFill>
                <a:srgbClr val="FF0000"/>
              </a:solidFill>
              <a:latin typeface="Times New Roman" panose="02020603050405020304" pitchFamily="18" charset="0"/>
              <a:cs typeface="Times New Roman" panose="02020603050405020304" pitchFamily="18" charset="0"/>
            </a:endParaRPr>
          </a:p>
          <a:p>
            <a:pPr algn="just"/>
            <a:r>
              <a:rPr lang="en-US" sz="2400" b="1" dirty="0">
                <a:solidFill>
                  <a:srgbClr val="C00000"/>
                </a:solidFill>
                <a:latin typeface="Times New Roman" panose="02020603050405020304" pitchFamily="18" charset="0"/>
                <a:cs typeface="Times New Roman" panose="02020603050405020304" pitchFamily="18" charset="0"/>
              </a:rPr>
              <a:t>Black-box </a:t>
            </a:r>
            <a:r>
              <a:rPr lang="en-US" sz="2400" b="1" dirty="0" smtClean="0">
                <a:solidFill>
                  <a:srgbClr val="C00000"/>
                </a:solidFill>
                <a:latin typeface="Times New Roman" panose="02020603050405020304" pitchFamily="18" charset="0"/>
                <a:cs typeface="Times New Roman" panose="02020603050405020304" pitchFamily="18" charset="0"/>
              </a:rPr>
              <a:t>testing: </a:t>
            </a: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treats a system or </a:t>
            </a:r>
            <a:r>
              <a:rPr lang="en-US" sz="2400" dirty="0" smtClean="0">
                <a:latin typeface="Times New Roman" panose="02020603050405020304" pitchFamily="18" charset="0"/>
                <a:cs typeface="Times New Roman" panose="02020603050405020304" pitchFamily="18" charset="0"/>
              </a:rPr>
              <a:t>its components </a:t>
            </a:r>
            <a:r>
              <a:rPr lang="en-US" sz="2400" dirty="0">
                <a:latin typeface="Times New Roman" panose="02020603050405020304" pitchFamily="18" charset="0"/>
                <a:cs typeface="Times New Roman" panose="02020603050405020304" pitchFamily="18" charset="0"/>
              </a:rPr>
              <a:t>as black boxes; testers cannot “see inside” the system, so they </a:t>
            </a:r>
            <a:r>
              <a:rPr lang="en-US" sz="2400" dirty="0" smtClean="0">
                <a:latin typeface="Times New Roman" panose="02020603050405020304" pitchFamily="18" charset="0"/>
                <a:cs typeface="Times New Roman" panose="02020603050405020304" pitchFamily="18" charset="0"/>
              </a:rPr>
              <a:t>apply particular </a:t>
            </a:r>
            <a:r>
              <a:rPr lang="en-US" sz="2400" dirty="0">
                <a:latin typeface="Times New Roman" panose="02020603050405020304" pitchFamily="18" charset="0"/>
                <a:cs typeface="Times New Roman" panose="02020603050405020304" pitchFamily="18" charset="0"/>
              </a:rPr>
              <a:t>inputs and verify that they get the expected output</a:t>
            </a:r>
            <a:r>
              <a:rPr lang="en-US" sz="2400" dirty="0" smtClean="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smtClean="0">
                <a:solidFill>
                  <a:srgbClr val="C00000"/>
                </a:solidFill>
                <a:latin typeface="Times New Roman" panose="02020603050405020304" pitchFamily="18" charset="0"/>
                <a:cs typeface="Times New Roman" panose="02020603050405020304" pitchFamily="18" charset="0"/>
              </a:rPr>
              <a:t>Clear-box testing: </a:t>
            </a:r>
            <a:r>
              <a:rPr lang="en-US" sz="2400" dirty="0" smtClean="0">
                <a:latin typeface="Times New Roman" panose="02020603050405020304" pitchFamily="18" charset="0"/>
                <a:cs typeface="Times New Roman" panose="02020603050405020304" pitchFamily="18" charset="0"/>
              </a:rPr>
              <a:t>It allows visibility</a:t>
            </a:r>
            <a:r>
              <a:rPr lang="en-US" sz="2400" dirty="0">
                <a:latin typeface="Times New Roman" panose="02020603050405020304" pitchFamily="18" charset="0"/>
                <a:cs typeface="Times New Roman" panose="02020603050405020304" pitchFamily="18" charset="0"/>
              </a:rPr>
              <a:t>. Here, testers can examine the design and code directly, generating test </a:t>
            </a:r>
            <a:r>
              <a:rPr lang="en-US" sz="2400" dirty="0" smtClean="0">
                <a:latin typeface="Times New Roman" panose="02020603050405020304" pitchFamily="18" charset="0"/>
                <a:cs typeface="Times New Roman" panose="02020603050405020304" pitchFamily="18" charset="0"/>
              </a:rPr>
              <a:t>cases based </a:t>
            </a:r>
            <a:r>
              <a:rPr lang="en-US" sz="2400" dirty="0">
                <a:latin typeface="Times New Roman" panose="02020603050405020304" pitchFamily="18" charset="0"/>
                <a:cs typeface="Times New Roman" panose="02020603050405020304" pitchFamily="18" charset="0"/>
              </a:rPr>
              <a:t>on the code’s actual construction</a:t>
            </a:r>
            <a:r>
              <a:rPr lang="en-US" sz="2400" dirty="0" smtClean="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ctr"/>
            <a:r>
              <a:rPr lang="en-US" sz="2400" b="1" dirty="0">
                <a:solidFill>
                  <a:srgbClr val="00B050"/>
                </a:solidFill>
                <a:latin typeface="Times New Roman" panose="02020603050405020304" pitchFamily="18" charset="0"/>
                <a:cs typeface="Times New Roman" panose="02020603050405020304" pitchFamily="18" charset="0"/>
              </a:rPr>
              <a:t>Who does the testing? </a:t>
            </a:r>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From </a:t>
            </a:r>
            <a:r>
              <a:rPr lang="en-US" sz="2400" dirty="0">
                <a:latin typeface="Times New Roman" panose="02020603050405020304" pitchFamily="18" charset="0"/>
                <a:cs typeface="Times New Roman" panose="02020603050405020304" pitchFamily="18" charset="0"/>
              </a:rPr>
              <a:t>a </a:t>
            </a:r>
            <a:r>
              <a:rPr lang="en-US" sz="2400" dirty="0">
                <a:solidFill>
                  <a:srgbClr val="00B050"/>
                </a:solidFill>
                <a:latin typeface="Times New Roman" panose="02020603050405020304" pitchFamily="18" charset="0"/>
                <a:cs typeface="Times New Roman" panose="02020603050405020304" pitchFamily="18" charset="0"/>
              </a:rPr>
              <a:t>security standpoint, </a:t>
            </a:r>
            <a:r>
              <a:rPr lang="en-US" sz="2400" b="1" dirty="0">
                <a:solidFill>
                  <a:srgbClr val="C00000"/>
                </a:solidFill>
                <a:latin typeface="Times New Roman" panose="02020603050405020304" pitchFamily="18" charset="0"/>
                <a:cs typeface="Times New Roman" panose="02020603050405020304" pitchFamily="18" charset="0"/>
              </a:rPr>
              <a:t>independent testing </a:t>
            </a:r>
            <a:r>
              <a:rPr lang="en-US" sz="2400" dirty="0">
                <a:latin typeface="Times New Roman" panose="02020603050405020304" pitchFamily="18" charset="0"/>
                <a:cs typeface="Times New Roman" panose="02020603050405020304" pitchFamily="18" charset="0"/>
              </a:rPr>
              <a:t>is </a:t>
            </a:r>
            <a:r>
              <a:rPr lang="en-US" sz="2400" dirty="0" smtClean="0">
                <a:latin typeface="Times New Roman" panose="02020603050405020304" pitchFamily="18" charset="0"/>
                <a:cs typeface="Times New Roman" panose="02020603050405020304" pitchFamily="18" charset="0"/>
              </a:rPr>
              <a:t>highly desirable</a:t>
            </a:r>
            <a:r>
              <a:rPr lang="en-US" sz="2400" dirty="0">
                <a:latin typeface="Times New Roman" panose="02020603050405020304" pitchFamily="18" charset="0"/>
                <a:cs typeface="Times New Roman" panose="02020603050405020304" pitchFamily="18" charset="0"/>
              </a:rPr>
              <a:t>; it may prevent a developer from attempting to hide something in a routine </a:t>
            </a:r>
            <a:r>
              <a:rPr lang="en-US" sz="2400" dirty="0" smtClean="0">
                <a:latin typeface="Times New Roman" panose="02020603050405020304" pitchFamily="18" charset="0"/>
                <a:cs typeface="Times New Roman" panose="02020603050405020304" pitchFamily="18" charset="0"/>
              </a:rPr>
              <a:t>or keep </a:t>
            </a:r>
            <a:r>
              <a:rPr lang="en-US" sz="2400" dirty="0">
                <a:latin typeface="Times New Roman" panose="02020603050405020304" pitchFamily="18" charset="0"/>
                <a:cs typeface="Times New Roman" panose="02020603050405020304" pitchFamily="18" charset="0"/>
              </a:rPr>
              <a:t>a </a:t>
            </a:r>
            <a:r>
              <a:rPr lang="en-US" sz="2400" dirty="0" smtClean="0">
                <a:latin typeface="Times New Roman" panose="02020603050405020304" pitchFamily="18" charset="0"/>
                <a:cs typeface="Times New Roman" panose="02020603050405020304" pitchFamily="18" charset="0"/>
              </a:rPr>
              <a:t>subsystem from </a:t>
            </a:r>
            <a:r>
              <a:rPr lang="en-US" sz="2400" dirty="0">
                <a:latin typeface="Times New Roman" panose="02020603050405020304" pitchFamily="18" charset="0"/>
                <a:cs typeface="Times New Roman" panose="02020603050405020304" pitchFamily="18" charset="0"/>
              </a:rPr>
              <a:t>controlling the tests that will be applied to it. Thus, </a:t>
            </a:r>
            <a:r>
              <a:rPr lang="en-US" sz="2400" dirty="0" smtClean="0">
                <a:latin typeface="Times New Roman" panose="02020603050405020304" pitchFamily="18" charset="0"/>
                <a:cs typeface="Times New Roman" panose="02020603050405020304" pitchFamily="18" charset="0"/>
              </a:rPr>
              <a:t>independent testing </a:t>
            </a:r>
            <a:r>
              <a:rPr lang="en-US" sz="2400" dirty="0">
                <a:latin typeface="Times New Roman" panose="02020603050405020304" pitchFamily="18" charset="0"/>
                <a:cs typeface="Times New Roman" panose="02020603050405020304" pitchFamily="18" charset="0"/>
              </a:rPr>
              <a:t>increases the likelihood that a test will expose the effect of a hidden feature.</a:t>
            </a:r>
          </a:p>
        </p:txBody>
      </p:sp>
    </p:spTree>
    <p:extLst>
      <p:ext uri="{BB962C8B-B14F-4D97-AF65-F5344CB8AC3E}">
        <p14:creationId xmlns:p14="http://schemas.microsoft.com/office/powerpoint/2010/main" val="160897286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Countermeasures for </a:t>
            </a:r>
            <a:r>
              <a:rPr lang="en-US" dirty="0" smtClean="0"/>
              <a:t>Developers</a:t>
            </a:r>
            <a:endParaRPr lang="en-US" dirty="0"/>
          </a:p>
        </p:txBody>
      </p:sp>
      <p:sp>
        <p:nvSpPr>
          <p:cNvPr id="3" name="Content Placeholder 2"/>
          <p:cNvSpPr>
            <a:spLocks noGrp="1"/>
          </p:cNvSpPr>
          <p:nvPr>
            <p:ph idx="1"/>
          </p:nvPr>
        </p:nvSpPr>
        <p:spPr/>
        <p:txBody>
          <a:bodyPr/>
          <a:lstStyle/>
          <a:p>
            <a:r>
              <a:rPr lang="en-US" dirty="0"/>
              <a:t>Software Engineering </a:t>
            </a:r>
            <a:r>
              <a:rPr lang="en-US" dirty="0" smtClean="0"/>
              <a:t>Techniques   Modularity and encapsulation</a:t>
            </a:r>
          </a:p>
          <a:p>
            <a:r>
              <a:rPr lang="en-US" dirty="0"/>
              <a:t>Information hiding - Information hiding: describing what a module does, not how</a:t>
            </a:r>
            <a:endParaRPr lang="en-US" dirty="0" smtClean="0"/>
          </a:p>
          <a:p>
            <a:r>
              <a:rPr lang="en-US" dirty="0" smtClean="0"/>
              <a:t>Modularity – Coupling and cohesion</a:t>
            </a:r>
          </a:p>
          <a:p>
            <a:r>
              <a:rPr lang="en-US" dirty="0"/>
              <a:t>Mutual </a:t>
            </a:r>
            <a:r>
              <a:rPr lang="en-US" dirty="0" smtClean="0"/>
              <a:t>Suspicion</a:t>
            </a:r>
          </a:p>
          <a:p>
            <a:r>
              <a:rPr lang="en-US" dirty="0" smtClean="0"/>
              <a:t>Confinement - </a:t>
            </a:r>
            <a:r>
              <a:rPr lang="en-US" dirty="0"/>
              <a:t>possible damage does not spread to other parts of a </a:t>
            </a:r>
            <a:r>
              <a:rPr lang="en-US" dirty="0" smtClean="0"/>
              <a:t>system</a:t>
            </a:r>
          </a:p>
          <a:p>
            <a:r>
              <a:rPr lang="en-US" dirty="0"/>
              <a:t>Simplicity - Complexity is often the enemy of </a:t>
            </a:r>
            <a:r>
              <a:rPr lang="en-US" dirty="0" smtClean="0"/>
              <a:t>security</a:t>
            </a:r>
            <a:endParaRPr lang="en-US" dirty="0"/>
          </a:p>
          <a:p>
            <a:r>
              <a:rPr lang="en-US" dirty="0"/>
              <a:t>Genetic Diversity - Diversity reduces the number of targets susceptible to one attack </a:t>
            </a:r>
            <a:r>
              <a:rPr lang="en-US" dirty="0" smtClean="0"/>
              <a:t>type</a:t>
            </a:r>
          </a:p>
          <a:p>
            <a:r>
              <a:rPr lang="en-US" dirty="0"/>
              <a:t>Testing</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62</a:t>
            </a:fld>
            <a:endParaRPr lang="en-US">
              <a:latin typeface="Arial"/>
            </a:endParaRPr>
          </a:p>
        </p:txBody>
      </p:sp>
    </p:spTree>
    <p:extLst>
      <p:ext uri="{BB962C8B-B14F-4D97-AF65-F5344CB8AC3E}">
        <p14:creationId xmlns:p14="http://schemas.microsoft.com/office/powerpoint/2010/main" val="19922776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Testing</a:t>
            </a:r>
          </a:p>
        </p:txBody>
      </p:sp>
      <p:sp>
        <p:nvSpPr>
          <p:cNvPr id="3" name="Text Placeholder 2"/>
          <p:cNvSpPr>
            <a:spLocks noGrp="1"/>
          </p:cNvSpPr>
          <p:nvPr>
            <p:ph type="body" idx="1"/>
          </p:nvPr>
        </p:nvSpPr>
        <p:spPr/>
        <p:txBody>
          <a:bodyPr>
            <a:normAutofit fontScale="92500" lnSpcReduction="10000"/>
          </a:bodyPr>
          <a:lstStyle/>
          <a:p>
            <a:r>
              <a:rPr lang="en-US" dirty="0"/>
              <a:t>Unit testing </a:t>
            </a:r>
            <a:r>
              <a:rPr lang="en-US" dirty="0" smtClean="0"/>
              <a:t> checks </a:t>
            </a:r>
            <a:r>
              <a:rPr lang="en-US" dirty="0"/>
              <a:t>if software components are fulfilling functionalities or not.</a:t>
            </a:r>
          </a:p>
          <a:p>
            <a:r>
              <a:rPr lang="en-US" dirty="0"/>
              <a:t>Integration testing checks the data flow from one module to other modules.</a:t>
            </a:r>
          </a:p>
          <a:p>
            <a:r>
              <a:rPr lang="en-US" dirty="0"/>
              <a:t>Function </a:t>
            </a:r>
            <a:r>
              <a:rPr lang="en-US" dirty="0" smtClean="0"/>
              <a:t>testing </a:t>
            </a:r>
            <a:r>
              <a:rPr lang="en-US" dirty="0"/>
              <a:t>seeks to establish whether each application feature works as per the software requirements. </a:t>
            </a:r>
          </a:p>
          <a:p>
            <a:r>
              <a:rPr lang="en-US" dirty="0"/>
              <a:t>Performance </a:t>
            </a:r>
            <a:r>
              <a:rPr lang="en-US" dirty="0" smtClean="0"/>
              <a:t>testing evaluates </a:t>
            </a:r>
            <a:r>
              <a:rPr lang="en-US" dirty="0"/>
              <a:t>the speed, responsiveness and stability of a computer, network, software program or device under a workload.</a:t>
            </a:r>
          </a:p>
          <a:p>
            <a:r>
              <a:rPr lang="en-US" dirty="0"/>
              <a:t>Acceptance </a:t>
            </a:r>
            <a:r>
              <a:rPr lang="en-US" dirty="0" smtClean="0"/>
              <a:t>testing checks </a:t>
            </a:r>
            <a:r>
              <a:rPr lang="en-US" dirty="0"/>
              <a:t>the requirements of a specification or contract are met as per its delivery.</a:t>
            </a:r>
          </a:p>
          <a:p>
            <a:r>
              <a:rPr lang="en-US" dirty="0"/>
              <a:t>Installation testing verifies the software’s installation process and ensures that the software is installed correctly on various systems and configurations. </a:t>
            </a:r>
          </a:p>
          <a:p>
            <a:r>
              <a:rPr lang="en-US" dirty="0"/>
              <a:t>Regression </a:t>
            </a:r>
            <a:r>
              <a:rPr lang="en-US" dirty="0" smtClean="0"/>
              <a:t>testing makes sure that everything else still works when you make a corrective change</a:t>
            </a:r>
            <a:endParaRPr lang="en-US" dirty="0"/>
          </a:p>
          <a:p>
            <a:r>
              <a:rPr lang="en-US" dirty="0"/>
              <a:t>Penetration </a:t>
            </a:r>
            <a:r>
              <a:rPr lang="en-US" dirty="0" smtClean="0"/>
              <a:t>testing is </a:t>
            </a:r>
            <a:r>
              <a:rPr lang="en-US" smtClean="0"/>
              <a:t>security testing a </a:t>
            </a:r>
            <a:r>
              <a:rPr lang="en-US" dirty="0"/>
              <a:t>cyber-security expert attempts to find and exploit vulnerabilities in a computer system</a:t>
            </a: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63</a:t>
            </a:fld>
            <a:endParaRPr lang="en-US" dirty="0">
              <a:latin typeface="Arial"/>
            </a:endParaRPr>
          </a:p>
        </p:txBody>
      </p:sp>
    </p:spTree>
    <p:extLst>
      <p:ext uri="{BB962C8B-B14F-4D97-AF65-F5344CB8AC3E}">
        <p14:creationId xmlns:p14="http://schemas.microsoft.com/office/powerpoint/2010/main" val="228883986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smtClean="0">
                <a:solidFill>
                  <a:srgbClr val="0070C0"/>
                </a:solidFill>
              </a:rPr>
              <a:t>Design </a:t>
            </a:r>
            <a:r>
              <a:rPr lang="en-US" dirty="0">
                <a:solidFill>
                  <a:srgbClr val="0070C0"/>
                </a:solidFill>
              </a:rPr>
              <a:t>Principles for Security</a:t>
            </a:r>
          </a:p>
        </p:txBody>
      </p:sp>
      <p:sp>
        <p:nvSpPr>
          <p:cNvPr id="3" name="Text Placeholder 2"/>
          <p:cNvSpPr>
            <a:spLocks noGrp="1"/>
          </p:cNvSpPr>
          <p:nvPr>
            <p:ph type="body" idx="1"/>
          </p:nvPr>
        </p:nvSpPr>
        <p:spPr/>
        <p:txBody>
          <a:bodyPr/>
          <a:lstStyle/>
          <a:p>
            <a:r>
              <a:rPr lang="en-US" dirty="0"/>
              <a:t>Penetration Testing for </a:t>
            </a:r>
            <a:r>
              <a:rPr lang="en-US" dirty="0" smtClean="0"/>
              <a:t>Security</a:t>
            </a:r>
          </a:p>
          <a:p>
            <a:r>
              <a:rPr lang="en-US" dirty="0"/>
              <a:t>Proofs of Program </a:t>
            </a:r>
            <a:r>
              <a:rPr lang="en-US" dirty="0" smtClean="0"/>
              <a:t>Correctness</a:t>
            </a:r>
          </a:p>
          <a:p>
            <a:r>
              <a:rPr lang="en-US" dirty="0" smtClean="0"/>
              <a:t>Validation</a:t>
            </a:r>
          </a:p>
          <a:p>
            <a:r>
              <a:rPr lang="en-US" dirty="0"/>
              <a:t>Defensive </a:t>
            </a:r>
            <a:r>
              <a:rPr lang="en-US" dirty="0" smtClean="0"/>
              <a:t>Programming - </a:t>
            </a:r>
            <a:r>
              <a:rPr lang="en-US" dirty="0"/>
              <a:t>Program designers and implementers need not only write correct code but must </a:t>
            </a:r>
            <a:r>
              <a:rPr lang="en-US" dirty="0" smtClean="0"/>
              <a:t>also anticipate </a:t>
            </a:r>
            <a:r>
              <a:rPr lang="en-US" dirty="0"/>
              <a:t>what could go wrong.</a:t>
            </a:r>
            <a:endParaRPr lang="en-US" dirty="0" smtClean="0"/>
          </a:p>
          <a:p>
            <a:r>
              <a:rPr lang="en-US" dirty="0"/>
              <a:t>Trustworthy Computing </a:t>
            </a:r>
            <a:r>
              <a:rPr lang="en-US" dirty="0" smtClean="0"/>
              <a:t>Initiative - </a:t>
            </a:r>
            <a:r>
              <a:rPr lang="en-US" dirty="0"/>
              <a:t>all developers </a:t>
            </a:r>
            <a:r>
              <a:rPr lang="en-US" dirty="0" smtClean="0"/>
              <a:t>undergo </a:t>
            </a:r>
            <a:r>
              <a:rPr lang="en-US" dirty="0"/>
              <a:t>security training, and secure </a:t>
            </a:r>
            <a:r>
              <a:rPr lang="en-US" dirty="0" smtClean="0"/>
              <a:t>software development </a:t>
            </a:r>
            <a:r>
              <a:rPr lang="en-US" dirty="0"/>
              <a:t>practices were instituted throughout the </a:t>
            </a:r>
            <a:r>
              <a:rPr lang="en-US" dirty="0" smtClean="0"/>
              <a:t>company</a:t>
            </a: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64</a:t>
            </a:fld>
            <a:endParaRPr lang="en-US">
              <a:latin typeface="Arial"/>
            </a:endParaRPr>
          </a:p>
        </p:txBody>
      </p:sp>
    </p:spTree>
    <p:extLst>
      <p:ext uri="{BB962C8B-B14F-4D97-AF65-F5344CB8AC3E}">
        <p14:creationId xmlns:p14="http://schemas.microsoft.com/office/powerpoint/2010/main" val="54680114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smtClean="0">
                <a:solidFill>
                  <a:srgbClr val="0070C0"/>
                </a:solidFill>
              </a:rPr>
              <a:t>Design </a:t>
            </a:r>
            <a:r>
              <a:rPr lang="en-US" dirty="0">
                <a:solidFill>
                  <a:srgbClr val="0070C0"/>
                </a:solidFill>
              </a:rPr>
              <a:t>Principles for Security</a:t>
            </a:r>
          </a:p>
        </p:txBody>
      </p:sp>
      <p:sp>
        <p:nvSpPr>
          <p:cNvPr id="3" name="Text Placeholder 2"/>
          <p:cNvSpPr>
            <a:spLocks noGrp="1"/>
          </p:cNvSpPr>
          <p:nvPr>
            <p:ph type="body" idx="1"/>
          </p:nvPr>
        </p:nvSpPr>
        <p:spPr>
          <a:xfrm>
            <a:off x="255181" y="1600200"/>
            <a:ext cx="11324203" cy="487680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Multics (</a:t>
            </a:r>
            <a:r>
              <a:rPr lang="en-US" dirty="0" err="1">
                <a:latin typeface="Times New Roman" panose="02020603050405020304" pitchFamily="18" charset="0"/>
                <a:cs typeface="Times New Roman" panose="02020603050405020304" pitchFamily="18" charset="0"/>
              </a:rPr>
              <a:t>MULTiplexed</a:t>
            </a:r>
            <a:r>
              <a:rPr lang="en-US" dirty="0">
                <a:latin typeface="Times New Roman" panose="02020603050405020304" pitchFamily="18" charset="0"/>
                <a:cs typeface="Times New Roman" panose="02020603050405020304" pitchFamily="18" charset="0"/>
              </a:rPr>
              <a:t> Information and Computer Service) was a major </a:t>
            </a:r>
            <a:r>
              <a:rPr lang="en-US" dirty="0" smtClean="0">
                <a:latin typeface="Times New Roman" panose="02020603050405020304" pitchFamily="18" charset="0"/>
                <a:cs typeface="Times New Roman" panose="02020603050405020304" pitchFamily="18" charset="0"/>
              </a:rPr>
              <a:t>secure software </a:t>
            </a:r>
            <a:r>
              <a:rPr lang="en-US" dirty="0">
                <a:latin typeface="Times New Roman" panose="02020603050405020304" pitchFamily="18" charset="0"/>
                <a:cs typeface="Times New Roman" panose="02020603050405020304" pitchFamily="18" charset="0"/>
              </a:rPr>
              <a:t>project intended to provide a computing utility to its users, much as we </a:t>
            </a:r>
            <a:r>
              <a:rPr lang="en-US" dirty="0" smtClean="0">
                <a:latin typeface="Times New Roman" panose="02020603050405020304" pitchFamily="18" charset="0"/>
                <a:cs typeface="Times New Roman" panose="02020603050405020304" pitchFamily="18" charset="0"/>
              </a:rPr>
              <a:t>access electricity </a:t>
            </a:r>
            <a:r>
              <a:rPr lang="en-US" dirty="0">
                <a:latin typeface="Times New Roman" panose="02020603050405020304" pitchFamily="18" charset="0"/>
                <a:cs typeface="Times New Roman" panose="02020603050405020304" pitchFamily="18" charset="0"/>
              </a:rPr>
              <a:t>or water.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vision involved users who </a:t>
            </a:r>
            <a:r>
              <a:rPr lang="en-US" dirty="0" smtClean="0">
                <a:latin typeface="Times New Roman" panose="02020603050405020304" pitchFamily="18" charset="0"/>
                <a:cs typeface="Times New Roman" panose="02020603050405020304" pitchFamily="18" charset="0"/>
              </a:rPr>
              <a:t>could  effortlessly </a:t>
            </a:r>
            <a:r>
              <a:rPr lang="en-US" dirty="0">
                <a:latin typeface="Times New Roman" panose="02020603050405020304" pitchFamily="18" charset="0"/>
                <a:cs typeface="Times New Roman" panose="02020603050405020304" pitchFamily="18" charset="0"/>
              </a:rPr>
              <a:t>connect to </a:t>
            </a:r>
            <a:r>
              <a:rPr lang="en-US" dirty="0" smtClean="0">
                <a:latin typeface="Times New Roman" panose="02020603050405020304" pitchFamily="18" charset="0"/>
                <a:cs typeface="Times New Roman" panose="02020603050405020304" pitchFamily="18" charset="0"/>
              </a:rPr>
              <a:t>it, use </a:t>
            </a:r>
            <a:r>
              <a:rPr lang="en-US" dirty="0">
                <a:latin typeface="Times New Roman" panose="02020603050405020304" pitchFamily="18" charset="0"/>
                <a:cs typeface="Times New Roman" panose="02020603050405020304" pitchFamily="18" charset="0"/>
              </a:rPr>
              <a:t>the computing services they needed, and </a:t>
            </a:r>
            <a:r>
              <a:rPr lang="en-US" dirty="0" smtClean="0">
                <a:latin typeface="Times New Roman" panose="02020603050405020304" pitchFamily="18" charset="0"/>
                <a:cs typeface="Times New Roman" panose="02020603050405020304" pitchFamily="18" charset="0"/>
              </a:rPr>
              <a:t>then disconnect—much </a:t>
            </a:r>
            <a:r>
              <a:rPr lang="en-US" dirty="0">
                <a:latin typeface="Times New Roman" panose="02020603050405020304" pitchFamily="18" charset="0"/>
                <a:cs typeface="Times New Roman" panose="02020603050405020304" pitchFamily="18" charset="0"/>
              </a:rPr>
              <a:t>as we turn the tap </a:t>
            </a:r>
            <a:r>
              <a:rPr lang="en-US" dirty="0" smtClean="0">
                <a:latin typeface="Times New Roman" panose="02020603050405020304" pitchFamily="18" charset="0"/>
                <a:cs typeface="Times New Roman" panose="02020603050405020304" pitchFamily="18" charset="0"/>
              </a:rPr>
              <a:t>on and </a:t>
            </a:r>
            <a:r>
              <a:rPr lang="en-US" dirty="0">
                <a:latin typeface="Times New Roman" panose="02020603050405020304" pitchFamily="18" charset="0"/>
                <a:cs typeface="Times New Roman" panose="02020603050405020304" pitchFamily="18" charset="0"/>
              </a:rPr>
              <a:t>off.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Clearly </a:t>
            </a:r>
            <a:r>
              <a:rPr lang="en-US" dirty="0">
                <a:latin typeface="Times New Roman" panose="02020603050405020304" pitchFamily="18" charset="0"/>
                <a:cs typeface="Times New Roman" panose="02020603050405020304" pitchFamily="18" charset="0"/>
              </a:rPr>
              <a:t>all three fundamental goals of computer </a:t>
            </a:r>
            <a:r>
              <a:rPr lang="en-US" dirty="0" smtClean="0">
                <a:solidFill>
                  <a:srgbClr val="FF0000"/>
                </a:solidFill>
                <a:latin typeface="Times New Roman" panose="02020603050405020304" pitchFamily="18" charset="0"/>
                <a:cs typeface="Times New Roman" panose="02020603050405020304" pitchFamily="18" charset="0"/>
              </a:rPr>
              <a:t>security—confidentiality, integrity</a:t>
            </a:r>
            <a:r>
              <a:rPr lang="en-US" dirty="0">
                <a:solidFill>
                  <a:srgbClr val="FF0000"/>
                </a:solidFill>
                <a:latin typeface="Times New Roman" panose="02020603050405020304" pitchFamily="18" charset="0"/>
                <a:cs typeface="Times New Roman" panose="02020603050405020304" pitchFamily="18" charset="0"/>
              </a:rPr>
              <a:t>, and availability</a:t>
            </a:r>
            <a:r>
              <a:rPr lang="en-US" dirty="0">
                <a:latin typeface="Times New Roman" panose="02020603050405020304" pitchFamily="18" charset="0"/>
                <a:cs typeface="Times New Roman" panose="02020603050405020304" pitchFamily="18" charset="0"/>
              </a:rPr>
              <a:t>—are necessary for such a widely shared endeavor, and </a:t>
            </a:r>
            <a:r>
              <a:rPr lang="en-US" dirty="0" smtClean="0">
                <a:latin typeface="Times New Roman" panose="02020603050405020304" pitchFamily="18" charset="0"/>
                <a:cs typeface="Times New Roman" panose="02020603050405020304" pitchFamily="18" charset="0"/>
              </a:rPr>
              <a:t>security was </a:t>
            </a:r>
            <a:r>
              <a:rPr lang="en-US" dirty="0">
                <a:latin typeface="Times New Roman" panose="02020603050405020304" pitchFamily="18" charset="0"/>
                <a:cs typeface="Times New Roman" panose="02020603050405020304" pitchFamily="18" charset="0"/>
              </a:rPr>
              <a:t>a major objective for the three participating Multics partners: M.I.T, AT&amp;T </a:t>
            </a:r>
            <a:r>
              <a:rPr lang="en-US" dirty="0" smtClean="0">
                <a:latin typeface="Times New Roman" panose="02020603050405020304" pitchFamily="18" charset="0"/>
                <a:cs typeface="Times New Roman" panose="02020603050405020304" pitchFamily="18" charset="0"/>
              </a:rPr>
              <a:t>Bell Laboratories</a:t>
            </a:r>
            <a:r>
              <a:rPr lang="en-US" dirty="0">
                <a:latin typeface="Times New Roman" panose="02020603050405020304" pitchFamily="18" charset="0"/>
                <a:cs typeface="Times New Roman" panose="02020603050405020304" pitchFamily="18" charset="0"/>
              </a:rPr>
              <a:t>, and GE.</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65</a:t>
            </a:fld>
            <a:endParaRPr lang="en-US">
              <a:latin typeface="Arial"/>
            </a:endParaRPr>
          </a:p>
        </p:txBody>
      </p:sp>
    </p:spTree>
    <p:extLst>
      <p:ext uri="{BB962C8B-B14F-4D97-AF65-F5344CB8AC3E}">
        <p14:creationId xmlns:p14="http://schemas.microsoft.com/office/powerpoint/2010/main" val="10256963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a:solidFill>
                  <a:srgbClr val="0070C0"/>
                </a:solidFill>
              </a:rPr>
              <a:t>Penetration Testing for Security</a:t>
            </a:r>
          </a:p>
        </p:txBody>
      </p:sp>
      <p:sp>
        <p:nvSpPr>
          <p:cNvPr id="3" name="Text Placeholder 2"/>
          <p:cNvSpPr>
            <a:spLocks noGrp="1"/>
          </p:cNvSpPr>
          <p:nvPr>
            <p:ph type="body" idx="1"/>
          </p:nvPr>
        </p:nvSpPr>
        <p:spPr>
          <a:xfrm>
            <a:off x="255181" y="1600200"/>
            <a:ext cx="11324203" cy="4876800"/>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P</a:t>
            </a:r>
            <a:r>
              <a:rPr lang="en-US" b="1" dirty="0" smtClean="0">
                <a:latin typeface="Times New Roman" panose="02020603050405020304" pitchFamily="18" charset="0"/>
                <a:cs typeface="Times New Roman" panose="02020603050405020304" pitchFamily="18" charset="0"/>
              </a:rPr>
              <a:t>enetration </a:t>
            </a:r>
            <a:r>
              <a:rPr lang="en-US" b="1" dirty="0">
                <a:latin typeface="Times New Roman" panose="02020603050405020304" pitchFamily="18" charset="0"/>
                <a:cs typeface="Times New Roman" panose="02020603050405020304" pitchFamily="18" charset="0"/>
              </a:rPr>
              <a:t>testing </a:t>
            </a:r>
            <a:r>
              <a:rPr lang="en-US" dirty="0">
                <a:latin typeface="Times New Roman" panose="02020603050405020304" pitchFamily="18" charset="0"/>
                <a:cs typeface="Times New Roman" panose="02020603050405020304" pitchFamily="18" charset="0"/>
              </a:rPr>
              <a:t>or </a:t>
            </a:r>
            <a:r>
              <a:rPr lang="en-US" b="1" dirty="0">
                <a:latin typeface="Times New Roman" panose="02020603050405020304" pitchFamily="18" charset="0"/>
                <a:cs typeface="Times New Roman" panose="02020603050405020304" pitchFamily="18" charset="0"/>
              </a:rPr>
              <a:t>tiger team analysis </a:t>
            </a:r>
            <a:r>
              <a:rPr lang="en-US" dirty="0">
                <a:latin typeface="Times New Roman" panose="02020603050405020304" pitchFamily="18" charset="0"/>
                <a:cs typeface="Times New Roman" panose="02020603050405020304" pitchFamily="18" charset="0"/>
              </a:rPr>
              <a:t>is </a:t>
            </a:r>
            <a:r>
              <a:rPr lang="en-US" dirty="0" smtClean="0">
                <a:latin typeface="Times New Roman" panose="02020603050405020304" pitchFamily="18" charset="0"/>
                <a:cs typeface="Times New Roman" panose="02020603050405020304" pitchFamily="18" charset="0"/>
              </a:rPr>
              <a:t>a strategy </a:t>
            </a:r>
            <a:r>
              <a:rPr lang="en-US" dirty="0">
                <a:latin typeface="Times New Roman" panose="02020603050405020304" pitchFamily="18" charset="0"/>
                <a:cs typeface="Times New Roman" panose="02020603050405020304" pitchFamily="18" charset="0"/>
              </a:rPr>
              <a:t>often used in computer security.  </a:t>
            </a:r>
            <a:r>
              <a:rPr lang="en-US" dirty="0" smtClean="0">
                <a:latin typeface="Times New Roman" panose="02020603050405020304" pitchFamily="18" charset="0"/>
                <a:cs typeface="Times New Roman" panose="02020603050405020304" pitchFamily="18" charset="0"/>
              </a:rPr>
              <a:t>Sometimes </a:t>
            </a:r>
            <a:r>
              <a:rPr lang="en-US" dirty="0">
                <a:latin typeface="Times New Roman" panose="02020603050405020304" pitchFamily="18" charset="0"/>
                <a:cs typeface="Times New Roman" panose="02020603050405020304" pitchFamily="18" charset="0"/>
              </a:rPr>
              <a:t>it is called </a:t>
            </a:r>
            <a:r>
              <a:rPr lang="en-US" b="1" dirty="0">
                <a:latin typeface="Times New Roman" panose="02020603050405020304" pitchFamily="18" charset="0"/>
                <a:cs typeface="Times New Roman" panose="02020603050405020304" pitchFamily="18" charset="0"/>
              </a:rPr>
              <a:t>ethical hacking</a:t>
            </a:r>
            <a:r>
              <a:rPr lang="en-US" dirty="0">
                <a:latin typeface="Times New Roman" panose="02020603050405020304" pitchFamily="18" charset="0"/>
                <a:cs typeface="Times New Roman" panose="02020603050405020304" pitchFamily="18" charset="0"/>
              </a:rPr>
              <a:t>, because it involves the use of a team of </a:t>
            </a:r>
            <a:r>
              <a:rPr lang="en-US" dirty="0" smtClean="0">
                <a:latin typeface="Times New Roman" panose="02020603050405020304" pitchFamily="18" charset="0"/>
                <a:cs typeface="Times New Roman" panose="02020603050405020304" pitchFamily="18" charset="0"/>
              </a:rPr>
              <a:t>experts trying </a:t>
            </a:r>
            <a:r>
              <a:rPr lang="en-US" dirty="0">
                <a:latin typeface="Times New Roman" panose="02020603050405020304" pitchFamily="18" charset="0"/>
                <a:cs typeface="Times New Roman" panose="02020603050405020304" pitchFamily="18" charset="0"/>
              </a:rPr>
              <a:t>to crack the system being tested (as opposed to trying to break into the system </a:t>
            </a:r>
            <a:r>
              <a:rPr lang="en-US" dirty="0" smtClean="0">
                <a:latin typeface="Times New Roman" panose="02020603050405020304" pitchFamily="18" charset="0"/>
                <a:cs typeface="Times New Roman" panose="02020603050405020304" pitchFamily="18" charset="0"/>
              </a:rPr>
              <a:t>for unethical </a:t>
            </a:r>
            <a:r>
              <a:rPr lang="en-US" dirty="0">
                <a:latin typeface="Times New Roman" panose="02020603050405020304" pitchFamily="18" charset="0"/>
                <a:cs typeface="Times New Roman" panose="02020603050405020304" pitchFamily="18" charset="0"/>
              </a:rPr>
              <a:t>reasons). The work of penetration testers closely resembles what an </a:t>
            </a:r>
            <a:r>
              <a:rPr lang="en-US" dirty="0" smtClean="0">
                <a:latin typeface="Times New Roman" panose="02020603050405020304" pitchFamily="18" charset="0"/>
                <a:cs typeface="Times New Roman" panose="02020603050405020304" pitchFamily="18" charset="0"/>
              </a:rPr>
              <a:t>actual attacker </a:t>
            </a:r>
            <a:r>
              <a:rPr lang="en-US" dirty="0">
                <a:latin typeface="Times New Roman" panose="02020603050405020304" pitchFamily="18" charset="0"/>
                <a:cs typeface="Times New Roman" panose="02020603050405020304" pitchFamily="18" charset="0"/>
              </a:rPr>
              <a:t>might do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tiger team knows well the </a:t>
            </a:r>
            <a:r>
              <a:rPr lang="en-US" dirty="0" smtClean="0">
                <a:latin typeface="Times New Roman" panose="02020603050405020304" pitchFamily="18" charset="0"/>
                <a:cs typeface="Times New Roman" panose="02020603050405020304" pitchFamily="18" charset="0"/>
              </a:rPr>
              <a:t>typical vulnerabilities </a:t>
            </a:r>
            <a:r>
              <a:rPr lang="en-US" dirty="0">
                <a:latin typeface="Times New Roman" panose="02020603050405020304" pitchFamily="18" charset="0"/>
                <a:cs typeface="Times New Roman" panose="02020603050405020304" pitchFamily="18" charset="0"/>
              </a:rPr>
              <a:t>in operating </a:t>
            </a:r>
            <a:r>
              <a:rPr lang="en-US" dirty="0" smtClean="0">
                <a:latin typeface="Times New Roman" panose="02020603050405020304" pitchFamily="18" charset="0"/>
                <a:cs typeface="Times New Roman" panose="02020603050405020304" pitchFamily="18" charset="0"/>
              </a:rPr>
              <a:t>systems.</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Penetration testing is both an art and science. The artistic side requires careful </a:t>
            </a:r>
            <a:r>
              <a:rPr lang="en-US" dirty="0" smtClean="0">
                <a:latin typeface="Times New Roman" panose="02020603050405020304" pitchFamily="18" charset="0"/>
                <a:cs typeface="Times New Roman" panose="02020603050405020304" pitchFamily="18" charset="0"/>
              </a:rPr>
              <a:t>analysis and </a:t>
            </a:r>
            <a:r>
              <a:rPr lang="en-US" dirty="0">
                <a:latin typeface="Times New Roman" panose="02020603050405020304" pitchFamily="18" charset="0"/>
                <a:cs typeface="Times New Roman" panose="02020603050405020304" pitchFamily="18" charset="0"/>
              </a:rPr>
              <a:t>creativity in choosing the test cases.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But </a:t>
            </a:r>
            <a:r>
              <a:rPr lang="en-US" dirty="0">
                <a:latin typeface="Times New Roman" panose="02020603050405020304" pitchFamily="18" charset="0"/>
                <a:cs typeface="Times New Roman" panose="02020603050405020304" pitchFamily="18" charset="0"/>
              </a:rPr>
              <a:t>the scientific side requires rigor, </a:t>
            </a:r>
            <a:r>
              <a:rPr lang="en-US" dirty="0" smtClean="0">
                <a:latin typeface="Times New Roman" panose="02020603050405020304" pitchFamily="18" charset="0"/>
                <a:cs typeface="Times New Roman" panose="02020603050405020304" pitchFamily="18" charset="0"/>
              </a:rPr>
              <a:t>order, precision</a:t>
            </a:r>
            <a:r>
              <a:rPr lang="en-US" dirty="0">
                <a:latin typeface="Times New Roman" panose="02020603050405020304" pitchFamily="18" charset="0"/>
                <a:cs typeface="Times New Roman" panose="02020603050405020304" pitchFamily="18" charset="0"/>
              </a:rPr>
              <a:t>, and organization.</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66</a:t>
            </a:fld>
            <a:endParaRPr lang="en-US">
              <a:latin typeface="Arial"/>
            </a:endParaRPr>
          </a:p>
        </p:txBody>
      </p:sp>
    </p:spTree>
    <p:extLst>
      <p:ext uri="{BB962C8B-B14F-4D97-AF65-F5344CB8AC3E}">
        <p14:creationId xmlns:p14="http://schemas.microsoft.com/office/powerpoint/2010/main" val="14106739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a:solidFill>
                  <a:srgbClr val="0070C0"/>
                </a:solidFill>
              </a:rPr>
              <a:t>Proofs of Program Correctness</a:t>
            </a:r>
          </a:p>
        </p:txBody>
      </p:sp>
      <p:sp>
        <p:nvSpPr>
          <p:cNvPr id="3" name="Text Placeholder 2"/>
          <p:cNvSpPr>
            <a:spLocks noGrp="1"/>
          </p:cNvSpPr>
          <p:nvPr>
            <p:ph type="body" idx="1"/>
          </p:nvPr>
        </p:nvSpPr>
        <p:spPr>
          <a:xfrm>
            <a:off x="255181" y="1518684"/>
            <a:ext cx="11324203" cy="4876800"/>
          </a:xfrm>
        </p:spPr>
        <p:txBody>
          <a:bodyPr>
            <a:normAutofit fontScale="77500" lnSpcReduction="20000"/>
          </a:bodyPr>
          <a:lstStyle/>
          <a:p>
            <a:r>
              <a:rPr lang="en-US" dirty="0"/>
              <a:t>A </a:t>
            </a:r>
            <a:r>
              <a:rPr lang="en-US" b="1" dirty="0"/>
              <a:t>security expert</a:t>
            </a:r>
            <a:r>
              <a:rPr lang="en-US" dirty="0"/>
              <a:t> wants to make sure that:</a:t>
            </a:r>
          </a:p>
          <a:p>
            <a:pPr marL="893763" indent="-457200">
              <a:buFont typeface="+mj-lt"/>
              <a:buAutoNum type="arabicPeriod"/>
            </a:pPr>
            <a:r>
              <a:rPr lang="en-US" dirty="0">
                <a:solidFill>
                  <a:srgbClr val="FF0000"/>
                </a:solidFill>
              </a:rPr>
              <a:t>A program gives the correct result,</a:t>
            </a:r>
          </a:p>
          <a:p>
            <a:pPr marL="893763" indent="-457200">
              <a:buFont typeface="+mj-lt"/>
              <a:buAutoNum type="arabicPeriod"/>
            </a:pPr>
            <a:r>
              <a:rPr lang="en-US" dirty="0">
                <a:solidFill>
                  <a:srgbClr val="FF0000"/>
                </a:solidFill>
              </a:rPr>
              <a:t>It does the right job,</a:t>
            </a:r>
          </a:p>
          <a:p>
            <a:pPr marL="893763" indent="-457200">
              <a:buFont typeface="+mj-lt"/>
              <a:buAutoNum type="arabicPeriod"/>
            </a:pPr>
            <a:r>
              <a:rPr lang="en-US" dirty="0">
                <a:solidFill>
                  <a:srgbClr val="FF0000"/>
                </a:solidFill>
              </a:rPr>
              <a:t>And it doesn't do anything extra or harmful.</a:t>
            </a:r>
          </a:p>
          <a:p>
            <a:pPr marL="0" indent="0">
              <a:buNone/>
            </a:pPr>
            <a:endParaRPr lang="en-US" dirty="0" smtClean="0"/>
          </a:p>
          <a:p>
            <a:pPr marL="0" indent="0">
              <a:buNone/>
            </a:pPr>
            <a:r>
              <a:rPr lang="en-US" dirty="0" smtClean="0"/>
              <a:t>But </a:t>
            </a:r>
            <a:r>
              <a:rPr lang="en-US" dirty="0"/>
              <a:t>there's a </a:t>
            </a:r>
            <a:r>
              <a:rPr lang="en-US" b="1" dirty="0"/>
              <a:t>big problem</a:t>
            </a:r>
            <a:r>
              <a:rPr lang="en-US" dirty="0"/>
              <a:t> in computer science:</a:t>
            </a:r>
          </a:p>
          <a:p>
            <a:r>
              <a:rPr lang="en-US" b="1" dirty="0" smtClean="0"/>
              <a:t>We </a:t>
            </a:r>
            <a:r>
              <a:rPr lang="en-US" b="1" dirty="0"/>
              <a:t>cannot always be 100% sure</a:t>
            </a:r>
            <a:r>
              <a:rPr lang="en-US" dirty="0"/>
              <a:t> that two different programs do exactly the same thing.</a:t>
            </a:r>
          </a:p>
          <a:p>
            <a:pPr marL="0" indent="0">
              <a:buNone/>
            </a:pPr>
            <a:r>
              <a:rPr lang="en-US" dirty="0"/>
              <a:t>This is because of something called the </a:t>
            </a:r>
            <a:r>
              <a:rPr lang="en-US" b="1" dirty="0"/>
              <a:t>"halting problem</a:t>
            </a:r>
            <a:r>
              <a:rPr lang="en-US" b="1" dirty="0" smtClean="0"/>
              <a:t>.“</a:t>
            </a:r>
          </a:p>
          <a:p>
            <a:pPr marL="0" indent="0">
              <a:buNone/>
            </a:pPr>
            <a:endParaRPr lang="en-US" dirty="0"/>
          </a:p>
          <a:p>
            <a:r>
              <a:rPr lang="en-US" dirty="0"/>
              <a:t>The </a:t>
            </a:r>
            <a:r>
              <a:rPr lang="en-US" b="1" dirty="0"/>
              <a:t>halting problem</a:t>
            </a:r>
            <a:r>
              <a:rPr lang="en-US" dirty="0"/>
              <a:t> says:</a:t>
            </a:r>
          </a:p>
          <a:p>
            <a:r>
              <a:rPr lang="en-US" dirty="0">
                <a:solidFill>
                  <a:srgbClr val="FF0000"/>
                </a:solidFill>
              </a:rPr>
              <a:t>There's </a:t>
            </a:r>
            <a:r>
              <a:rPr lang="en-US" b="1" dirty="0">
                <a:solidFill>
                  <a:srgbClr val="FF0000"/>
                </a:solidFill>
              </a:rPr>
              <a:t>no general way</a:t>
            </a:r>
            <a:r>
              <a:rPr lang="en-US" dirty="0">
                <a:solidFill>
                  <a:srgbClr val="FF0000"/>
                </a:solidFill>
              </a:rPr>
              <a:t> to check if any program will </a:t>
            </a:r>
            <a:r>
              <a:rPr lang="en-US" b="1" dirty="0">
                <a:solidFill>
                  <a:srgbClr val="FF0000"/>
                </a:solidFill>
              </a:rPr>
              <a:t>finish running (halt)</a:t>
            </a:r>
            <a:r>
              <a:rPr lang="en-US" dirty="0">
                <a:solidFill>
                  <a:srgbClr val="FF0000"/>
                </a:solidFill>
              </a:rPr>
              <a:t> for every input, or if it will </a:t>
            </a:r>
            <a:r>
              <a:rPr lang="en-US" b="1" dirty="0">
                <a:solidFill>
                  <a:srgbClr val="FF0000"/>
                </a:solidFill>
              </a:rPr>
              <a:t>get stuck and run </a:t>
            </a:r>
            <a:r>
              <a:rPr lang="en-US" b="1" dirty="0" smtClean="0">
                <a:solidFill>
                  <a:srgbClr val="FF0000"/>
                </a:solidFill>
              </a:rPr>
              <a:t>forever</a:t>
            </a:r>
            <a:r>
              <a:rPr lang="en-US" dirty="0" smtClean="0">
                <a:solidFill>
                  <a:srgbClr val="FF0000"/>
                </a:solidFill>
              </a:rPr>
              <a:t>. </a:t>
            </a:r>
            <a:r>
              <a:rPr lang="en-US" dirty="0" smtClean="0"/>
              <a:t>Because </a:t>
            </a:r>
            <a:r>
              <a:rPr lang="en-US" dirty="0"/>
              <a:t>of this, we also </a:t>
            </a:r>
            <a:r>
              <a:rPr lang="en-US" b="1" dirty="0"/>
              <a:t>can’t create a perfect method</a:t>
            </a:r>
            <a:r>
              <a:rPr lang="en-US" dirty="0"/>
              <a:t> to check if two programs always behave the same</a:t>
            </a:r>
            <a:r>
              <a:rPr lang="en-US" dirty="0" smtClean="0"/>
              <a:t>.</a:t>
            </a:r>
          </a:p>
          <a:p>
            <a:endParaRPr lang="en-US" dirty="0"/>
          </a:p>
          <a:p>
            <a:pPr marL="0" indent="0">
              <a:buNone/>
            </a:pPr>
            <a:r>
              <a:rPr lang="en-US" b="1" dirty="0">
                <a:solidFill>
                  <a:srgbClr val="00B050"/>
                </a:solidFill>
              </a:rPr>
              <a:t>In short:</a:t>
            </a:r>
          </a:p>
          <a:p>
            <a:r>
              <a:rPr lang="en-US" dirty="0">
                <a:solidFill>
                  <a:srgbClr val="00B050"/>
                </a:solidFill>
              </a:rPr>
              <a:t>We want to prove that programs work exactly right and do nothing wrong — but </a:t>
            </a:r>
            <a:r>
              <a:rPr lang="en-US" b="1" dirty="0">
                <a:solidFill>
                  <a:srgbClr val="00B050"/>
                </a:solidFill>
              </a:rPr>
              <a:t>computer science shows it's impossible to be completely sure in every case</a:t>
            </a:r>
            <a:r>
              <a:rPr lang="en-US" dirty="0">
                <a:solidFill>
                  <a:srgbClr val="00B050"/>
                </a:solidFill>
              </a:rPr>
              <a:t>.</a:t>
            </a:r>
          </a:p>
          <a:p>
            <a:pPr marL="0" indent="0" algn="just">
              <a:buNone/>
            </a:pP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67</a:t>
            </a:fld>
            <a:endParaRPr lang="en-US">
              <a:latin typeface="Arial"/>
            </a:endParaRPr>
          </a:p>
        </p:txBody>
      </p:sp>
    </p:spTree>
    <p:extLst>
      <p:ext uri="{BB962C8B-B14F-4D97-AF65-F5344CB8AC3E}">
        <p14:creationId xmlns:p14="http://schemas.microsoft.com/office/powerpoint/2010/main" val="296886015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a:bodyPr>
          <a:lstStyle/>
          <a:p>
            <a:r>
              <a:rPr lang="en-US" dirty="0"/>
              <a:t>Countermeasure Specifically for </a:t>
            </a:r>
            <a:r>
              <a:rPr lang="en-US" dirty="0" smtClean="0"/>
              <a:t>Security – </a:t>
            </a:r>
            <a:r>
              <a:rPr lang="en-US" dirty="0">
                <a:solidFill>
                  <a:srgbClr val="0070C0"/>
                </a:solidFill>
              </a:rPr>
              <a:t>Validation</a:t>
            </a:r>
          </a:p>
        </p:txBody>
      </p:sp>
      <p:sp>
        <p:nvSpPr>
          <p:cNvPr id="3" name="Text Placeholder 2"/>
          <p:cNvSpPr>
            <a:spLocks noGrp="1"/>
          </p:cNvSpPr>
          <p:nvPr>
            <p:ph type="body" idx="1"/>
          </p:nvPr>
        </p:nvSpPr>
        <p:spPr>
          <a:xfrm>
            <a:off x="255181" y="1518684"/>
            <a:ext cx="11324203" cy="4876800"/>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Formal verification is a particular instance of the more general approach to </a:t>
            </a:r>
            <a:r>
              <a:rPr lang="en-US" dirty="0" smtClean="0">
                <a:latin typeface="Times New Roman" panose="02020603050405020304" pitchFamily="18" charset="0"/>
                <a:cs typeface="Times New Roman" panose="02020603050405020304" pitchFamily="18" charset="0"/>
              </a:rPr>
              <a:t>assuring correctness. There are many ways to show that each of a system’s functions works correctly</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solidFill>
                  <a:srgbClr val="00B050"/>
                </a:solidFill>
                <a:latin typeface="Times New Roman" panose="02020603050405020304" pitchFamily="18" charset="0"/>
                <a:cs typeface="Times New Roman" panose="02020603050405020304" pitchFamily="18" charset="0"/>
              </a:rPr>
              <a:t>Validation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counterpart to verification, assuring that the system </a:t>
            </a:r>
            <a:r>
              <a:rPr lang="en-US" dirty="0" smtClean="0">
                <a:latin typeface="Times New Roman" panose="02020603050405020304" pitchFamily="18" charset="0"/>
                <a:cs typeface="Times New Roman" panose="02020603050405020304" pitchFamily="18" charset="0"/>
              </a:rPr>
              <a:t>developers have </a:t>
            </a:r>
            <a:r>
              <a:rPr lang="en-US" dirty="0">
                <a:latin typeface="Times New Roman" panose="02020603050405020304" pitchFamily="18" charset="0"/>
                <a:cs typeface="Times New Roman" panose="02020603050405020304" pitchFamily="18" charset="0"/>
              </a:rPr>
              <a:t>implemented all requirements. Thus, validation makes sure that the developer </a:t>
            </a:r>
            <a:r>
              <a:rPr lang="en-US" dirty="0" smtClean="0">
                <a:latin typeface="Times New Roman" panose="02020603050405020304" pitchFamily="18" charset="0"/>
                <a:cs typeface="Times New Roman" panose="02020603050405020304" pitchFamily="18" charset="0"/>
              </a:rPr>
              <a:t>is building </a:t>
            </a:r>
            <a:r>
              <a:rPr lang="en-US" dirty="0">
                <a:latin typeface="Times New Roman" panose="02020603050405020304" pitchFamily="18" charset="0"/>
                <a:cs typeface="Times New Roman" panose="02020603050405020304" pitchFamily="18" charset="0"/>
              </a:rPr>
              <a:t>the right product (according to the specification), and verification checks </a:t>
            </a:r>
            <a:r>
              <a:rPr lang="en-US" dirty="0" smtClean="0">
                <a:latin typeface="Times New Roman" panose="02020603050405020304" pitchFamily="18" charset="0"/>
                <a:cs typeface="Times New Roman" panose="02020603050405020304" pitchFamily="18" charset="0"/>
              </a:rPr>
              <a:t>the quality </a:t>
            </a:r>
            <a:r>
              <a:rPr lang="en-US" dirty="0">
                <a:latin typeface="Times New Roman" panose="02020603050405020304" pitchFamily="18" charset="0"/>
                <a:cs typeface="Times New Roman" panose="02020603050405020304" pitchFamily="18" charset="0"/>
              </a:rPr>
              <a:t>of the implementation.</a:t>
            </a:r>
            <a:endParaRPr lang="en-US" dirty="0" smtClean="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68</a:t>
            </a:fld>
            <a:endParaRPr lang="en-US">
              <a:latin typeface="Arial"/>
            </a:endParaRPr>
          </a:p>
        </p:txBody>
      </p:sp>
    </p:spTree>
    <p:extLst>
      <p:ext uri="{BB962C8B-B14F-4D97-AF65-F5344CB8AC3E}">
        <p14:creationId xmlns:p14="http://schemas.microsoft.com/office/powerpoint/2010/main" val="29180279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a:solidFill>
                  <a:srgbClr val="0070C0"/>
                </a:solidFill>
              </a:rPr>
              <a:t>Defensive Programming</a:t>
            </a:r>
          </a:p>
        </p:txBody>
      </p:sp>
      <p:sp>
        <p:nvSpPr>
          <p:cNvPr id="3" name="Text Placeholder 2"/>
          <p:cNvSpPr>
            <a:spLocks noGrp="1"/>
          </p:cNvSpPr>
          <p:nvPr>
            <p:ph type="body" idx="1"/>
          </p:nvPr>
        </p:nvSpPr>
        <p:spPr>
          <a:xfrm>
            <a:off x="255181" y="1518684"/>
            <a:ext cx="11324203" cy="4876800"/>
          </a:xfrm>
        </p:spPr>
        <p:txBody>
          <a:bodyPr>
            <a:normAutofit fontScale="92500" lnSpcReduction="10000"/>
          </a:bodyPr>
          <a:lstStyle/>
          <a:p>
            <a:pPr marL="0" indent="0" algn="just">
              <a:buNone/>
            </a:pPr>
            <a:r>
              <a:rPr lang="en-US" dirty="0"/>
              <a:t>The aphorism “</a:t>
            </a:r>
            <a:r>
              <a:rPr lang="en-US" dirty="0">
                <a:solidFill>
                  <a:srgbClr val="FF0000"/>
                </a:solidFill>
              </a:rPr>
              <a:t>offense sells tickets; defense wins championships</a:t>
            </a:r>
            <a:r>
              <a:rPr lang="en-US" dirty="0" smtClean="0"/>
              <a:t>” </a:t>
            </a:r>
          </a:p>
          <a:p>
            <a:pPr algn="just"/>
            <a:r>
              <a:rPr lang="en-US" b="1" dirty="0" smtClean="0"/>
              <a:t>Scoring </a:t>
            </a:r>
            <a:r>
              <a:rPr lang="en-US" b="1" dirty="0"/>
              <a:t>points (offense) is exciting and fun to watch, so it attracts </a:t>
            </a:r>
            <a:r>
              <a:rPr lang="en-US" b="1" dirty="0" smtClean="0"/>
              <a:t>fans.</a:t>
            </a:r>
            <a:endParaRPr lang="en-US" dirty="0" smtClean="0"/>
          </a:p>
          <a:p>
            <a:pPr algn="just"/>
            <a:r>
              <a:rPr lang="en-US" b="1" dirty="0" smtClean="0"/>
              <a:t>But </a:t>
            </a:r>
            <a:r>
              <a:rPr lang="en-US" b="1" dirty="0"/>
              <a:t>stopping the other team from scoring (defense) is what actually helps you win important games or championships</a:t>
            </a:r>
            <a:r>
              <a:rPr lang="en-US" b="1" dirty="0" smtClean="0"/>
              <a:t>.</a:t>
            </a:r>
          </a:p>
          <a:p>
            <a:pPr marL="0" indent="0" algn="just">
              <a:buNone/>
            </a:pPr>
            <a:endParaRPr lang="en-US" b="1" dirty="0"/>
          </a:p>
          <a:p>
            <a:pPr marL="0" indent="0" algn="just">
              <a:buNone/>
            </a:pPr>
            <a:r>
              <a:rPr lang="en-US" b="1" dirty="0" smtClean="0"/>
              <a:t>Looking </a:t>
            </a:r>
            <a:r>
              <a:rPr lang="en-US" b="1" dirty="0"/>
              <a:t>good</a:t>
            </a:r>
            <a:r>
              <a:rPr lang="en-US" dirty="0"/>
              <a:t> (with flashy moves) can impress people, but </a:t>
            </a:r>
            <a:r>
              <a:rPr lang="en-US" b="1" dirty="0"/>
              <a:t>doing the hard, smart work</a:t>
            </a:r>
            <a:r>
              <a:rPr lang="en-US" dirty="0"/>
              <a:t> (like defense) is what </a:t>
            </a:r>
            <a:r>
              <a:rPr lang="en-US" dirty="0" smtClean="0"/>
              <a:t>brings </a:t>
            </a:r>
            <a:r>
              <a:rPr lang="en-US" b="1" dirty="0"/>
              <a:t>true success</a:t>
            </a:r>
            <a:r>
              <a:rPr lang="en-US" dirty="0" smtClean="0"/>
              <a:t>.</a:t>
            </a:r>
          </a:p>
          <a:p>
            <a:pPr marL="0" indent="0">
              <a:buNone/>
            </a:pPr>
            <a:endParaRPr lang="en-US" dirty="0" smtClean="0"/>
          </a:p>
          <a:p>
            <a:pPr marL="0" indent="0">
              <a:buNone/>
            </a:pPr>
            <a:r>
              <a:rPr lang="en-US" dirty="0" smtClean="0"/>
              <a:t>Regardless </a:t>
            </a:r>
            <a:r>
              <a:rPr lang="en-US" dirty="0"/>
              <a:t>of its origin, the </a:t>
            </a:r>
            <a:r>
              <a:rPr lang="en-US" dirty="0" smtClean="0"/>
              <a:t>aphorism has </a:t>
            </a:r>
            <a:r>
              <a:rPr lang="en-US" dirty="0"/>
              <a:t>a certain relevance to computer security as well. </a:t>
            </a:r>
            <a:endParaRPr lang="en-US" dirty="0" smtClean="0"/>
          </a:p>
          <a:p>
            <a:pPr marL="0" indent="0" algn="just">
              <a:buNone/>
            </a:pPr>
            <a:r>
              <a:rPr lang="en-US" dirty="0" smtClean="0"/>
              <a:t>As </a:t>
            </a:r>
            <a:r>
              <a:rPr lang="en-US" dirty="0"/>
              <a:t>we have already shown, the </a:t>
            </a:r>
            <a:r>
              <a:rPr lang="en-US" dirty="0" smtClean="0"/>
              <a:t>world s </a:t>
            </a:r>
            <a:r>
              <a:rPr lang="en-US" dirty="0"/>
              <a:t>generally </a:t>
            </a:r>
            <a:r>
              <a:rPr lang="en-US" dirty="0" smtClean="0"/>
              <a:t>aggressive: </a:t>
            </a:r>
            <a:r>
              <a:rPr lang="en-US" dirty="0"/>
              <a:t>Defenders have to counter all possible attacks, whereas attackers </a:t>
            </a:r>
            <a:r>
              <a:rPr lang="en-US" dirty="0" smtClean="0"/>
              <a:t>have only </a:t>
            </a:r>
            <a:r>
              <a:rPr lang="en-US" dirty="0"/>
              <a:t>to find one weakness to exploit. Thus, a strong defense is not only helpful, it </a:t>
            </a:r>
            <a:r>
              <a:rPr lang="en-US" dirty="0" smtClean="0"/>
              <a:t>is </a:t>
            </a:r>
            <a:r>
              <a:rPr lang="en-IN" dirty="0" smtClean="0"/>
              <a:t>essential. </a:t>
            </a:r>
            <a:r>
              <a:rPr lang="en-US" dirty="0">
                <a:solidFill>
                  <a:srgbClr val="C00000"/>
                </a:solidFill>
              </a:rPr>
              <a:t>Program designers and </a:t>
            </a:r>
            <a:r>
              <a:rPr lang="en-US" dirty="0" smtClean="0">
                <a:solidFill>
                  <a:srgbClr val="C00000"/>
                </a:solidFill>
              </a:rPr>
              <a:t>implementers need </a:t>
            </a:r>
            <a:r>
              <a:rPr lang="en-US" dirty="0">
                <a:solidFill>
                  <a:srgbClr val="C00000"/>
                </a:solidFill>
              </a:rPr>
              <a:t>not only write correct code but must </a:t>
            </a:r>
            <a:r>
              <a:rPr lang="en-US" dirty="0" smtClean="0">
                <a:solidFill>
                  <a:srgbClr val="C00000"/>
                </a:solidFill>
              </a:rPr>
              <a:t>also anticipate </a:t>
            </a:r>
            <a:r>
              <a:rPr lang="en-US" dirty="0">
                <a:solidFill>
                  <a:srgbClr val="C00000"/>
                </a:solidFill>
              </a:rPr>
              <a:t>what could go wrong.</a:t>
            </a:r>
            <a:endParaRPr lang="en-US" dirty="0" smtClean="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69</a:t>
            </a:fld>
            <a:endParaRPr lang="en-US">
              <a:latin typeface="Arial"/>
            </a:endParaRPr>
          </a:p>
        </p:txBody>
      </p:sp>
    </p:spTree>
    <p:extLst>
      <p:ext uri="{BB962C8B-B14F-4D97-AF65-F5344CB8AC3E}">
        <p14:creationId xmlns:p14="http://schemas.microsoft.com/office/powerpoint/2010/main" val="37086001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a:solidFill>
                  <a:srgbClr val="0070C0"/>
                </a:solidFill>
              </a:rPr>
              <a:t>Trustworthy Computing Initiative</a:t>
            </a:r>
          </a:p>
        </p:txBody>
      </p:sp>
      <p:sp>
        <p:nvSpPr>
          <p:cNvPr id="3" name="Text Placeholder 2"/>
          <p:cNvSpPr>
            <a:spLocks noGrp="1"/>
          </p:cNvSpPr>
          <p:nvPr>
            <p:ph type="body" idx="1"/>
          </p:nvPr>
        </p:nvSpPr>
        <p:spPr>
          <a:xfrm>
            <a:off x="255181" y="1518684"/>
            <a:ext cx="11324203" cy="4876800"/>
          </a:xfrm>
        </p:spPr>
        <p:txBody>
          <a:bodyPr>
            <a:normAutofit/>
          </a:bodyPr>
          <a:lstStyle/>
          <a:p>
            <a:pPr marL="0" indent="0" algn="just">
              <a:buNone/>
            </a:pPr>
            <a:r>
              <a:rPr lang="en-US" dirty="0" smtClean="0"/>
              <a:t>The </a:t>
            </a:r>
            <a:r>
              <a:rPr lang="en-US" b="1" dirty="0"/>
              <a:t>Trustworthy Computing Initiative</a:t>
            </a:r>
            <a:r>
              <a:rPr lang="en-US" dirty="0"/>
              <a:t> was a program started by Microsoft in 2002 to make computers and software more </a:t>
            </a:r>
            <a:r>
              <a:rPr lang="en-US" b="1" dirty="0"/>
              <a:t>secure, private, reliable, and easy to use</a:t>
            </a:r>
            <a:r>
              <a:rPr lang="en-US" dirty="0"/>
              <a:t>.</a:t>
            </a:r>
          </a:p>
          <a:p>
            <a:pPr marL="0" indent="0" algn="just">
              <a:buNone/>
            </a:pPr>
            <a:r>
              <a:rPr lang="en-US" dirty="0"/>
              <a:t/>
            </a:r>
            <a:br>
              <a:rPr lang="en-US" dirty="0"/>
            </a:br>
            <a:r>
              <a:rPr lang="en-US" dirty="0"/>
              <a:t>It was Microsoft’s big promise to put </a:t>
            </a:r>
            <a:r>
              <a:rPr lang="en-US" b="1" dirty="0"/>
              <a:t>security, safety, and user trust</a:t>
            </a:r>
            <a:r>
              <a:rPr lang="en-US" dirty="0"/>
              <a:t> first when designing and updating their products, so people could feel confident that their computers wouldn’t easily get hacked, crash, or misuse their personal data.</a:t>
            </a:r>
          </a:p>
          <a:p>
            <a:pPr marL="0" indent="0" algn="just">
              <a:buNone/>
            </a:pPr>
            <a:endParaRPr lang="en-US" dirty="0" smtClean="0">
              <a:solidFill>
                <a:srgbClr val="C00000"/>
              </a:solidFill>
              <a:latin typeface="Times New Roman" panose="02020603050405020304" pitchFamily="18" charset="0"/>
              <a:cs typeface="Times New Roman" panose="02020603050405020304" pitchFamily="18" charset="0"/>
            </a:endParaRPr>
          </a:p>
          <a:p>
            <a:pPr marL="0" indent="0" algn="just">
              <a:buNone/>
            </a:pPr>
            <a:r>
              <a:rPr lang="en-US" dirty="0">
                <a:solidFill>
                  <a:srgbClr val="C00000"/>
                </a:solidFill>
                <a:latin typeface="Times New Roman" panose="02020603050405020304" pitchFamily="18" charset="0"/>
                <a:cs typeface="Times New Roman" panose="02020603050405020304" pitchFamily="18" charset="0"/>
              </a:rPr>
              <a:t>Microsoft had a serious problem with code quality in 2002. </a:t>
            </a:r>
            <a:endParaRPr lang="en-US" dirty="0" smtClean="0">
              <a:solidFill>
                <a:srgbClr val="C00000"/>
              </a:solidFill>
              <a:latin typeface="Times New Roman" panose="02020603050405020304" pitchFamily="18" charset="0"/>
              <a:cs typeface="Times New Roman" panose="02020603050405020304" pitchFamily="18" charset="0"/>
            </a:endParaRP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Flaws </a:t>
            </a:r>
            <a:r>
              <a:rPr lang="en-US" dirty="0">
                <a:solidFill>
                  <a:srgbClr val="C00000"/>
                </a:solidFill>
                <a:latin typeface="Times New Roman" panose="02020603050405020304" pitchFamily="18" charset="0"/>
                <a:cs typeface="Times New Roman" panose="02020603050405020304" pitchFamily="18" charset="0"/>
              </a:rPr>
              <a:t>in its </a:t>
            </a:r>
            <a:r>
              <a:rPr lang="en-US" dirty="0" smtClean="0">
                <a:solidFill>
                  <a:srgbClr val="C00000"/>
                </a:solidFill>
                <a:latin typeface="Times New Roman" panose="02020603050405020304" pitchFamily="18" charset="0"/>
                <a:cs typeface="Times New Roman" panose="02020603050405020304" pitchFamily="18" charset="0"/>
              </a:rPr>
              <a:t>products appeared </a:t>
            </a:r>
            <a:r>
              <a:rPr lang="en-US" dirty="0">
                <a:solidFill>
                  <a:srgbClr val="C00000"/>
                </a:solidFill>
                <a:latin typeface="Times New Roman" panose="02020603050405020304" pitchFamily="18" charset="0"/>
                <a:cs typeface="Times New Roman" panose="02020603050405020304" pitchFamily="18" charset="0"/>
              </a:rPr>
              <a:t>frequently, and it released patches as quickly as it could. But the </a:t>
            </a:r>
            <a:r>
              <a:rPr lang="en-US" dirty="0" smtClean="0">
                <a:solidFill>
                  <a:srgbClr val="C00000"/>
                </a:solidFill>
                <a:latin typeface="Times New Roman" panose="02020603050405020304" pitchFamily="18" charset="0"/>
                <a:cs typeface="Times New Roman" panose="02020603050405020304" pitchFamily="18" charset="0"/>
              </a:rPr>
              <a:t>sporadic (irregular) nature of </a:t>
            </a:r>
            <a:r>
              <a:rPr lang="en-US" dirty="0">
                <a:solidFill>
                  <a:srgbClr val="C00000"/>
                </a:solidFill>
                <a:latin typeface="Times New Roman" panose="02020603050405020304" pitchFamily="18" charset="0"/>
                <a:cs typeface="Times New Roman" panose="02020603050405020304" pitchFamily="18" charset="0"/>
              </a:rPr>
              <a:t>patch releases confused users and made the problem seem worse than it was.</a:t>
            </a:r>
            <a:endParaRPr lang="en-US" dirty="0" smtClean="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70</a:t>
            </a:fld>
            <a:endParaRPr lang="en-US">
              <a:latin typeface="Arial"/>
            </a:endParaRPr>
          </a:p>
        </p:txBody>
      </p:sp>
    </p:spTree>
    <p:extLst>
      <p:ext uri="{BB962C8B-B14F-4D97-AF65-F5344CB8AC3E}">
        <p14:creationId xmlns:p14="http://schemas.microsoft.com/office/powerpoint/2010/main" val="54881604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60" y="533400"/>
            <a:ext cx="12103765" cy="990600"/>
          </a:xfrm>
        </p:spPr>
        <p:txBody>
          <a:bodyPr>
            <a:normAutofit fontScale="90000"/>
          </a:bodyPr>
          <a:lstStyle/>
          <a:p>
            <a:r>
              <a:rPr lang="en-US" dirty="0"/>
              <a:t>Countermeasure Specifically for </a:t>
            </a:r>
            <a:r>
              <a:rPr lang="en-US" dirty="0" smtClean="0"/>
              <a:t>Security – </a:t>
            </a:r>
            <a:r>
              <a:rPr lang="en-US" dirty="0">
                <a:solidFill>
                  <a:srgbClr val="0070C0"/>
                </a:solidFill>
              </a:rPr>
              <a:t>Design by </a:t>
            </a:r>
            <a:r>
              <a:rPr lang="en-US" dirty="0" smtClean="0">
                <a:solidFill>
                  <a:srgbClr val="0070C0"/>
                </a:solidFill>
              </a:rPr>
              <a:t>Contract  or Programming </a:t>
            </a:r>
            <a:r>
              <a:rPr lang="en-US" dirty="0">
                <a:solidFill>
                  <a:srgbClr val="0070C0"/>
                </a:solidFill>
              </a:rPr>
              <a:t>by </a:t>
            </a:r>
            <a:r>
              <a:rPr lang="en-US" dirty="0" smtClean="0">
                <a:solidFill>
                  <a:srgbClr val="0070C0"/>
                </a:solidFill>
              </a:rPr>
              <a:t>Contract</a:t>
            </a:r>
            <a:endParaRPr lang="en-US" dirty="0">
              <a:solidFill>
                <a:srgbClr val="0070C0"/>
              </a:solidFill>
            </a:endParaRPr>
          </a:p>
        </p:txBody>
      </p:sp>
      <p:sp>
        <p:nvSpPr>
          <p:cNvPr id="3" name="Text Placeholder 2"/>
          <p:cNvSpPr>
            <a:spLocks noGrp="1"/>
          </p:cNvSpPr>
          <p:nvPr>
            <p:ph type="body" idx="1"/>
          </p:nvPr>
        </p:nvSpPr>
        <p:spPr>
          <a:xfrm>
            <a:off x="255181" y="1518684"/>
            <a:ext cx="11324203" cy="4876800"/>
          </a:xfrm>
        </p:spPr>
        <p:txBody>
          <a:bodyPr>
            <a:normAutofit/>
          </a:bodyPr>
          <a:lstStyle/>
          <a:p>
            <a:pPr marL="0" indent="0" algn="just">
              <a:buNone/>
            </a:pPr>
            <a:r>
              <a:rPr lang="en-US" b="1" dirty="0" smtClean="0"/>
              <a:t>Design </a:t>
            </a:r>
            <a:r>
              <a:rPr lang="en-US" b="1" dirty="0"/>
              <a:t>by contract</a:t>
            </a:r>
            <a:r>
              <a:rPr lang="en-US" dirty="0"/>
              <a:t> (also called </a:t>
            </a:r>
            <a:r>
              <a:rPr lang="en-US" b="1" dirty="0"/>
              <a:t>programming by contract</a:t>
            </a:r>
            <a:r>
              <a:rPr lang="en-US" dirty="0"/>
              <a:t>) is a way of writing programs that helps find and prevent errors.</a:t>
            </a:r>
          </a:p>
          <a:p>
            <a:pPr marL="0" indent="0" algn="just">
              <a:buNone/>
            </a:pPr>
            <a:r>
              <a:rPr lang="en-US" dirty="0" smtClean="0"/>
              <a:t>The </a:t>
            </a:r>
            <a:r>
              <a:rPr lang="en-US" dirty="0"/>
              <a:t>idea is to treat each part of a program (a “module”) like it has a </a:t>
            </a:r>
            <a:r>
              <a:rPr lang="en-US" b="1" dirty="0"/>
              <a:t>contract</a:t>
            </a:r>
            <a:r>
              <a:rPr lang="en-US" dirty="0"/>
              <a:t> with the rest of the program. This contract clearly states:</a:t>
            </a:r>
          </a:p>
          <a:p>
            <a:pPr algn="just"/>
            <a:r>
              <a:rPr lang="en-US" b="1" dirty="0" smtClean="0"/>
              <a:t>Preconditions </a:t>
            </a:r>
            <a:r>
              <a:rPr lang="en-US" b="1" dirty="0"/>
              <a:t>and </a:t>
            </a:r>
            <a:r>
              <a:rPr lang="en-US" b="1" dirty="0" err="1" smtClean="0"/>
              <a:t>Postconditions</a:t>
            </a:r>
            <a:r>
              <a:rPr lang="en-US" b="1" dirty="0" smtClean="0"/>
              <a:t> </a:t>
            </a:r>
            <a:r>
              <a:rPr lang="en-US" dirty="0"/>
              <a:t>are conditions </a:t>
            </a:r>
            <a:r>
              <a:rPr lang="en-US" dirty="0" smtClean="0"/>
              <a:t>necessary (expected</a:t>
            </a:r>
            <a:r>
              <a:rPr lang="en-US" dirty="0"/>
              <a:t>, required, or enforced) to be true before the module begins and after it </a:t>
            </a:r>
            <a:r>
              <a:rPr lang="en-US" dirty="0" smtClean="0"/>
              <a:t>ends, respectively.</a:t>
            </a:r>
            <a:endParaRPr lang="en-US" dirty="0"/>
          </a:p>
          <a:p>
            <a:pPr algn="just"/>
            <a:r>
              <a:rPr lang="en-US" b="1" dirty="0" smtClean="0"/>
              <a:t>Invariants</a:t>
            </a:r>
            <a:r>
              <a:rPr lang="en-US" dirty="0" smtClean="0"/>
              <a:t> are </a:t>
            </a:r>
            <a:r>
              <a:rPr lang="en-US" dirty="0"/>
              <a:t>conditions necessary to be true throughout the </a:t>
            </a:r>
            <a:r>
              <a:rPr lang="en-US" dirty="0" smtClean="0"/>
              <a:t>module’s </a:t>
            </a:r>
            <a:r>
              <a:rPr lang="en-IN" dirty="0" smtClean="0"/>
              <a:t>execution</a:t>
            </a:r>
            <a:r>
              <a:rPr lang="en-IN" dirty="0"/>
              <a:t>.</a:t>
            </a:r>
            <a:endParaRPr lang="en-US" dirty="0" smtClean="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71</a:t>
            </a:fld>
            <a:endParaRPr lang="en-US">
              <a:latin typeface="Arial"/>
            </a:endParaRPr>
          </a:p>
        </p:txBody>
      </p:sp>
    </p:spTree>
    <p:extLst>
      <p:ext uri="{BB962C8B-B14F-4D97-AF65-F5344CB8AC3E}">
        <p14:creationId xmlns:p14="http://schemas.microsoft.com/office/powerpoint/2010/main" val="402182710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 Specifically for </a:t>
            </a:r>
            <a:r>
              <a:rPr lang="en-US" dirty="0" smtClean="0"/>
              <a:t>Security –</a:t>
            </a:r>
            <a:br>
              <a:rPr lang="en-US" dirty="0" smtClean="0"/>
            </a:br>
            <a:r>
              <a:rPr lang="en-US" dirty="0" smtClean="0"/>
              <a:t>Design </a:t>
            </a:r>
            <a:r>
              <a:rPr lang="en-US" dirty="0"/>
              <a:t>Principles for Security</a:t>
            </a:r>
          </a:p>
        </p:txBody>
      </p:sp>
      <p:sp>
        <p:nvSpPr>
          <p:cNvPr id="3" name="Text Placeholder 2"/>
          <p:cNvSpPr>
            <a:spLocks noGrp="1"/>
          </p:cNvSpPr>
          <p:nvPr>
            <p:ph type="body" idx="1"/>
          </p:nvPr>
        </p:nvSpPr>
        <p:spPr/>
        <p:txBody>
          <a:bodyPr/>
          <a:lstStyle/>
          <a:p>
            <a:r>
              <a:rPr lang="en-US" dirty="0"/>
              <a:t>Least privilege</a:t>
            </a:r>
          </a:p>
          <a:p>
            <a:r>
              <a:rPr lang="en-US" dirty="0"/>
              <a:t>Economy of mechanism</a:t>
            </a:r>
          </a:p>
          <a:p>
            <a:r>
              <a:rPr lang="en-US" dirty="0"/>
              <a:t>Open design</a:t>
            </a:r>
          </a:p>
          <a:p>
            <a:r>
              <a:rPr lang="en-US" dirty="0"/>
              <a:t>Complete mediation</a:t>
            </a:r>
          </a:p>
          <a:p>
            <a:r>
              <a:rPr lang="en-US" dirty="0"/>
              <a:t>Permission based</a:t>
            </a:r>
          </a:p>
          <a:p>
            <a:r>
              <a:rPr lang="en-US" dirty="0"/>
              <a:t>Separation of privilege</a:t>
            </a:r>
          </a:p>
          <a:p>
            <a:r>
              <a:rPr lang="en-US" dirty="0"/>
              <a:t>Least common mechanism</a:t>
            </a:r>
          </a:p>
          <a:p>
            <a:r>
              <a:rPr lang="en-US" dirty="0"/>
              <a:t>Ease of use</a:t>
            </a: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72</a:t>
            </a:fld>
            <a:endParaRPr lang="en-US">
              <a:latin typeface="Arial"/>
            </a:endParaRPr>
          </a:p>
        </p:txBody>
      </p:sp>
    </p:spTree>
    <p:extLst>
      <p:ext uri="{BB962C8B-B14F-4D97-AF65-F5344CB8AC3E}">
        <p14:creationId xmlns:p14="http://schemas.microsoft.com/office/powerpoint/2010/main" val="123740052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 Specifically for </a:t>
            </a:r>
            <a:r>
              <a:rPr lang="en-US" dirty="0" smtClean="0"/>
              <a:t>Security –</a:t>
            </a:r>
            <a:br>
              <a:rPr lang="en-US" dirty="0" smtClean="0"/>
            </a:br>
            <a:r>
              <a:rPr lang="en-US" dirty="0" smtClean="0"/>
              <a:t>Design </a:t>
            </a:r>
            <a:r>
              <a:rPr lang="en-US" dirty="0"/>
              <a:t>Principles for Security</a:t>
            </a:r>
          </a:p>
        </p:txBody>
      </p:sp>
      <p:sp>
        <p:nvSpPr>
          <p:cNvPr id="3" name="Text Placeholder 2"/>
          <p:cNvSpPr>
            <a:spLocks noGrp="1"/>
          </p:cNvSpPr>
          <p:nvPr>
            <p:ph type="body" idx="1"/>
          </p:nvPr>
        </p:nvSpPr>
        <p:spPr/>
        <p:txBody>
          <a:bodyPr/>
          <a:lstStyle/>
          <a:p>
            <a:r>
              <a:rPr lang="en-US" dirty="0"/>
              <a:t>Penetration Testing for </a:t>
            </a:r>
            <a:r>
              <a:rPr lang="en-US" dirty="0" smtClean="0"/>
              <a:t>Security</a:t>
            </a:r>
          </a:p>
          <a:p>
            <a:r>
              <a:rPr lang="en-US" dirty="0"/>
              <a:t>Proofs of Program </a:t>
            </a:r>
            <a:r>
              <a:rPr lang="en-US" dirty="0" smtClean="0"/>
              <a:t>Correctness</a:t>
            </a:r>
          </a:p>
          <a:p>
            <a:r>
              <a:rPr lang="en-US" dirty="0" smtClean="0"/>
              <a:t>Validation</a:t>
            </a:r>
          </a:p>
          <a:p>
            <a:r>
              <a:rPr lang="en-US" dirty="0"/>
              <a:t>Defensive </a:t>
            </a:r>
            <a:r>
              <a:rPr lang="en-US" dirty="0" smtClean="0"/>
              <a:t>Programming - </a:t>
            </a:r>
            <a:r>
              <a:rPr lang="en-US" dirty="0"/>
              <a:t>Program designers and implementers need not only write correct code but must </a:t>
            </a:r>
            <a:r>
              <a:rPr lang="en-US" dirty="0" smtClean="0"/>
              <a:t>also anticipate </a:t>
            </a:r>
            <a:r>
              <a:rPr lang="en-US" dirty="0"/>
              <a:t>what could go wrong.</a:t>
            </a:r>
            <a:endParaRPr lang="en-US" dirty="0" smtClean="0"/>
          </a:p>
          <a:p>
            <a:r>
              <a:rPr lang="en-US" dirty="0"/>
              <a:t>Trustworthy Computing </a:t>
            </a:r>
            <a:r>
              <a:rPr lang="en-US" dirty="0" smtClean="0"/>
              <a:t>Initiative - </a:t>
            </a:r>
            <a:r>
              <a:rPr lang="en-US" dirty="0"/>
              <a:t>all developers </a:t>
            </a:r>
            <a:r>
              <a:rPr lang="en-US" dirty="0" smtClean="0"/>
              <a:t>undergo </a:t>
            </a:r>
            <a:r>
              <a:rPr lang="en-US" dirty="0"/>
              <a:t>security training, and secure </a:t>
            </a:r>
            <a:r>
              <a:rPr lang="en-US" dirty="0" smtClean="0"/>
              <a:t>software development </a:t>
            </a:r>
            <a:r>
              <a:rPr lang="en-US" dirty="0"/>
              <a:t>practices were instituted throughout the </a:t>
            </a:r>
            <a:r>
              <a:rPr lang="en-US" dirty="0" smtClean="0"/>
              <a:t>company</a:t>
            </a: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73</a:t>
            </a:fld>
            <a:endParaRPr lang="en-US">
              <a:latin typeface="Arial"/>
            </a:endParaRPr>
          </a:p>
        </p:txBody>
      </p:sp>
    </p:spTree>
    <p:extLst>
      <p:ext uri="{BB962C8B-B14F-4D97-AF65-F5344CB8AC3E}">
        <p14:creationId xmlns:p14="http://schemas.microsoft.com/office/powerpoint/2010/main" val="256923694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Countermeasures that Don’t </a:t>
            </a:r>
            <a:r>
              <a:rPr lang="en-US" dirty="0" smtClean="0"/>
              <a:t>Work: </a:t>
            </a:r>
            <a:r>
              <a:rPr lang="en-IN" dirty="0">
                <a:solidFill>
                  <a:srgbClr val="0070C0"/>
                </a:solidFill>
              </a:rPr>
              <a:t>Penetrate-and-Patch</a:t>
            </a:r>
            <a:endParaRPr lang="en-US" dirty="0">
              <a:solidFill>
                <a:srgbClr val="0070C0"/>
              </a:solidFill>
            </a:endParaRPr>
          </a:p>
        </p:txBody>
      </p:sp>
      <p:sp>
        <p:nvSpPr>
          <p:cNvPr id="3" name="Text Placeholder 2"/>
          <p:cNvSpPr>
            <a:spLocks noGrp="1"/>
          </p:cNvSpPr>
          <p:nvPr>
            <p:ph type="body" idx="1"/>
          </p:nvPr>
        </p:nvSpPr>
        <p:spPr>
          <a:xfrm>
            <a:off x="609441" y="1345019"/>
            <a:ext cx="10969943" cy="4439093"/>
          </a:xfrm>
        </p:spPr>
        <p:txBody>
          <a:bodyPr>
            <a:normAutofit/>
          </a:bodyPr>
          <a:lstStyle/>
          <a:p>
            <a:pPr marL="0" indent="0" algn="just">
              <a:buNone/>
            </a:pPr>
            <a:r>
              <a:rPr lang="en-US" b="1" dirty="0"/>
              <a:t>"Penetrate-and-patch" </a:t>
            </a:r>
            <a:r>
              <a:rPr lang="en-US" dirty="0"/>
              <a:t>refers to a software security approach where vulnerabilities are identified through attempts to exploit them </a:t>
            </a:r>
            <a:r>
              <a:rPr lang="en-US" dirty="0">
                <a:solidFill>
                  <a:srgbClr val="FF0000"/>
                </a:solidFill>
              </a:rPr>
              <a:t>(penetrate), </a:t>
            </a:r>
            <a:r>
              <a:rPr lang="en-US" dirty="0"/>
              <a:t>and then fixed </a:t>
            </a:r>
            <a:r>
              <a:rPr lang="en-US" b="1" dirty="0">
                <a:solidFill>
                  <a:srgbClr val="0070C0"/>
                </a:solidFill>
              </a:rPr>
              <a:t>(patched) </a:t>
            </a:r>
            <a:r>
              <a:rPr lang="en-US" dirty="0"/>
              <a:t>after they are found. This reactive method, while common, is generally considered less effective than a proactive, security-focused development </a:t>
            </a:r>
            <a:r>
              <a:rPr lang="en-US" dirty="0" smtClean="0"/>
              <a:t>lifecycle.</a:t>
            </a:r>
            <a:endParaRPr lang="en-US" dirty="0" smtClean="0"/>
          </a:p>
          <a:p>
            <a:pPr marL="0" indent="0">
              <a:buNone/>
            </a:pPr>
            <a:endParaRPr lang="en-US" dirty="0" smtClean="0"/>
          </a:p>
          <a:p>
            <a:pPr marL="0" indent="0" algn="just">
              <a:buNone/>
            </a:pPr>
            <a:r>
              <a:rPr lang="en-US" dirty="0" smtClean="0"/>
              <a:t>It </a:t>
            </a:r>
            <a:r>
              <a:rPr lang="en-US" dirty="0"/>
              <a:t>has two problems:</a:t>
            </a:r>
          </a:p>
          <a:p>
            <a:pPr algn="just"/>
            <a:r>
              <a:rPr lang="en-US" dirty="0"/>
              <a:t>People think the best way to test a computer system is to bring in a group of </a:t>
            </a:r>
            <a:r>
              <a:rPr lang="en-US" dirty="0">
                <a:solidFill>
                  <a:srgbClr val="FF0000"/>
                </a:solidFill>
              </a:rPr>
              <a:t>skilled hackers </a:t>
            </a:r>
            <a:r>
              <a:rPr lang="en-US" dirty="0"/>
              <a:t>to try to break it.</a:t>
            </a:r>
          </a:p>
          <a:p>
            <a:pPr algn="just"/>
            <a:r>
              <a:rPr lang="en-US" dirty="0"/>
              <a:t>If these hackers can’t find any problems, people </a:t>
            </a:r>
            <a:r>
              <a:rPr lang="en-US" dirty="0">
                <a:solidFill>
                  <a:srgbClr val="00B050"/>
                </a:solidFill>
              </a:rPr>
              <a:t>wrongly believe </a:t>
            </a:r>
            <a:r>
              <a:rPr lang="en-US" dirty="0"/>
              <a:t>the system must be safe.</a:t>
            </a:r>
          </a:p>
          <a:p>
            <a:pPr marL="0" indent="0">
              <a:buNone/>
            </a:pPr>
            <a:endParaRPr lang="en-US" dirty="0" smtClean="0"/>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74</a:t>
            </a:fld>
            <a:endParaRPr lang="en-US">
              <a:latin typeface="Arial"/>
            </a:endParaRPr>
          </a:p>
        </p:txBody>
      </p:sp>
      <p:sp>
        <p:nvSpPr>
          <p:cNvPr id="5" name="Rectangle 4"/>
          <p:cNvSpPr/>
          <p:nvPr/>
        </p:nvSpPr>
        <p:spPr>
          <a:xfrm>
            <a:off x="2328530" y="5806229"/>
            <a:ext cx="8102009" cy="707886"/>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r>
              <a:rPr lang="en-US" sz="2000" dirty="0" smtClean="0"/>
              <a:t>Penetrate-and-patch </a:t>
            </a:r>
            <a:r>
              <a:rPr lang="en-US" sz="2000" dirty="0"/>
              <a:t>fails because it is hurried, misses the context of the fault, and focuses on one failure, not the complete system.</a:t>
            </a:r>
            <a:endParaRPr lang="en-US" sz="2000" dirty="0"/>
          </a:p>
        </p:txBody>
      </p:sp>
    </p:spTree>
    <p:extLst>
      <p:ext uri="{BB962C8B-B14F-4D97-AF65-F5344CB8AC3E}">
        <p14:creationId xmlns:p14="http://schemas.microsoft.com/office/powerpoint/2010/main" val="325648459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Countermeasures that Don’t </a:t>
            </a:r>
            <a:r>
              <a:rPr lang="en-US" dirty="0" smtClean="0"/>
              <a:t>Work: </a:t>
            </a:r>
            <a:r>
              <a:rPr lang="en-IN" dirty="0">
                <a:solidFill>
                  <a:srgbClr val="0070C0"/>
                </a:solidFill>
              </a:rPr>
              <a:t>Security by Obscurity</a:t>
            </a:r>
            <a:endParaRPr lang="en-US" dirty="0">
              <a:solidFill>
                <a:srgbClr val="0070C0"/>
              </a:solidFill>
            </a:endParaRPr>
          </a:p>
        </p:txBody>
      </p:sp>
      <p:sp>
        <p:nvSpPr>
          <p:cNvPr id="3" name="Text Placeholder 2"/>
          <p:cNvSpPr>
            <a:spLocks noGrp="1"/>
          </p:cNvSpPr>
          <p:nvPr>
            <p:ph type="body" idx="1"/>
          </p:nvPr>
        </p:nvSpPr>
        <p:spPr>
          <a:xfrm>
            <a:off x="609441" y="1345019"/>
            <a:ext cx="10969943" cy="4439093"/>
          </a:xfrm>
        </p:spPr>
        <p:txBody>
          <a:bodyPr>
            <a:normAutofit/>
          </a:bodyPr>
          <a:lstStyle/>
          <a:p>
            <a:pPr marL="0" indent="0" algn="just">
              <a:buNone/>
            </a:pPr>
            <a:r>
              <a:rPr lang="en-US" dirty="0"/>
              <a:t>Computer security experts use the term </a:t>
            </a:r>
            <a:r>
              <a:rPr lang="en-US" b="1" dirty="0"/>
              <a:t>security by </a:t>
            </a:r>
            <a:r>
              <a:rPr lang="en-US" dirty="0"/>
              <a:t>or </a:t>
            </a:r>
            <a:r>
              <a:rPr lang="en-US" b="1" dirty="0"/>
              <a:t>through </a:t>
            </a:r>
            <a:r>
              <a:rPr lang="en-US" b="1" dirty="0" smtClean="0">
                <a:solidFill>
                  <a:srgbClr val="FF0000"/>
                </a:solidFill>
              </a:rPr>
              <a:t>obscurity </a:t>
            </a:r>
            <a:r>
              <a:rPr lang="en-US" sz="1900" b="1" dirty="0" smtClean="0"/>
              <a:t>(hard to understand)</a:t>
            </a:r>
            <a:r>
              <a:rPr lang="en-US" b="1" dirty="0" smtClean="0"/>
              <a:t> </a:t>
            </a:r>
            <a:r>
              <a:rPr lang="en-US" dirty="0"/>
              <a:t>to </a:t>
            </a:r>
            <a:r>
              <a:rPr lang="en-US" dirty="0" smtClean="0"/>
              <a:t>describe the </a:t>
            </a:r>
            <a:r>
              <a:rPr lang="en-US" dirty="0"/>
              <a:t>ineffective countermeasure of assuming the attacker will not find a </a:t>
            </a:r>
            <a:r>
              <a:rPr lang="en-US" dirty="0" smtClean="0"/>
              <a:t>vulnerability. </a:t>
            </a:r>
          </a:p>
          <a:p>
            <a:pPr marL="0" indent="0" algn="just">
              <a:buNone/>
            </a:pPr>
            <a:endParaRPr lang="en-US" dirty="0"/>
          </a:p>
          <a:p>
            <a:pPr marL="0" indent="0" algn="just">
              <a:buNone/>
            </a:pPr>
            <a:r>
              <a:rPr lang="en-US" dirty="0" smtClean="0"/>
              <a:t>Security </a:t>
            </a:r>
            <a:r>
              <a:rPr lang="en-US" dirty="0"/>
              <a:t>by obscurity is the belief that a system can be secure as long as nobody outside </a:t>
            </a:r>
            <a:r>
              <a:rPr lang="en-US" dirty="0" smtClean="0"/>
              <a:t>its implementation </a:t>
            </a:r>
            <a:r>
              <a:rPr lang="en-US" dirty="0"/>
              <a:t>group is told anything about its internal mechanisms. Hiding </a:t>
            </a:r>
            <a:r>
              <a:rPr lang="en-US" dirty="0" smtClean="0"/>
              <a:t>account passwords </a:t>
            </a:r>
            <a:r>
              <a:rPr lang="en-US" dirty="0"/>
              <a:t>in binary files or scripts with the presumption that nobody will ever find </a:t>
            </a:r>
            <a:r>
              <a:rPr lang="en-US" dirty="0" smtClean="0"/>
              <a:t>them is </a:t>
            </a:r>
            <a:r>
              <a:rPr lang="en-US" dirty="0"/>
              <a:t>a prime case.</a:t>
            </a:r>
            <a:endParaRPr lang="en-US" dirty="0" smtClean="0"/>
          </a:p>
          <a:p>
            <a:pPr marL="0" indent="0">
              <a:buNone/>
            </a:pPr>
            <a:endParaRPr lang="en-US" dirty="0" smtClean="0"/>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75</a:t>
            </a:fld>
            <a:endParaRPr lang="en-US">
              <a:latin typeface="Arial"/>
            </a:endParaRPr>
          </a:p>
        </p:txBody>
      </p:sp>
    </p:spTree>
    <p:extLst>
      <p:ext uri="{BB962C8B-B14F-4D97-AF65-F5344CB8AC3E}">
        <p14:creationId xmlns:p14="http://schemas.microsoft.com/office/powerpoint/2010/main" val="134124782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Countermeasures that Don’t Work</a:t>
            </a:r>
          </a:p>
        </p:txBody>
      </p:sp>
      <p:sp>
        <p:nvSpPr>
          <p:cNvPr id="3" name="Text Placeholder 2"/>
          <p:cNvSpPr>
            <a:spLocks noGrp="1"/>
          </p:cNvSpPr>
          <p:nvPr>
            <p:ph type="body" idx="1"/>
          </p:nvPr>
        </p:nvSpPr>
        <p:spPr/>
        <p:txBody>
          <a:bodyPr/>
          <a:lstStyle/>
          <a:p>
            <a:r>
              <a:rPr lang="en-US" dirty="0"/>
              <a:t>Penetrate-and-Patch - Penetrate-and-patch fails because it is hurried, misses the context of </a:t>
            </a:r>
            <a:r>
              <a:rPr lang="en-US" dirty="0" smtClean="0"/>
              <a:t>the fault</a:t>
            </a:r>
            <a:r>
              <a:rPr lang="en-US" dirty="0"/>
              <a:t>, and focuses on one failure, not the complete system</a:t>
            </a:r>
            <a:r>
              <a:rPr lang="en-US" dirty="0" smtClean="0"/>
              <a:t>.</a:t>
            </a:r>
          </a:p>
          <a:p>
            <a:endParaRPr lang="en-US" dirty="0" smtClean="0"/>
          </a:p>
          <a:p>
            <a:r>
              <a:rPr lang="en-US" dirty="0"/>
              <a:t>Security by Obscurity - Security by obscurity is the belief that a system can be secure as long as nobody outside </a:t>
            </a:r>
            <a:r>
              <a:rPr lang="en-US" dirty="0" smtClean="0"/>
              <a:t>its implementation </a:t>
            </a:r>
            <a:r>
              <a:rPr lang="en-US" dirty="0"/>
              <a:t>group is told anything about its internal mechanisms.</a:t>
            </a:r>
          </a:p>
          <a:p>
            <a:endParaRPr lang="en-US" dirty="0" smtClean="0"/>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76</a:t>
            </a:fld>
            <a:endParaRPr lang="en-US">
              <a:latin typeface="Arial"/>
            </a:endParaRPr>
          </a:p>
        </p:txBody>
      </p:sp>
    </p:spTree>
    <p:extLst>
      <p:ext uri="{BB962C8B-B14F-4D97-AF65-F5344CB8AC3E}">
        <p14:creationId xmlns:p14="http://schemas.microsoft.com/office/powerpoint/2010/main" val="334251583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Text Placeholder 2"/>
          <p:cNvSpPr>
            <a:spLocks noGrp="1"/>
          </p:cNvSpPr>
          <p:nvPr>
            <p:ph type="body" idx="1"/>
          </p:nvPr>
        </p:nvSpPr>
        <p:spPr/>
        <p:txBody>
          <a:bodyPr/>
          <a:lstStyle/>
          <a:p>
            <a:r>
              <a:rPr lang="en-US" dirty="0"/>
              <a:t>Buffer overflow attacks can take advantage of the fact that code and data are stored in the same memory in order to maliciously modify executing programs</a:t>
            </a:r>
          </a:p>
          <a:p>
            <a:r>
              <a:rPr lang="en-US" dirty="0"/>
              <a:t>Programs can have a number of other types of vulnerabilities, including off-by-one errors, incomplete mediation, and race conditions</a:t>
            </a:r>
          </a:p>
          <a:p>
            <a:r>
              <a:rPr lang="en-US" dirty="0"/>
              <a:t>Malware can have a variety of harmful effects depending on its characteristics, including resource usage, infection vector, and payload</a:t>
            </a:r>
          </a:p>
          <a:p>
            <a:r>
              <a:rPr lang="en-US" dirty="0"/>
              <a:t>Developers can use a variety of techniques for writing and testing code for security</a:t>
            </a:r>
          </a:p>
        </p:txBody>
      </p:sp>
      <p:sp>
        <p:nvSpPr>
          <p:cNvPr id="4" name="Slide Number Placeholder 3"/>
          <p:cNvSpPr>
            <a:spLocks noGrp="1"/>
          </p:cNvSpPr>
          <p:nvPr>
            <p:ph type="sldNum" sz="quarter" idx="12"/>
          </p:nvPr>
        </p:nvSpPr>
        <p:spPr/>
        <p:txBody>
          <a:bodyPr/>
          <a:lstStyle/>
          <a:p>
            <a:fld id="{FD01F0F2-74A4-EF40-82B3-DFFDF0BA3880}" type="slidenum">
              <a:rPr lang="en-US" smtClean="0">
                <a:latin typeface="Arial"/>
              </a:rPr>
              <a:pPr/>
              <a:t>77</a:t>
            </a:fld>
            <a:endParaRPr lang="en-US">
              <a:latin typeface="Arial"/>
            </a:endParaRPr>
          </a:p>
        </p:txBody>
      </p:sp>
    </p:spTree>
    <p:extLst>
      <p:ext uri="{BB962C8B-B14F-4D97-AF65-F5344CB8AC3E}">
        <p14:creationId xmlns:p14="http://schemas.microsoft.com/office/powerpoint/2010/main" val="904283409"/>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14230</TotalTime>
  <Words>6479</Words>
  <Application>Microsoft Office PowerPoint</Application>
  <PresentationFormat>Custom</PresentationFormat>
  <Paragraphs>649</Paragraphs>
  <Slides>77</Slides>
  <Notes>6</Notes>
  <HiddenSlides>0</HiddenSlides>
  <MMClips>0</MMClips>
  <ScaleCrop>false</ScaleCrop>
  <HeadingPairs>
    <vt:vector size="4" baseType="variant">
      <vt:variant>
        <vt:lpstr>Theme</vt:lpstr>
      </vt:variant>
      <vt:variant>
        <vt:i4>2</vt:i4>
      </vt:variant>
      <vt:variant>
        <vt:lpstr>Slide Titles</vt:lpstr>
      </vt:variant>
      <vt:variant>
        <vt:i4>77</vt:i4>
      </vt:variant>
    </vt:vector>
  </HeadingPairs>
  <TitlesOfParts>
    <vt:vector size="79" baseType="lpstr">
      <vt:lpstr>Office Theme</vt:lpstr>
      <vt:lpstr>Clarity</vt:lpstr>
      <vt:lpstr>PowerPoint Presentation</vt:lpstr>
      <vt:lpstr>Security problems in programs and programming</vt:lpstr>
      <vt:lpstr>Memory Allocation</vt:lpstr>
      <vt:lpstr>Buffer</vt:lpstr>
      <vt:lpstr>Buffer Overflows</vt:lpstr>
      <vt:lpstr>Buffer Overflows</vt:lpstr>
      <vt:lpstr>Buffer Overflows</vt:lpstr>
      <vt:lpstr>Buffer Overflows</vt:lpstr>
      <vt:lpstr>Overwriting Memory for Execution</vt:lpstr>
      <vt:lpstr>Harm from Buffer Overflows</vt:lpstr>
      <vt:lpstr>Overflow Countermeasures Summary</vt:lpstr>
      <vt:lpstr>Incomplete Mediation</vt:lpstr>
      <vt:lpstr>Incomplete Mediation</vt:lpstr>
      <vt:lpstr>Incomplete Mediation</vt:lpstr>
      <vt:lpstr>Race Conditions</vt:lpstr>
      <vt:lpstr>Race Conditions</vt:lpstr>
      <vt:lpstr>Race Conditions</vt:lpstr>
      <vt:lpstr>Race Conditions</vt:lpstr>
      <vt:lpstr>Race Conditions</vt:lpstr>
      <vt:lpstr>Race Conditions: File Name Race Condition</vt:lpstr>
      <vt:lpstr>Race Conditions : File Name Race Condition</vt:lpstr>
      <vt:lpstr>mkdir Race Condition</vt:lpstr>
      <vt:lpstr>mkdir Attack</vt:lpstr>
      <vt:lpstr>Race Conditions</vt:lpstr>
      <vt:lpstr>Malware</vt:lpstr>
      <vt:lpstr>Malwares</vt:lpstr>
      <vt:lpstr>Types of Malware</vt:lpstr>
      <vt:lpstr>Types of Malware</vt:lpstr>
      <vt:lpstr>Harm from Malicious Code</vt:lpstr>
      <vt:lpstr>Malware Detection</vt:lpstr>
      <vt:lpstr>Signature Detection</vt:lpstr>
      <vt:lpstr>Signature Detection</vt:lpstr>
      <vt:lpstr>Signature Detection</vt:lpstr>
      <vt:lpstr>Change Detection</vt:lpstr>
      <vt:lpstr>Change Detection</vt:lpstr>
      <vt:lpstr>Change Detection</vt:lpstr>
      <vt:lpstr>Anomaly Detection</vt:lpstr>
      <vt:lpstr>Anomaly Detection</vt:lpstr>
      <vt:lpstr>Anomaly Detection</vt:lpstr>
      <vt:lpstr>Countermeasures for Users</vt:lpstr>
      <vt:lpstr>Countermeasures for Users : User Vigilance</vt:lpstr>
      <vt:lpstr>Countermeasures for Users : Virus Detectors (Antivirus Software)</vt:lpstr>
      <vt:lpstr>Countermeasures for Users : Virus Signatures</vt:lpstr>
      <vt:lpstr>Countermeasures for Users : Code Analysis</vt:lpstr>
      <vt:lpstr>Countermeasures for Users : Storage Patterns</vt:lpstr>
      <vt:lpstr>Countermeasures for Developers : Software Engg Techniques</vt:lpstr>
      <vt:lpstr>Countermeasures for Developers : Software Engg Techniques</vt:lpstr>
      <vt:lpstr>Countermeasures for Developers : Software Engg Techniques</vt:lpstr>
      <vt:lpstr>Countermeasures for Developers : Modularity </vt:lpstr>
      <vt:lpstr>Countermeasures for Developers : Coupling</vt:lpstr>
      <vt:lpstr>Countermeasures for Developers : Encapsulation</vt:lpstr>
      <vt:lpstr>Countermeasures for Developers : Information Hiding</vt:lpstr>
      <vt:lpstr>Countermeasures for Developers : Mutual Suspicion</vt:lpstr>
      <vt:lpstr>Countermeasures for Developers : Confinement</vt:lpstr>
      <vt:lpstr>Countermeasures for Developers : Simplicity</vt:lpstr>
      <vt:lpstr>Countermeasures for Developers : Genetic Diversity</vt:lpstr>
      <vt:lpstr>Countermeasures for Developers : Testing</vt:lpstr>
      <vt:lpstr>Countermeasures for Developers :Testing:  ‘Types of Testing’</vt:lpstr>
      <vt:lpstr>Countermeasures for Developers :Testing:  ‘Types of Testing’</vt:lpstr>
      <vt:lpstr>Countermeasures for Developers :Testing:  ‘Types of Testing’</vt:lpstr>
      <vt:lpstr>Countermeasures for Developers :Testing:  ‘Types of Testing’</vt:lpstr>
      <vt:lpstr>Countermeasures for Developers</vt:lpstr>
      <vt:lpstr>Code Testing</vt:lpstr>
      <vt:lpstr>Countermeasure Specifically for Security – Design Principles for Security</vt:lpstr>
      <vt:lpstr>Countermeasure Specifically for Security – Design Principles for Security</vt:lpstr>
      <vt:lpstr>Countermeasure Specifically for Security – Penetration Testing for Security</vt:lpstr>
      <vt:lpstr>Countermeasure Specifically for Security – Proofs of Program Correctness</vt:lpstr>
      <vt:lpstr>Countermeasure Specifically for Security – Validation</vt:lpstr>
      <vt:lpstr>Countermeasure Specifically for Security – Defensive Programming</vt:lpstr>
      <vt:lpstr>Countermeasure Specifically for Security – Trustworthy Computing Initiative</vt:lpstr>
      <vt:lpstr>Countermeasure Specifically for Security – Design by Contract  or Programming by Contract</vt:lpstr>
      <vt:lpstr>Countermeasure Specifically for Security – Design Principles for Security</vt:lpstr>
      <vt:lpstr>Countermeasure Specifically for Security – Design Principles for Security</vt:lpstr>
      <vt:lpstr>Countermeasures that Don’t Work: Penetrate-and-Patch</vt:lpstr>
      <vt:lpstr>Countermeasures that Don’t Work: Security by Obscurity</vt:lpstr>
      <vt:lpstr>Countermeasures that Don’t Work</vt:lpstr>
      <vt:lpstr>Summary</vt:lpstr>
    </vt:vector>
  </TitlesOfParts>
  <Company>Qmulos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in Computing, Fifth Edition</dc:title>
  <dc:creator>Jonathan Margulies</dc:creator>
  <cp:lastModifiedBy>Admin</cp:lastModifiedBy>
  <cp:revision>210</cp:revision>
  <dcterms:created xsi:type="dcterms:W3CDTF">2015-09-09T13:03:04Z</dcterms:created>
  <dcterms:modified xsi:type="dcterms:W3CDTF">2025-08-13T15:06:41Z</dcterms:modified>
</cp:coreProperties>
</file>